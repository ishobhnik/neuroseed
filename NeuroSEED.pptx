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5"/>
  </p:notesMasterIdLst>
  <p:sldIdLst>
    <p:sldId id="256" r:id="rId5"/>
    <p:sldId id="257" r:id="rId6"/>
    <p:sldId id="258" r:id="rId7"/>
    <p:sldId id="259" r:id="rId8"/>
    <p:sldId id="260" r:id="rId9"/>
    <p:sldId id="261" r:id="rId10"/>
    <p:sldId id="262" r:id="rId11"/>
    <p:sldId id="263" r:id="rId12"/>
    <p:sldId id="264" r:id="rId13"/>
    <p:sldId id="265" r:id="rId14"/>
    <p:sldId id="28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Canva Sans" panose="020B0604020202020204" charset="0"/>
      <p:regular r:id="rId36"/>
    </p:embeddedFont>
    <p:embeddedFont>
      <p:font typeface="Canva Sans Bold" panose="020B0604020202020204" charset="0"/>
      <p:regular r:id="rId37"/>
    </p:embeddedFont>
    <p:embeddedFont>
      <p:font typeface="Canva Sans Italics"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613E2A-7ECC-6FD2-A5D2-113B01CC2A45}" v="38" dt="2026-04-06T02:55:50.617"/>
    <p1510:client id="{6B382184-B0BE-4BD5-7EE2-3CFC6FDC5B79}" v="197" dt="2026-04-05T22:43:05.927"/>
    <p1510:client id="{7ED36CB7-9192-4301-9B10-84A031A7B93D}" v="435" dt="2026-04-06T07:34:33.676"/>
    <p1510:client id="{86F752D5-4838-0EA7-0889-0258EA9F2B85}" v="167" dt="2026-04-05T18:54:22.115"/>
    <p1510:client id="{AD3F8FA4-122C-A6D6-38CA-0BDC04192A1B}" v="114" dt="2026-04-05T22:59:42.975"/>
    <p1510:client id="{F113B274-DF5B-ED38-5A6B-3C38E8DF0E66}" v="11" dt="2026-04-05T23:11:29.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603" y="5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06.04.2026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Comparing multiple sequences of proteins or DNA allows for us to achieve two goals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several ways to formalise distance, one simple way being that of edit distances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Consensus string may have gaps too!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1B2431-D351-4C6E-A3CF-9DFAC0E3E050}" type="slidenum">
              <a:rPr lang="cs-CZ" smtClean="0"/>
              <a:t>27</a:t>
            </a:fld>
            <a:endParaRPr lang="cs-CZ"/>
          </a:p>
        </p:txBody>
      </p:sp>
    </p:spTree>
    <p:extLst>
      <p:ext uri="{BB962C8B-B14F-4D97-AF65-F5344CB8AC3E}">
        <p14:creationId xmlns:p14="http://schemas.microsoft.com/office/powerpoint/2010/main" val="3742741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1053010" y="3123864"/>
            <a:ext cx="20394020" cy="3523299"/>
            <a:chOff x="0" y="0"/>
            <a:chExt cx="5371264" cy="927947"/>
          </a:xfrm>
        </p:grpSpPr>
        <p:sp>
          <p:nvSpPr>
            <p:cNvPr id="3" name="Freeform 3"/>
            <p:cNvSpPr/>
            <p:nvPr/>
          </p:nvSpPr>
          <p:spPr>
            <a:xfrm>
              <a:off x="0" y="0"/>
              <a:ext cx="5371264" cy="927947"/>
            </a:xfrm>
            <a:custGeom>
              <a:avLst/>
              <a:gdLst/>
              <a:ahLst/>
              <a:cxnLst/>
              <a:rect l="l" t="t" r="r" b="b"/>
              <a:pathLst>
                <a:path w="5371264" h="927947">
                  <a:moveTo>
                    <a:pt x="0" y="0"/>
                  </a:moveTo>
                  <a:lnTo>
                    <a:pt x="5371264" y="0"/>
                  </a:lnTo>
                  <a:lnTo>
                    <a:pt x="5371264" y="927947"/>
                  </a:lnTo>
                  <a:lnTo>
                    <a:pt x="0" y="927947"/>
                  </a:lnTo>
                  <a:close/>
                </a:path>
              </a:pathLst>
            </a:custGeom>
            <a:solidFill>
              <a:srgbClr val="5E7B97"/>
            </a:solidFill>
          </p:spPr>
          <p:txBody>
            <a:bodyPr/>
            <a:lstStyle/>
            <a:p>
              <a:endParaRPr lang="en-IN"/>
            </a:p>
          </p:txBody>
        </p:sp>
        <p:sp>
          <p:nvSpPr>
            <p:cNvPr id="4" name="TextBox 4"/>
            <p:cNvSpPr txBox="1"/>
            <p:nvPr/>
          </p:nvSpPr>
          <p:spPr>
            <a:xfrm>
              <a:off x="0" y="-38100"/>
              <a:ext cx="5371264" cy="96604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420960" y="1551286"/>
            <a:ext cx="17867040" cy="927100"/>
          </a:xfrm>
          <a:prstGeom prst="rect">
            <a:avLst/>
          </a:prstGeom>
        </p:spPr>
        <p:txBody>
          <a:bodyPr wrap="square" lIns="0" tIns="0" rIns="0" bIns="0" rtlCol="0" anchor="t">
            <a:spAutoFit/>
          </a:bodyPr>
          <a:lstStyle/>
          <a:p>
            <a:pPr algn="ctr">
              <a:lnSpc>
                <a:spcPts val="7699"/>
              </a:lnSpc>
              <a:spcBef>
                <a:spcPct val="0"/>
              </a:spcBef>
            </a:pPr>
            <a:r>
              <a:rPr lang="en-US" sz="5450" b="1">
                <a:solidFill>
                  <a:srgbClr val="000000"/>
                </a:solidFill>
                <a:latin typeface="Canva Sans Bold"/>
                <a:ea typeface="Canva Sans Bold"/>
                <a:cs typeface="Canva Sans Bold"/>
                <a:sym typeface="Canva Sans Bold"/>
              </a:rPr>
              <a:t>DS202: Algorithmic Foundations of Big Data Biology</a:t>
            </a:r>
          </a:p>
        </p:txBody>
      </p:sp>
      <p:sp>
        <p:nvSpPr>
          <p:cNvPr id="6" name="TextBox 6"/>
          <p:cNvSpPr txBox="1"/>
          <p:nvPr/>
        </p:nvSpPr>
        <p:spPr>
          <a:xfrm>
            <a:off x="0" y="3780613"/>
            <a:ext cx="18288000" cy="2095500"/>
          </a:xfrm>
          <a:prstGeom prst="rect">
            <a:avLst/>
          </a:prstGeom>
        </p:spPr>
        <p:txBody>
          <a:bodyPr lIns="0" tIns="0" rIns="0" bIns="0" rtlCol="0" anchor="t">
            <a:spAutoFit/>
          </a:bodyPr>
          <a:lstStyle/>
          <a:p>
            <a:pPr algn="ctr">
              <a:lnSpc>
                <a:spcPts val="8400"/>
              </a:lnSpc>
              <a:spcBef>
                <a:spcPct val="0"/>
              </a:spcBef>
            </a:pPr>
            <a:r>
              <a:rPr lang="en-US" sz="6000" b="1">
                <a:solidFill>
                  <a:srgbClr val="FDF6EC"/>
                </a:solidFill>
                <a:latin typeface="Canva Sans Bold"/>
                <a:ea typeface="Canva Sans Bold"/>
                <a:cs typeface="Canva Sans Bold"/>
                <a:sym typeface="Canva Sans Bold"/>
              </a:rPr>
              <a:t>NEURAL DISTANCE EMBEDDINGS FOR BIOLOGICAL SEQUENCES</a:t>
            </a:r>
          </a:p>
        </p:txBody>
      </p:sp>
      <p:sp>
        <p:nvSpPr>
          <p:cNvPr id="7" name="TextBox 7"/>
          <p:cNvSpPr txBox="1"/>
          <p:nvPr/>
        </p:nvSpPr>
        <p:spPr>
          <a:xfrm>
            <a:off x="10039552" y="7218663"/>
            <a:ext cx="7493382"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Shobhnik Kriplani</a:t>
            </a:r>
          </a:p>
        </p:txBody>
      </p:sp>
      <p:sp>
        <p:nvSpPr>
          <p:cNvPr id="8" name="TextBox 8"/>
          <p:cNvSpPr txBox="1"/>
          <p:nvPr/>
        </p:nvSpPr>
        <p:spPr>
          <a:xfrm>
            <a:off x="1529653" y="7232270"/>
            <a:ext cx="7493382"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Manya Ganapathy</a:t>
            </a:r>
          </a:p>
        </p:txBody>
      </p:sp>
      <p:sp>
        <p:nvSpPr>
          <p:cNvPr id="9" name="TextBox 9"/>
          <p:cNvSpPr txBox="1"/>
          <p:nvPr/>
        </p:nvSpPr>
        <p:spPr>
          <a:xfrm>
            <a:off x="10039552" y="7821913"/>
            <a:ext cx="7493382"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S.R. No. 23697</a:t>
            </a:r>
          </a:p>
        </p:txBody>
      </p:sp>
      <p:sp>
        <p:nvSpPr>
          <p:cNvPr id="10" name="TextBox 10"/>
          <p:cNvSpPr txBox="1"/>
          <p:nvPr/>
        </p:nvSpPr>
        <p:spPr>
          <a:xfrm>
            <a:off x="1529653" y="7835520"/>
            <a:ext cx="7493382"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S.R. No. 23849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2083850" y="6278614"/>
            <a:ext cx="14120300" cy="2824060"/>
          </a:xfrm>
          <a:custGeom>
            <a:avLst/>
            <a:gdLst/>
            <a:ahLst/>
            <a:cxnLst/>
            <a:rect l="l" t="t" r="r" b="b"/>
            <a:pathLst>
              <a:path w="14120300" h="2824060">
                <a:moveTo>
                  <a:pt x="0" y="0"/>
                </a:moveTo>
                <a:lnTo>
                  <a:pt x="14120300" y="0"/>
                </a:lnTo>
                <a:lnTo>
                  <a:pt x="14120300" y="2824060"/>
                </a:lnTo>
                <a:lnTo>
                  <a:pt x="0" y="2824060"/>
                </a:lnTo>
                <a:lnTo>
                  <a:pt x="0" y="0"/>
                </a:lnTo>
                <a:close/>
              </a:path>
            </a:pathLst>
          </a:custGeom>
          <a:blipFill>
            <a:blip r:embed="rId3"/>
            <a:stretch>
              <a:fillRect/>
            </a:stretch>
          </a:blipFill>
          <a:ln w="19050" cap="sq">
            <a:solidFill>
              <a:srgbClr val="000000"/>
            </a:solidFill>
            <a:prstDash val="solid"/>
            <a:miter/>
          </a:ln>
        </p:spPr>
        <p:txBody>
          <a:bodyPr/>
          <a:lstStyle/>
          <a:p>
            <a:endParaRPr lang="en-IN"/>
          </a:p>
        </p:txBody>
      </p:sp>
      <p:sp>
        <p:nvSpPr>
          <p:cNvPr id="6" name="TextBox 6"/>
          <p:cNvSpPr txBox="1"/>
          <p:nvPr/>
        </p:nvSpPr>
        <p:spPr>
          <a:xfrm>
            <a:off x="6647817" y="445365"/>
            <a:ext cx="5467983"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MOTIVATION</a:t>
            </a:r>
          </a:p>
        </p:txBody>
      </p:sp>
      <p:sp>
        <p:nvSpPr>
          <p:cNvPr id="7" name="TextBox 7"/>
          <p:cNvSpPr txBox="1"/>
          <p:nvPr/>
        </p:nvSpPr>
        <p:spPr>
          <a:xfrm>
            <a:off x="244929" y="2021884"/>
            <a:ext cx="14018885"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Biological significance of multiple sequence comparison</a:t>
            </a:r>
          </a:p>
        </p:txBody>
      </p:sp>
      <p:sp>
        <p:nvSpPr>
          <p:cNvPr id="8" name="TextBox 8"/>
          <p:cNvSpPr txBox="1"/>
          <p:nvPr/>
        </p:nvSpPr>
        <p:spPr>
          <a:xfrm>
            <a:off x="437196" y="2937826"/>
            <a:ext cx="9621181" cy="1786890"/>
          </a:xfrm>
          <a:prstGeom prst="rect">
            <a:avLst/>
          </a:prstGeom>
        </p:spPr>
        <p:txBody>
          <a:bodyPr lIns="0" tIns="0" rIns="0" bIns="0" rtlCol="0" anchor="t">
            <a:spAutoFit/>
          </a:bodyPr>
          <a:lstStyle/>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Deduction of evolutionary relationships</a:t>
            </a:r>
          </a:p>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Identification of conserved motifs in DNA or protein sequences</a:t>
            </a:r>
          </a:p>
        </p:txBody>
      </p:sp>
      <p:sp>
        <p:nvSpPr>
          <p:cNvPr id="9" name="TextBox 9"/>
          <p:cNvSpPr txBox="1"/>
          <p:nvPr/>
        </p:nvSpPr>
        <p:spPr>
          <a:xfrm>
            <a:off x="3748249" y="9172575"/>
            <a:ext cx="10791503" cy="381635"/>
          </a:xfrm>
          <a:prstGeom prst="rect">
            <a:avLst/>
          </a:prstGeom>
        </p:spPr>
        <p:txBody>
          <a:bodyPr lIns="0" tIns="0" rIns="0" bIns="0" rtlCol="0" anchor="t">
            <a:spAutoFit/>
          </a:bodyPr>
          <a:lstStyle/>
          <a:p>
            <a:pPr algn="l">
              <a:lnSpc>
                <a:spcPts val="3220"/>
              </a:lnSpc>
            </a:pPr>
            <a:r>
              <a:rPr lang="en-US" sz="2000">
                <a:solidFill>
                  <a:srgbClr val="000000"/>
                </a:solidFill>
                <a:latin typeface="Canva Sans"/>
                <a:ea typeface="Canva Sans"/>
                <a:cs typeface="Canva Sans"/>
                <a:sym typeface="Canva Sans"/>
              </a:rPr>
              <a:t>Sequences of a fragment of the protein Sarcolamban in different species of </a:t>
            </a:r>
            <a:r>
              <a:rPr lang="en-US" sz="2000" i="1">
                <a:solidFill>
                  <a:srgbClr val="000000"/>
                </a:solidFill>
                <a:latin typeface="Canva Sans Italics"/>
                <a:ea typeface="Canva Sans Italics"/>
                <a:cs typeface="Canva Sans Italics"/>
                <a:sym typeface="Canva Sans Italics"/>
              </a:rPr>
              <a:t>Drosophila</a:t>
            </a:r>
          </a:p>
        </p:txBody>
      </p:sp>
      <p:sp>
        <p:nvSpPr>
          <p:cNvPr id="10" name="AutoShape 10"/>
          <p:cNvSpPr/>
          <p:nvPr/>
        </p:nvSpPr>
        <p:spPr>
          <a:xfrm>
            <a:off x="8806818" y="3226955"/>
            <a:ext cx="3144933"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1" name="AutoShape 11"/>
          <p:cNvSpPr/>
          <p:nvPr/>
        </p:nvSpPr>
        <p:spPr>
          <a:xfrm>
            <a:off x="2433423" y="5805539"/>
            <a:ext cx="674364"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2" name="AutoShape 12"/>
          <p:cNvSpPr/>
          <p:nvPr/>
        </p:nvSpPr>
        <p:spPr>
          <a:xfrm>
            <a:off x="2433423" y="4724716"/>
            <a:ext cx="0" cy="1111562"/>
          </a:xfrm>
          <a:prstGeom prst="line">
            <a:avLst/>
          </a:prstGeom>
          <a:ln w="66675" cap="flat">
            <a:solidFill>
              <a:srgbClr val="5E7B97"/>
            </a:solidFill>
            <a:prstDash val="solid"/>
            <a:headEnd type="none" w="sm" len="sm"/>
            <a:tailEnd type="none" w="sm" len="sm"/>
          </a:ln>
        </p:spPr>
        <p:txBody>
          <a:bodyPr/>
          <a:lstStyle/>
          <a:p>
            <a:endParaRPr lang="en-IN"/>
          </a:p>
        </p:txBody>
      </p:sp>
      <p:sp>
        <p:nvSpPr>
          <p:cNvPr id="13" name="TextBox 13"/>
          <p:cNvSpPr txBox="1"/>
          <p:nvPr/>
        </p:nvSpPr>
        <p:spPr>
          <a:xfrm>
            <a:off x="3298364" y="4851400"/>
            <a:ext cx="9621181" cy="479425"/>
          </a:xfrm>
          <a:prstGeom prst="rect">
            <a:avLst/>
          </a:prstGeom>
        </p:spPr>
        <p:txBody>
          <a:bodyPr lIns="0" tIns="0" rIns="0" bIns="0" rtlCol="0" anchor="t">
            <a:spAutoFit/>
          </a:bodyPr>
          <a:lstStyle/>
          <a:p>
            <a:pPr algn="l">
              <a:lnSpc>
                <a:spcPts val="4024"/>
              </a:lnSpc>
            </a:pPr>
            <a:r>
              <a:rPr lang="en-US" sz="2499">
                <a:solidFill>
                  <a:srgbClr val="000000"/>
                </a:solidFill>
                <a:latin typeface="Canva Sans"/>
                <a:ea typeface="Canva Sans"/>
                <a:cs typeface="Canva Sans"/>
                <a:sym typeface="Canva Sans"/>
              </a:rPr>
              <a:t>Common structure</a:t>
            </a:r>
          </a:p>
        </p:txBody>
      </p:sp>
      <p:sp>
        <p:nvSpPr>
          <p:cNvPr id="14" name="TextBox 14"/>
          <p:cNvSpPr txBox="1"/>
          <p:nvPr/>
        </p:nvSpPr>
        <p:spPr>
          <a:xfrm>
            <a:off x="3298364" y="5513439"/>
            <a:ext cx="9621181" cy="479425"/>
          </a:xfrm>
          <a:prstGeom prst="rect">
            <a:avLst/>
          </a:prstGeom>
        </p:spPr>
        <p:txBody>
          <a:bodyPr lIns="0" tIns="0" rIns="0" bIns="0" rtlCol="0" anchor="t">
            <a:spAutoFit/>
          </a:bodyPr>
          <a:lstStyle/>
          <a:p>
            <a:pPr algn="l">
              <a:lnSpc>
                <a:spcPts val="4024"/>
              </a:lnSpc>
            </a:pPr>
            <a:r>
              <a:rPr lang="en-US" sz="2499">
                <a:solidFill>
                  <a:srgbClr val="000000"/>
                </a:solidFill>
                <a:latin typeface="Canva Sans"/>
                <a:ea typeface="Canva Sans"/>
                <a:cs typeface="Canva Sans"/>
                <a:sym typeface="Canva Sans"/>
              </a:rPr>
              <a:t>Common biological function</a:t>
            </a:r>
          </a:p>
        </p:txBody>
      </p:sp>
      <p:sp>
        <p:nvSpPr>
          <p:cNvPr id="15" name="AutoShape 15"/>
          <p:cNvSpPr/>
          <p:nvPr/>
        </p:nvSpPr>
        <p:spPr>
          <a:xfrm>
            <a:off x="4964022" y="4517440"/>
            <a:ext cx="6987729"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6" name="TextBox 16"/>
          <p:cNvSpPr txBox="1"/>
          <p:nvPr/>
        </p:nvSpPr>
        <p:spPr>
          <a:xfrm>
            <a:off x="12339493" y="2885960"/>
            <a:ext cx="4400516" cy="567690"/>
          </a:xfrm>
          <a:prstGeom prst="rect">
            <a:avLst/>
          </a:prstGeom>
        </p:spPr>
        <p:txBody>
          <a:bodyPr lIns="0" tIns="0" rIns="0" bIns="0" rtlCol="0" anchor="t">
            <a:spAutoFit/>
          </a:bodyPr>
          <a:lstStyle/>
          <a:p>
            <a:pPr algn="l">
              <a:lnSpc>
                <a:spcPts val="4830"/>
              </a:lnSpc>
            </a:pPr>
            <a:r>
              <a:rPr lang="en-US" sz="3000" b="1">
                <a:solidFill>
                  <a:srgbClr val="000000"/>
                </a:solidFill>
                <a:latin typeface="Canva Sans Bold"/>
                <a:ea typeface="Canva Sans Bold"/>
                <a:cs typeface="Canva Sans Bold"/>
                <a:sym typeface="Canva Sans Bold"/>
              </a:rPr>
              <a:t>Hierarchical Clustering</a:t>
            </a:r>
          </a:p>
        </p:txBody>
      </p:sp>
      <p:sp>
        <p:nvSpPr>
          <p:cNvPr id="17" name="TextBox 17"/>
          <p:cNvSpPr txBox="1"/>
          <p:nvPr/>
        </p:nvSpPr>
        <p:spPr>
          <a:xfrm>
            <a:off x="12339493" y="4078921"/>
            <a:ext cx="4400516" cy="1177290"/>
          </a:xfrm>
          <a:prstGeom prst="rect">
            <a:avLst/>
          </a:prstGeom>
        </p:spPr>
        <p:txBody>
          <a:bodyPr lIns="0" tIns="0" rIns="0" bIns="0" rtlCol="0" anchor="t">
            <a:spAutoFit/>
          </a:bodyPr>
          <a:lstStyle/>
          <a:p>
            <a:pPr algn="l">
              <a:lnSpc>
                <a:spcPts val="4830"/>
              </a:lnSpc>
            </a:pPr>
            <a:r>
              <a:rPr lang="en-US" sz="3000" b="1">
                <a:solidFill>
                  <a:srgbClr val="000000"/>
                </a:solidFill>
                <a:latin typeface="Canva Sans Bold"/>
                <a:ea typeface="Canva Sans Bold"/>
                <a:cs typeface="Canva Sans Bold"/>
                <a:sym typeface="Canva Sans Bold"/>
              </a:rPr>
              <a:t>Multiple Sequence Alignment </a:t>
            </a:r>
          </a:p>
        </p:txBody>
      </p:sp>
      <p:sp>
        <p:nvSpPr>
          <p:cNvPr id="18" name="TextBox 18"/>
          <p:cNvSpPr txBox="1"/>
          <p:nvPr/>
        </p:nvSpPr>
        <p:spPr>
          <a:xfrm>
            <a:off x="11640183" y="9678035"/>
            <a:ext cx="5686394" cy="523875"/>
          </a:xfrm>
          <a:prstGeom prst="rect">
            <a:avLst/>
          </a:prstGeom>
        </p:spPr>
        <p:txBody>
          <a:bodyPr lIns="0" tIns="0" rIns="0" bIns="0" rtlCol="0" anchor="t">
            <a:spAutoFit/>
          </a:bodyPr>
          <a:lstStyle/>
          <a:p>
            <a:pPr algn="r">
              <a:lnSpc>
                <a:spcPts val="2100"/>
              </a:lnSpc>
            </a:pPr>
            <a:r>
              <a:rPr lang="en-US" sz="1500" b="1">
                <a:solidFill>
                  <a:srgbClr val="000000"/>
                </a:solidFill>
                <a:latin typeface="Canva Sans Bold"/>
                <a:ea typeface="Canva Sans Bold"/>
                <a:cs typeface="Canva Sans Bold"/>
                <a:sym typeface="Canva Sans Bold"/>
              </a:rPr>
              <a:t>Chapter 14, Gusfield</a:t>
            </a:r>
          </a:p>
          <a:p>
            <a:pPr algn="r">
              <a:lnSpc>
                <a:spcPts val="2100"/>
              </a:lnSpc>
              <a:spcBef>
                <a:spcPct val="0"/>
              </a:spcBef>
            </a:pPr>
            <a:r>
              <a:rPr lang="en-US" sz="1500" b="1">
                <a:solidFill>
                  <a:srgbClr val="000000"/>
                </a:solidFill>
                <a:latin typeface="Canva Sans Bold"/>
                <a:ea typeface="Canva Sans Bold"/>
                <a:cs typeface="Canva Sans Bold"/>
                <a:sym typeface="Canva Sans Bold"/>
              </a:rPr>
              <a:t>Chapter 4, Applied Bioinformatics, Oregon State University</a:t>
            </a:r>
          </a:p>
        </p:txBody>
      </p:sp>
      <p:sp>
        <p:nvSpPr>
          <p:cNvPr id="20" name="AutoShape 11">
            <a:extLst>
              <a:ext uri="{FF2B5EF4-FFF2-40B4-BE49-F238E27FC236}">
                <a16:creationId xmlns:a16="http://schemas.microsoft.com/office/drawing/2014/main" id="{5B14C94C-29E2-8FD2-B056-C92E473CFE55}"/>
              </a:ext>
            </a:extLst>
          </p:cNvPr>
          <p:cNvSpPr/>
          <p:nvPr/>
        </p:nvSpPr>
        <p:spPr>
          <a:xfrm>
            <a:off x="2433423" y="5143500"/>
            <a:ext cx="674364" cy="0"/>
          </a:xfrm>
          <a:prstGeom prst="line">
            <a:avLst/>
          </a:prstGeom>
          <a:ln w="66675" cap="flat">
            <a:solidFill>
              <a:srgbClr val="5E7B97"/>
            </a:solidFill>
            <a:prstDash val="solid"/>
            <a:headEnd type="none" w="sm" len="sm"/>
            <a:tailEnd type="triangle" w="lg" len="med"/>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P spid="10" grpId="0" animBg="1"/>
      <p:bldP spid="11" grpId="0" animBg="1"/>
      <p:bldP spid="12" grpId="0" animBg="1"/>
      <p:bldP spid="13" grpId="0"/>
      <p:bldP spid="14" grpId="0"/>
      <p:bldP spid="15" grpId="0" animBg="1"/>
      <p:bldP spid="16" grpId="0"/>
      <p:bldP spid="17" grpId="0"/>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334326" y="2934016"/>
            <a:ext cx="9621181" cy="1786890"/>
          </a:xfrm>
          <a:prstGeom prst="rect">
            <a:avLst/>
          </a:prstGeom>
        </p:spPr>
        <p:txBody>
          <a:bodyPr lIns="0" tIns="0" rIns="0" bIns="0" rtlCol="0" anchor="t">
            <a:spAutoFit/>
          </a:bodyPr>
          <a:lstStyle/>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Identifies groups in a dataset by recursively clustering two items at a time</a:t>
            </a:r>
          </a:p>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Its result can be visualised as a </a:t>
            </a:r>
            <a:r>
              <a:rPr lang="en-US" sz="3000" b="1">
                <a:solidFill>
                  <a:srgbClr val="000000"/>
                </a:solidFill>
                <a:latin typeface="Canva Sans Bold"/>
                <a:ea typeface="Canva Sans Bold"/>
                <a:cs typeface="Canva Sans Bold"/>
                <a:sym typeface="Canva Sans Bold"/>
              </a:rPr>
              <a:t>dendrogram</a:t>
            </a:r>
          </a:p>
        </p:txBody>
      </p:sp>
      <p:sp>
        <p:nvSpPr>
          <p:cNvPr id="6" name="AutoShape 6"/>
          <p:cNvSpPr/>
          <p:nvPr/>
        </p:nvSpPr>
        <p:spPr>
          <a:xfrm flipV="1">
            <a:off x="7383753" y="2446653"/>
            <a:ext cx="3711040"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7" name="AutoShape 7"/>
          <p:cNvSpPr/>
          <p:nvPr/>
        </p:nvSpPr>
        <p:spPr>
          <a:xfrm flipV="1">
            <a:off x="9955507" y="3082923"/>
            <a:ext cx="1139286"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8" name="AutoShape 8"/>
          <p:cNvSpPr/>
          <p:nvPr/>
        </p:nvSpPr>
        <p:spPr>
          <a:xfrm flipH="1">
            <a:off x="9955507" y="2446653"/>
            <a:ext cx="0" cy="636270"/>
          </a:xfrm>
          <a:prstGeom prst="line">
            <a:avLst/>
          </a:prstGeom>
          <a:ln w="66675" cap="flat">
            <a:solidFill>
              <a:srgbClr val="5E7B97"/>
            </a:solidFill>
            <a:prstDash val="solid"/>
            <a:headEnd type="none" w="sm" len="sm"/>
            <a:tailEnd type="none" w="sm" len="sm"/>
          </a:ln>
        </p:spPr>
        <p:txBody>
          <a:bodyPr/>
          <a:lstStyle/>
          <a:p>
            <a:endParaRPr lang="en-IN"/>
          </a:p>
        </p:txBody>
      </p:sp>
      <p:sp>
        <p:nvSpPr>
          <p:cNvPr id="9" name="Freeform 9"/>
          <p:cNvSpPr/>
          <p:nvPr/>
        </p:nvSpPr>
        <p:spPr>
          <a:xfrm>
            <a:off x="334326" y="5673406"/>
            <a:ext cx="10456072" cy="2483317"/>
          </a:xfrm>
          <a:custGeom>
            <a:avLst/>
            <a:gdLst/>
            <a:ahLst/>
            <a:cxnLst/>
            <a:rect l="l" t="t" r="r" b="b"/>
            <a:pathLst>
              <a:path w="10456072" h="2483317">
                <a:moveTo>
                  <a:pt x="0" y="0"/>
                </a:moveTo>
                <a:lnTo>
                  <a:pt x="10456072" y="0"/>
                </a:lnTo>
                <a:lnTo>
                  <a:pt x="10456072" y="2483317"/>
                </a:lnTo>
                <a:lnTo>
                  <a:pt x="0" y="2483317"/>
                </a:lnTo>
                <a:lnTo>
                  <a:pt x="0" y="0"/>
                </a:lnTo>
                <a:close/>
              </a:path>
            </a:pathLst>
          </a:custGeom>
          <a:blipFill>
            <a:blip r:embed="rId2"/>
            <a:stretch>
              <a:fillRect/>
            </a:stretch>
          </a:blipFill>
          <a:ln w="19050" cap="sq">
            <a:solidFill>
              <a:srgbClr val="000000"/>
            </a:solidFill>
            <a:prstDash val="solid"/>
            <a:miter/>
          </a:ln>
        </p:spPr>
        <p:txBody>
          <a:bodyPr/>
          <a:lstStyle/>
          <a:p>
            <a:endParaRPr lang="en-IN"/>
          </a:p>
        </p:txBody>
      </p:sp>
      <p:sp>
        <p:nvSpPr>
          <p:cNvPr id="10" name="TextBox 10"/>
          <p:cNvSpPr txBox="1"/>
          <p:nvPr/>
        </p:nvSpPr>
        <p:spPr>
          <a:xfrm>
            <a:off x="11327007" y="2154553"/>
            <a:ext cx="4992020" cy="479425"/>
          </a:xfrm>
          <a:prstGeom prst="rect">
            <a:avLst/>
          </a:prstGeom>
        </p:spPr>
        <p:txBody>
          <a:bodyPr lIns="0" tIns="0" rIns="0" bIns="0" rtlCol="0" anchor="t">
            <a:spAutoFit/>
          </a:bodyPr>
          <a:lstStyle/>
          <a:p>
            <a:pPr algn="l">
              <a:lnSpc>
                <a:spcPts val="4024"/>
              </a:lnSpc>
            </a:pPr>
            <a:r>
              <a:rPr lang="en-US" sz="2499">
                <a:solidFill>
                  <a:srgbClr val="000000"/>
                </a:solidFill>
                <a:latin typeface="Canva Sans"/>
                <a:ea typeface="Canva Sans"/>
                <a:cs typeface="Canva Sans"/>
                <a:sym typeface="Canva Sans"/>
              </a:rPr>
              <a:t>Agglomerative Algorithms</a:t>
            </a:r>
          </a:p>
        </p:txBody>
      </p:sp>
      <p:sp>
        <p:nvSpPr>
          <p:cNvPr id="11" name="TextBox 11"/>
          <p:cNvSpPr txBox="1"/>
          <p:nvPr/>
        </p:nvSpPr>
        <p:spPr>
          <a:xfrm>
            <a:off x="11327007" y="2756216"/>
            <a:ext cx="4992020" cy="479425"/>
          </a:xfrm>
          <a:prstGeom prst="rect">
            <a:avLst/>
          </a:prstGeom>
        </p:spPr>
        <p:txBody>
          <a:bodyPr lIns="0" tIns="0" rIns="0" bIns="0" rtlCol="0" anchor="t">
            <a:spAutoFit/>
          </a:bodyPr>
          <a:lstStyle/>
          <a:p>
            <a:pPr algn="l">
              <a:lnSpc>
                <a:spcPts val="4024"/>
              </a:lnSpc>
            </a:pPr>
            <a:r>
              <a:rPr lang="en-US" sz="2499">
                <a:solidFill>
                  <a:srgbClr val="000000"/>
                </a:solidFill>
                <a:latin typeface="Canva Sans"/>
                <a:ea typeface="Canva Sans"/>
                <a:cs typeface="Canva Sans"/>
                <a:sym typeface="Canva Sans"/>
              </a:rPr>
              <a:t>Partitioning Algorithms</a:t>
            </a:r>
          </a:p>
        </p:txBody>
      </p:sp>
      <p:sp>
        <p:nvSpPr>
          <p:cNvPr id="12" name="AutoShape 12"/>
          <p:cNvSpPr/>
          <p:nvPr/>
        </p:nvSpPr>
        <p:spPr>
          <a:xfrm flipV="1">
            <a:off x="15682220" y="2479984"/>
            <a:ext cx="636144" cy="12665"/>
          </a:xfrm>
          <a:prstGeom prst="line">
            <a:avLst/>
          </a:prstGeom>
          <a:ln w="66675" cap="flat">
            <a:solidFill>
              <a:srgbClr val="5E7B97"/>
            </a:solidFill>
            <a:prstDash val="solid"/>
            <a:headEnd type="none" w="sm" len="sm"/>
            <a:tailEnd type="none" w="sm" len="sm"/>
          </a:ln>
        </p:spPr>
        <p:txBody>
          <a:bodyPr/>
          <a:lstStyle/>
          <a:p>
            <a:endParaRPr lang="en-IN"/>
          </a:p>
        </p:txBody>
      </p:sp>
      <p:sp>
        <p:nvSpPr>
          <p:cNvPr id="13" name="AutoShape 13"/>
          <p:cNvSpPr/>
          <p:nvPr/>
        </p:nvSpPr>
        <p:spPr>
          <a:xfrm>
            <a:off x="16319028" y="2493460"/>
            <a:ext cx="0" cy="1859556"/>
          </a:xfrm>
          <a:prstGeom prst="line">
            <a:avLst/>
          </a:prstGeom>
          <a:ln w="66675" cap="flat">
            <a:solidFill>
              <a:srgbClr val="5E7B97"/>
            </a:solidFill>
            <a:prstDash val="solid"/>
            <a:headEnd type="none" w="sm" len="sm"/>
            <a:tailEnd type="triangle" w="lg" len="med"/>
          </a:ln>
        </p:spPr>
        <p:txBody>
          <a:bodyPr/>
          <a:lstStyle/>
          <a:p>
            <a:endParaRPr lang="en-IN"/>
          </a:p>
        </p:txBody>
      </p:sp>
      <p:grpSp>
        <p:nvGrpSpPr>
          <p:cNvPr id="14" name="Group 14"/>
          <p:cNvGrpSpPr/>
          <p:nvPr/>
        </p:nvGrpSpPr>
        <p:grpSpPr>
          <a:xfrm>
            <a:off x="249339" y="8728223"/>
            <a:ext cx="10402752" cy="750512"/>
            <a:chOff x="0" y="0"/>
            <a:chExt cx="2739819" cy="197666"/>
          </a:xfrm>
        </p:grpSpPr>
        <p:sp>
          <p:nvSpPr>
            <p:cNvPr id="15" name="Freeform 15"/>
            <p:cNvSpPr/>
            <p:nvPr/>
          </p:nvSpPr>
          <p:spPr>
            <a:xfrm>
              <a:off x="0" y="0"/>
              <a:ext cx="2739819" cy="197666"/>
            </a:xfrm>
            <a:custGeom>
              <a:avLst/>
              <a:gdLst/>
              <a:ahLst/>
              <a:cxnLst/>
              <a:rect l="l" t="t" r="r" b="b"/>
              <a:pathLst>
                <a:path w="2739819" h="197666">
                  <a:moveTo>
                    <a:pt x="20094" y="0"/>
                  </a:moveTo>
                  <a:lnTo>
                    <a:pt x="2719725" y="0"/>
                  </a:lnTo>
                  <a:cubicBezTo>
                    <a:pt x="2730823" y="0"/>
                    <a:pt x="2739819" y="8996"/>
                    <a:pt x="2739819" y="20094"/>
                  </a:cubicBezTo>
                  <a:lnTo>
                    <a:pt x="2739819" y="177572"/>
                  </a:lnTo>
                  <a:cubicBezTo>
                    <a:pt x="2739819" y="188669"/>
                    <a:pt x="2730823" y="197666"/>
                    <a:pt x="2719725" y="197666"/>
                  </a:cubicBezTo>
                  <a:lnTo>
                    <a:pt x="20094" y="197666"/>
                  </a:lnTo>
                  <a:cubicBezTo>
                    <a:pt x="8996" y="197666"/>
                    <a:pt x="0" y="188669"/>
                    <a:pt x="0" y="177572"/>
                  </a:cubicBezTo>
                  <a:lnTo>
                    <a:pt x="0" y="20094"/>
                  </a:lnTo>
                  <a:cubicBezTo>
                    <a:pt x="0" y="8996"/>
                    <a:pt x="8996" y="0"/>
                    <a:pt x="20094" y="0"/>
                  </a:cubicBezTo>
                  <a:close/>
                </a:path>
              </a:pathLst>
            </a:custGeom>
            <a:ln w="38100" cap="rnd">
              <a:solidFill>
                <a:srgbClr val="5E7B97"/>
              </a:solidFill>
              <a:prstDash val="solid"/>
              <a:round/>
            </a:ln>
          </p:spPr>
          <p:txBody>
            <a:bodyPr/>
            <a:lstStyle/>
            <a:p>
              <a:endParaRPr lang="en-IN"/>
            </a:p>
          </p:txBody>
        </p:sp>
        <p:sp>
          <p:nvSpPr>
            <p:cNvPr id="16" name="TextBox 16"/>
            <p:cNvSpPr txBox="1"/>
            <p:nvPr/>
          </p:nvSpPr>
          <p:spPr>
            <a:xfrm>
              <a:off x="0" y="-104775"/>
              <a:ext cx="2739819" cy="302441"/>
            </a:xfrm>
            <a:prstGeom prst="rect">
              <a:avLst/>
            </a:prstGeom>
          </p:spPr>
          <p:txBody>
            <a:bodyPr lIns="50800" tIns="50800" rIns="50800" bIns="50800" rtlCol="0" anchor="ctr"/>
            <a:lstStyle/>
            <a:p>
              <a:pPr algn="ctr">
                <a:lnSpc>
                  <a:spcPts val="4024"/>
                </a:lnSpc>
              </a:pPr>
              <a:endParaRPr/>
            </a:p>
          </p:txBody>
        </p:sp>
      </p:grpSp>
      <p:sp>
        <p:nvSpPr>
          <p:cNvPr id="17" name="TextBox 17"/>
          <p:cNvSpPr txBox="1"/>
          <p:nvPr/>
        </p:nvSpPr>
        <p:spPr>
          <a:xfrm>
            <a:off x="6647817" y="445365"/>
            <a:ext cx="5315583"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MOTIVATION</a:t>
            </a:r>
          </a:p>
        </p:txBody>
      </p:sp>
      <p:sp>
        <p:nvSpPr>
          <p:cNvPr id="18" name="TextBox 18"/>
          <p:cNvSpPr txBox="1"/>
          <p:nvPr/>
        </p:nvSpPr>
        <p:spPr>
          <a:xfrm>
            <a:off x="0" y="2035491"/>
            <a:ext cx="7255166"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Hierarchical clustering (HC)</a:t>
            </a:r>
          </a:p>
        </p:txBody>
      </p:sp>
      <p:sp>
        <p:nvSpPr>
          <p:cNvPr id="19" name="TextBox 19"/>
          <p:cNvSpPr txBox="1"/>
          <p:nvPr/>
        </p:nvSpPr>
        <p:spPr>
          <a:xfrm>
            <a:off x="10876950" y="4476841"/>
            <a:ext cx="6972272" cy="4518025"/>
          </a:xfrm>
          <a:prstGeom prst="rect">
            <a:avLst/>
          </a:prstGeom>
        </p:spPr>
        <p:txBody>
          <a:bodyPr lIns="0" tIns="0" rIns="0" bIns="0" rtlCol="0" anchor="t">
            <a:spAutoFit/>
          </a:bodyPr>
          <a:lstStyle/>
          <a:p>
            <a:pPr marL="539749" lvl="1" indent="-269875" algn="l">
              <a:lnSpc>
                <a:spcPts val="4024"/>
              </a:lnSpc>
              <a:buFont typeface="Arial"/>
              <a:buChar char="•"/>
            </a:pPr>
            <a:r>
              <a:rPr lang="en-US" sz="2499">
                <a:solidFill>
                  <a:srgbClr val="000000"/>
                </a:solidFill>
                <a:latin typeface="Canva Sans"/>
                <a:ea typeface="Canva Sans"/>
                <a:cs typeface="Canva Sans"/>
                <a:sym typeface="Canva Sans"/>
              </a:rPr>
              <a:t>Construct a distance matrix for all pairs of sequences</a:t>
            </a:r>
          </a:p>
          <a:p>
            <a:pPr marL="539749" lvl="1" indent="-269875" algn="l">
              <a:lnSpc>
                <a:spcPts val="4024"/>
              </a:lnSpc>
              <a:buFont typeface="Arial"/>
              <a:buChar char="•"/>
            </a:pPr>
            <a:r>
              <a:rPr lang="en-US" sz="2499">
                <a:solidFill>
                  <a:srgbClr val="000000"/>
                </a:solidFill>
                <a:latin typeface="Canva Sans"/>
                <a:ea typeface="Canva Sans"/>
                <a:cs typeface="Canva Sans"/>
                <a:sym typeface="Canva Sans"/>
              </a:rPr>
              <a:t>At each iteration</a:t>
            </a:r>
          </a:p>
          <a:p>
            <a:pPr marL="1079499" lvl="2" indent="-359833" algn="l">
              <a:lnSpc>
                <a:spcPts val="4024"/>
              </a:lnSpc>
              <a:buFont typeface="Arial"/>
              <a:buChar char="⚬"/>
            </a:pPr>
            <a:r>
              <a:rPr lang="en-US" sz="2499">
                <a:solidFill>
                  <a:srgbClr val="000000"/>
                </a:solidFill>
                <a:latin typeface="Canva Sans"/>
                <a:ea typeface="Canva Sans"/>
                <a:cs typeface="Canva Sans"/>
                <a:sym typeface="Canva Sans"/>
              </a:rPr>
              <a:t>Join objects (sequences or clusters) having minimum distance between them</a:t>
            </a:r>
          </a:p>
          <a:p>
            <a:pPr marL="1079499" lvl="2" indent="-359833" algn="l">
              <a:lnSpc>
                <a:spcPts val="4024"/>
              </a:lnSpc>
              <a:buFont typeface="Arial"/>
              <a:buChar char="⚬"/>
            </a:pPr>
            <a:r>
              <a:rPr lang="en-US" sz="2499">
                <a:solidFill>
                  <a:srgbClr val="000000"/>
                </a:solidFill>
                <a:latin typeface="Canva Sans"/>
                <a:ea typeface="Canva Sans"/>
                <a:cs typeface="Canva Sans"/>
                <a:sym typeface="Canva Sans"/>
              </a:rPr>
              <a:t>Update the distance matrix to include distances of all objects from the newly formed cluster</a:t>
            </a:r>
          </a:p>
        </p:txBody>
      </p:sp>
      <p:sp>
        <p:nvSpPr>
          <p:cNvPr id="20" name="TextBox 20"/>
          <p:cNvSpPr txBox="1"/>
          <p:nvPr/>
        </p:nvSpPr>
        <p:spPr>
          <a:xfrm>
            <a:off x="10589120" y="9604466"/>
            <a:ext cx="6879276" cy="523875"/>
          </a:xfrm>
          <a:prstGeom prst="rect">
            <a:avLst/>
          </a:prstGeom>
        </p:spPr>
        <p:txBody>
          <a:bodyPr lIns="0" tIns="0" rIns="0" bIns="0" rtlCol="0" anchor="t">
            <a:spAutoFit/>
          </a:bodyPr>
          <a:lstStyle/>
          <a:p>
            <a:pPr algn="r">
              <a:lnSpc>
                <a:spcPts val="2100"/>
              </a:lnSpc>
            </a:pPr>
            <a:r>
              <a:rPr lang="en-US" sz="1500" b="1">
                <a:solidFill>
                  <a:srgbClr val="000000"/>
                </a:solidFill>
                <a:latin typeface="Canva Sans Bold"/>
                <a:ea typeface="Canva Sans Bold"/>
                <a:cs typeface="Canva Sans Bold"/>
                <a:sym typeface="Canva Sans Bold"/>
              </a:rPr>
              <a:t>Lesson 5, Statistical Analysis of Genomic Data, Eberly College of Science</a:t>
            </a:r>
          </a:p>
          <a:p>
            <a:pPr algn="r">
              <a:lnSpc>
                <a:spcPts val="2100"/>
              </a:lnSpc>
              <a:spcBef>
                <a:spcPct val="0"/>
              </a:spcBef>
            </a:pPr>
            <a:r>
              <a:rPr lang="en-US" sz="1500" b="1">
                <a:solidFill>
                  <a:srgbClr val="000000"/>
                </a:solidFill>
                <a:latin typeface="Canva Sans Bold"/>
                <a:ea typeface="Canva Sans Bold"/>
                <a:cs typeface="Canva Sans Bold"/>
                <a:sym typeface="Canva Sans Bold"/>
              </a:rPr>
              <a:t>Altman, N., Krzywinski, M. Clustering. Nat Methods 14, 545–546 (2017) </a:t>
            </a:r>
          </a:p>
        </p:txBody>
      </p:sp>
      <p:sp>
        <p:nvSpPr>
          <p:cNvPr id="21" name="TextBox 21"/>
          <p:cNvSpPr txBox="1"/>
          <p:nvPr/>
        </p:nvSpPr>
        <p:spPr>
          <a:xfrm>
            <a:off x="498677" y="8762484"/>
            <a:ext cx="9904075" cy="567690"/>
          </a:xfrm>
          <a:prstGeom prst="rect">
            <a:avLst/>
          </a:prstGeom>
        </p:spPr>
        <p:txBody>
          <a:bodyPr lIns="0" tIns="0" rIns="0" bIns="0" rtlCol="0" anchor="t">
            <a:spAutoFit/>
          </a:bodyPr>
          <a:lstStyle/>
          <a:p>
            <a:pPr algn="l">
              <a:lnSpc>
                <a:spcPts val="4830"/>
              </a:lnSpc>
            </a:pPr>
            <a:r>
              <a:rPr lang="en-US" sz="3000">
                <a:solidFill>
                  <a:srgbClr val="000000"/>
                </a:solidFill>
                <a:latin typeface="Canva Sans"/>
                <a:ea typeface="Canva Sans"/>
                <a:cs typeface="Canva Sans"/>
                <a:sym typeface="Canva Sans"/>
              </a:rPr>
              <a:t>Dependence on distance between pairs of sequences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p:bldP spid="11" grpId="0"/>
      <p:bldP spid="12" grpId="0" animBg="1"/>
      <p:bldP spid="13" grpId="0" animBg="1"/>
      <p:bldP spid="18" grpId="0"/>
      <p:bldP spid="19"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647817" y="445365"/>
            <a:ext cx="5262225"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MOTIVATION</a:t>
            </a:r>
          </a:p>
        </p:txBody>
      </p:sp>
      <p:sp>
        <p:nvSpPr>
          <p:cNvPr id="6" name="TextBox 6"/>
          <p:cNvSpPr txBox="1"/>
          <p:nvPr/>
        </p:nvSpPr>
        <p:spPr>
          <a:xfrm>
            <a:off x="0" y="2035491"/>
            <a:ext cx="9441158"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Multiple Sequence Alignment (MSA)</a:t>
            </a:r>
          </a:p>
        </p:txBody>
      </p:sp>
      <p:sp>
        <p:nvSpPr>
          <p:cNvPr id="7" name="TextBox 7"/>
          <p:cNvSpPr txBox="1"/>
          <p:nvPr/>
        </p:nvSpPr>
        <p:spPr>
          <a:xfrm>
            <a:off x="334326" y="2934016"/>
            <a:ext cx="11575716" cy="1786890"/>
          </a:xfrm>
          <a:prstGeom prst="rect">
            <a:avLst/>
          </a:prstGeom>
        </p:spPr>
        <p:txBody>
          <a:bodyPr lIns="0" tIns="0" rIns="0" bIns="0" rtlCol="0" anchor="t">
            <a:spAutoFit/>
          </a:bodyPr>
          <a:lstStyle/>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Can be achieved by extending the </a:t>
            </a:r>
            <a:r>
              <a:rPr lang="en-US" sz="3000" b="1">
                <a:solidFill>
                  <a:srgbClr val="000000"/>
                </a:solidFill>
                <a:latin typeface="Canva Sans Bold"/>
                <a:ea typeface="Canva Sans Bold"/>
                <a:cs typeface="Canva Sans Bold"/>
                <a:sym typeface="Canva Sans Bold"/>
              </a:rPr>
              <a:t>dynamic programming</a:t>
            </a:r>
            <a:r>
              <a:rPr lang="en-US" sz="3000">
                <a:solidFill>
                  <a:srgbClr val="000000"/>
                </a:solidFill>
                <a:latin typeface="Canva Sans"/>
                <a:ea typeface="Canva Sans"/>
                <a:cs typeface="Canva Sans"/>
                <a:sym typeface="Canva Sans"/>
              </a:rPr>
              <a:t> algorithms for alignment of a pair of sequences to higher dimensions</a:t>
            </a:r>
          </a:p>
        </p:txBody>
      </p:sp>
      <p:sp>
        <p:nvSpPr>
          <p:cNvPr id="8" name="AutoShape 8"/>
          <p:cNvSpPr/>
          <p:nvPr/>
        </p:nvSpPr>
        <p:spPr>
          <a:xfrm>
            <a:off x="11640183" y="3603943"/>
            <a:ext cx="1268914"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9" name="TextBox 9"/>
          <p:cNvSpPr txBox="1"/>
          <p:nvPr/>
        </p:nvSpPr>
        <p:spPr>
          <a:xfrm>
            <a:off x="13205968" y="3059431"/>
            <a:ext cx="4603441" cy="984250"/>
          </a:xfrm>
          <a:prstGeom prst="rect">
            <a:avLst/>
          </a:prstGeom>
        </p:spPr>
        <p:txBody>
          <a:bodyPr lIns="0" tIns="0" rIns="0" bIns="0" rtlCol="0" anchor="t">
            <a:spAutoFit/>
          </a:bodyPr>
          <a:lstStyle/>
          <a:p>
            <a:pPr algn="l">
              <a:lnSpc>
                <a:spcPts val="4024"/>
              </a:lnSpc>
            </a:pPr>
            <a:r>
              <a:rPr lang="en-US" sz="2499">
                <a:solidFill>
                  <a:srgbClr val="000000"/>
                </a:solidFill>
                <a:latin typeface="Canva Sans"/>
                <a:ea typeface="Canva Sans"/>
                <a:cs typeface="Canva Sans"/>
                <a:sym typeface="Canva Sans"/>
              </a:rPr>
              <a:t>Time complexity ⟶ O( L</a:t>
            </a:r>
            <a:r>
              <a:rPr lang="en-US" sz="2499" baseline="30000">
                <a:solidFill>
                  <a:srgbClr val="000000"/>
                </a:solidFill>
                <a:latin typeface="Canva Sans"/>
                <a:ea typeface="Canva Sans"/>
                <a:cs typeface="Canva Sans"/>
                <a:sym typeface="Canva Sans"/>
              </a:rPr>
              <a:t>N</a:t>
            </a:r>
            <a:r>
              <a:rPr lang="en-US" sz="2499">
                <a:solidFill>
                  <a:srgbClr val="000000"/>
                </a:solidFill>
                <a:latin typeface="Canva Sans"/>
                <a:ea typeface="Canva Sans"/>
                <a:cs typeface="Canva Sans"/>
                <a:sym typeface="Canva Sans"/>
              </a:rPr>
              <a:t> ) for N sequences of length L each</a:t>
            </a:r>
          </a:p>
        </p:txBody>
      </p:sp>
      <p:sp>
        <p:nvSpPr>
          <p:cNvPr id="10" name="TextBox 10"/>
          <p:cNvSpPr txBox="1"/>
          <p:nvPr/>
        </p:nvSpPr>
        <p:spPr>
          <a:xfrm>
            <a:off x="334326" y="5029200"/>
            <a:ext cx="11305857" cy="1177290"/>
          </a:xfrm>
          <a:prstGeom prst="rect">
            <a:avLst/>
          </a:prstGeom>
        </p:spPr>
        <p:txBody>
          <a:bodyPr lIns="0" tIns="0" rIns="0" bIns="0" rtlCol="0" anchor="t">
            <a:spAutoFit/>
          </a:bodyPr>
          <a:lstStyle/>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Certain commonly used heuristic </a:t>
            </a:r>
            <a:r>
              <a:rPr lang="en-US" sz="3000" b="1">
                <a:solidFill>
                  <a:srgbClr val="000000"/>
                </a:solidFill>
                <a:latin typeface="Canva Sans Bold"/>
                <a:ea typeface="Canva Sans Bold"/>
                <a:cs typeface="Canva Sans Bold"/>
                <a:sym typeface="Canva Sans Bold"/>
              </a:rPr>
              <a:t>progressive alignment</a:t>
            </a:r>
            <a:r>
              <a:rPr lang="en-US" sz="3000">
                <a:solidFill>
                  <a:srgbClr val="000000"/>
                </a:solidFill>
                <a:latin typeface="Canva Sans"/>
                <a:ea typeface="Canva Sans"/>
                <a:cs typeface="Canva Sans"/>
                <a:sym typeface="Canva Sans"/>
              </a:rPr>
              <a:t> methods (</a:t>
            </a:r>
            <a:r>
              <a:rPr lang="en-US" sz="3000" err="1">
                <a:solidFill>
                  <a:srgbClr val="000000"/>
                </a:solidFill>
                <a:latin typeface="Canva Sans"/>
                <a:ea typeface="Canva Sans"/>
                <a:cs typeface="Canva Sans"/>
                <a:sym typeface="Canva Sans"/>
              </a:rPr>
              <a:t>eg</a:t>
            </a:r>
            <a:r>
              <a:rPr lang="en-US" sz="3000">
                <a:solidFill>
                  <a:srgbClr val="000000"/>
                </a:solidFill>
                <a:latin typeface="Canva Sans"/>
                <a:ea typeface="Canva Sans"/>
                <a:cs typeface="Canva Sans"/>
                <a:sym typeface="Canva Sans"/>
              </a:rPr>
              <a:t>: </a:t>
            </a:r>
            <a:r>
              <a:rPr lang="en-US" sz="3000" err="1">
                <a:solidFill>
                  <a:srgbClr val="000000"/>
                </a:solidFill>
                <a:latin typeface="Canva Sans"/>
                <a:ea typeface="Canva Sans"/>
                <a:cs typeface="Canva Sans"/>
                <a:sym typeface="Canva Sans"/>
              </a:rPr>
              <a:t>ClustalW</a:t>
            </a:r>
            <a:r>
              <a:rPr lang="en-US" sz="3000">
                <a:solidFill>
                  <a:srgbClr val="000000"/>
                </a:solidFill>
                <a:latin typeface="Canva Sans"/>
                <a:ea typeface="Canva Sans"/>
                <a:cs typeface="Canva Sans"/>
                <a:sym typeface="Canva Sans"/>
              </a:rPr>
              <a:t>) achieve MSA by using a guide tree</a:t>
            </a:r>
          </a:p>
        </p:txBody>
      </p:sp>
      <p:sp>
        <p:nvSpPr>
          <p:cNvPr id="11" name="TextBox 11"/>
          <p:cNvSpPr txBox="1"/>
          <p:nvPr/>
        </p:nvSpPr>
        <p:spPr>
          <a:xfrm>
            <a:off x="1028700" y="7351396"/>
            <a:ext cx="8412458" cy="1993900"/>
          </a:xfrm>
          <a:prstGeom prst="rect">
            <a:avLst/>
          </a:prstGeom>
        </p:spPr>
        <p:txBody>
          <a:bodyPr lIns="0" tIns="0" rIns="0" bIns="0" rtlCol="0" anchor="t">
            <a:spAutoFit/>
          </a:bodyPr>
          <a:lstStyle/>
          <a:p>
            <a:pPr marL="539749" lvl="1" indent="-269875" algn="l">
              <a:lnSpc>
                <a:spcPts val="4024"/>
              </a:lnSpc>
              <a:buFont typeface="Arial"/>
              <a:buChar char="•"/>
            </a:pPr>
            <a:r>
              <a:rPr lang="en-US" sz="2499">
                <a:solidFill>
                  <a:srgbClr val="000000"/>
                </a:solidFill>
                <a:latin typeface="Canva Sans"/>
                <a:ea typeface="Canva Sans"/>
                <a:cs typeface="Canva Sans"/>
                <a:sym typeface="Canva Sans"/>
              </a:rPr>
              <a:t>Construct a distance matrix and a guide tree</a:t>
            </a:r>
          </a:p>
          <a:p>
            <a:pPr marL="539749" lvl="1" indent="-269875" algn="l">
              <a:lnSpc>
                <a:spcPts val="4024"/>
              </a:lnSpc>
              <a:buFont typeface="Arial"/>
              <a:buChar char="•"/>
            </a:pPr>
            <a:r>
              <a:rPr lang="en-US" sz="2499">
                <a:solidFill>
                  <a:srgbClr val="000000"/>
                </a:solidFill>
                <a:latin typeface="Canva Sans"/>
                <a:ea typeface="Canva Sans"/>
                <a:cs typeface="Canva Sans"/>
                <a:sym typeface="Canva Sans"/>
              </a:rPr>
              <a:t>Align nearest sequences</a:t>
            </a:r>
          </a:p>
          <a:p>
            <a:pPr marL="539749" lvl="1" indent="-269875" algn="l">
              <a:lnSpc>
                <a:spcPts val="4024"/>
              </a:lnSpc>
              <a:buFont typeface="Arial"/>
              <a:buChar char="•"/>
            </a:pPr>
            <a:r>
              <a:rPr lang="en-US" sz="2499">
                <a:solidFill>
                  <a:srgbClr val="000000"/>
                </a:solidFill>
                <a:latin typeface="Canva Sans"/>
                <a:ea typeface="Canva Sans"/>
                <a:cs typeface="Canva Sans"/>
                <a:sym typeface="Canva Sans"/>
              </a:rPr>
              <a:t>Align the next nearest sequence to the existing alignment</a:t>
            </a:r>
          </a:p>
        </p:txBody>
      </p:sp>
      <p:sp>
        <p:nvSpPr>
          <p:cNvPr id="12" name="AutoShape 12"/>
          <p:cNvSpPr/>
          <p:nvPr/>
        </p:nvSpPr>
        <p:spPr>
          <a:xfrm>
            <a:off x="4753917" y="6389755"/>
            <a:ext cx="0" cy="883151"/>
          </a:xfrm>
          <a:prstGeom prst="line">
            <a:avLst/>
          </a:prstGeom>
          <a:ln w="66675" cap="flat">
            <a:solidFill>
              <a:srgbClr val="5E7B97"/>
            </a:solidFill>
            <a:prstDash val="solid"/>
            <a:headEnd type="none" w="sm" len="sm"/>
            <a:tailEnd type="triangle" w="lg" len="med"/>
          </a:ln>
        </p:spPr>
        <p:txBody>
          <a:bodyPr/>
          <a:lstStyle/>
          <a:p>
            <a:endParaRPr lang="en-IN"/>
          </a:p>
        </p:txBody>
      </p:sp>
      <p:grpSp>
        <p:nvGrpSpPr>
          <p:cNvPr id="13" name="Group 13"/>
          <p:cNvGrpSpPr/>
          <p:nvPr/>
        </p:nvGrpSpPr>
        <p:grpSpPr>
          <a:xfrm>
            <a:off x="11317134" y="6955847"/>
            <a:ext cx="5515010" cy="1444887"/>
            <a:chOff x="0" y="0"/>
            <a:chExt cx="1452513" cy="380546"/>
          </a:xfrm>
        </p:grpSpPr>
        <p:sp>
          <p:nvSpPr>
            <p:cNvPr id="14" name="Freeform 14"/>
            <p:cNvSpPr/>
            <p:nvPr/>
          </p:nvSpPr>
          <p:spPr>
            <a:xfrm>
              <a:off x="0" y="0"/>
              <a:ext cx="1452513" cy="380546"/>
            </a:xfrm>
            <a:custGeom>
              <a:avLst/>
              <a:gdLst/>
              <a:ahLst/>
              <a:cxnLst/>
              <a:rect l="l" t="t" r="r" b="b"/>
              <a:pathLst>
                <a:path w="1452513" h="380546">
                  <a:moveTo>
                    <a:pt x="37902" y="0"/>
                  </a:moveTo>
                  <a:lnTo>
                    <a:pt x="1414610" y="0"/>
                  </a:lnTo>
                  <a:cubicBezTo>
                    <a:pt x="1424663" y="0"/>
                    <a:pt x="1434303" y="3993"/>
                    <a:pt x="1441411" y="11101"/>
                  </a:cubicBezTo>
                  <a:cubicBezTo>
                    <a:pt x="1448520" y="18209"/>
                    <a:pt x="1452513" y="27850"/>
                    <a:pt x="1452513" y="37902"/>
                  </a:cubicBezTo>
                  <a:lnTo>
                    <a:pt x="1452513" y="342644"/>
                  </a:lnTo>
                  <a:cubicBezTo>
                    <a:pt x="1452513" y="352696"/>
                    <a:pt x="1448520" y="362337"/>
                    <a:pt x="1441411" y="369445"/>
                  </a:cubicBezTo>
                  <a:cubicBezTo>
                    <a:pt x="1434303" y="376553"/>
                    <a:pt x="1424663" y="380546"/>
                    <a:pt x="1414610" y="380546"/>
                  </a:cubicBezTo>
                  <a:lnTo>
                    <a:pt x="37902" y="380546"/>
                  </a:lnTo>
                  <a:cubicBezTo>
                    <a:pt x="27850" y="380546"/>
                    <a:pt x="18209" y="376553"/>
                    <a:pt x="11101" y="369445"/>
                  </a:cubicBezTo>
                  <a:cubicBezTo>
                    <a:pt x="3993" y="362337"/>
                    <a:pt x="0" y="352696"/>
                    <a:pt x="0" y="342644"/>
                  </a:cubicBezTo>
                  <a:lnTo>
                    <a:pt x="0" y="37902"/>
                  </a:lnTo>
                  <a:cubicBezTo>
                    <a:pt x="0" y="27850"/>
                    <a:pt x="3993" y="18209"/>
                    <a:pt x="11101" y="11101"/>
                  </a:cubicBezTo>
                  <a:cubicBezTo>
                    <a:pt x="18209" y="3993"/>
                    <a:pt x="27850" y="0"/>
                    <a:pt x="37902" y="0"/>
                  </a:cubicBezTo>
                  <a:close/>
                </a:path>
              </a:pathLst>
            </a:custGeom>
            <a:ln w="38100" cap="rnd">
              <a:solidFill>
                <a:srgbClr val="5E7B97"/>
              </a:solidFill>
              <a:prstDash val="solid"/>
              <a:round/>
            </a:ln>
          </p:spPr>
          <p:txBody>
            <a:bodyPr/>
            <a:lstStyle/>
            <a:p>
              <a:endParaRPr lang="en-IN"/>
            </a:p>
          </p:txBody>
        </p:sp>
        <p:sp>
          <p:nvSpPr>
            <p:cNvPr id="15" name="TextBox 15"/>
            <p:cNvSpPr txBox="1"/>
            <p:nvPr/>
          </p:nvSpPr>
          <p:spPr>
            <a:xfrm>
              <a:off x="0" y="-104775"/>
              <a:ext cx="1452513" cy="485321"/>
            </a:xfrm>
            <a:prstGeom prst="rect">
              <a:avLst/>
            </a:prstGeom>
          </p:spPr>
          <p:txBody>
            <a:bodyPr lIns="50800" tIns="50800" rIns="50800" bIns="50800" rtlCol="0" anchor="ctr"/>
            <a:lstStyle/>
            <a:p>
              <a:pPr algn="ctr">
                <a:lnSpc>
                  <a:spcPts val="4024"/>
                </a:lnSpc>
              </a:pPr>
              <a:endParaRPr/>
            </a:p>
          </p:txBody>
        </p:sp>
      </p:grpSp>
      <p:sp>
        <p:nvSpPr>
          <p:cNvPr id="16" name="TextBox 16"/>
          <p:cNvSpPr txBox="1"/>
          <p:nvPr/>
        </p:nvSpPr>
        <p:spPr>
          <a:xfrm>
            <a:off x="11045322" y="7032495"/>
            <a:ext cx="6058633" cy="1177290"/>
          </a:xfrm>
          <a:prstGeom prst="rect">
            <a:avLst/>
          </a:prstGeom>
        </p:spPr>
        <p:txBody>
          <a:bodyPr lIns="0" tIns="0" rIns="0" bIns="0" rtlCol="0" anchor="t">
            <a:spAutoFit/>
          </a:bodyPr>
          <a:lstStyle/>
          <a:p>
            <a:pPr algn="ctr">
              <a:lnSpc>
                <a:spcPts val="4830"/>
              </a:lnSpc>
            </a:pPr>
            <a:r>
              <a:rPr lang="en-US" sz="3000">
                <a:solidFill>
                  <a:srgbClr val="000000"/>
                </a:solidFill>
                <a:latin typeface="Canva Sans"/>
                <a:ea typeface="Canva Sans"/>
                <a:cs typeface="Canva Sans"/>
                <a:sym typeface="Canva Sans"/>
              </a:rPr>
              <a:t>Dependence on distance between pairs of sequences</a:t>
            </a:r>
          </a:p>
        </p:txBody>
      </p:sp>
      <p:sp>
        <p:nvSpPr>
          <p:cNvPr id="17" name="TextBox 17"/>
          <p:cNvSpPr txBox="1"/>
          <p:nvPr/>
        </p:nvSpPr>
        <p:spPr>
          <a:xfrm>
            <a:off x="9682660" y="9604466"/>
            <a:ext cx="7785736" cy="523875"/>
          </a:xfrm>
          <a:prstGeom prst="rect">
            <a:avLst/>
          </a:prstGeom>
        </p:spPr>
        <p:txBody>
          <a:bodyPr lIns="0" tIns="0" rIns="0" bIns="0" rtlCol="0" anchor="t">
            <a:spAutoFit/>
          </a:bodyPr>
          <a:lstStyle/>
          <a:p>
            <a:pPr algn="r">
              <a:lnSpc>
                <a:spcPts val="2100"/>
              </a:lnSpc>
            </a:pPr>
            <a:r>
              <a:rPr lang="en-US" sz="1500" b="1">
                <a:solidFill>
                  <a:srgbClr val="000000"/>
                </a:solidFill>
                <a:latin typeface="Canva Sans Bold"/>
                <a:ea typeface="Canva Sans Bold"/>
                <a:cs typeface="Canva Sans Bold"/>
                <a:sym typeface="Canva Sans Bold"/>
              </a:rPr>
              <a:t>Chapter 6, An Introduction to Bioinformatics Algorithms, www.bioalgorithms.info</a:t>
            </a:r>
          </a:p>
          <a:p>
            <a:pPr algn="r">
              <a:lnSpc>
                <a:spcPts val="2100"/>
              </a:lnSpc>
              <a:spcBef>
                <a:spcPct val="0"/>
              </a:spcBef>
            </a:pPr>
            <a:r>
              <a:rPr lang="en-US" sz="1500" b="1">
                <a:solidFill>
                  <a:srgbClr val="000000"/>
                </a:solidFill>
                <a:latin typeface="Canva Sans Bold"/>
                <a:ea typeface="Canva Sans Bold"/>
                <a:cs typeface="Canva Sans Bold"/>
                <a:sym typeface="Canva Sans Bold"/>
              </a:rPr>
              <a:t>Chapter 4, Applied Bioinformatics, Oregon State University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P spid="10" grpId="0"/>
      <p:bldP spid="11" grpId="0"/>
      <p:bldP spid="12"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647817" y="445365"/>
            <a:ext cx="5391783"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MOTIVATION</a:t>
            </a:r>
          </a:p>
        </p:txBody>
      </p:sp>
      <p:sp>
        <p:nvSpPr>
          <p:cNvPr id="6" name="TextBox 6"/>
          <p:cNvSpPr txBox="1"/>
          <p:nvPr/>
        </p:nvSpPr>
        <p:spPr>
          <a:xfrm>
            <a:off x="-160020" y="2200591"/>
            <a:ext cx="7023707"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Canva Sans Bold"/>
                <a:ea typeface="Canva Sans Bold"/>
                <a:cs typeface="Canva Sans Bold"/>
                <a:sym typeface="Canva Sans Bold"/>
              </a:rPr>
              <a:t>Time Complexity of HC AND MSA</a:t>
            </a:r>
          </a:p>
        </p:txBody>
      </p:sp>
      <p:sp>
        <p:nvSpPr>
          <p:cNvPr id="7" name="AutoShape 7"/>
          <p:cNvSpPr/>
          <p:nvPr/>
        </p:nvSpPr>
        <p:spPr>
          <a:xfrm>
            <a:off x="6647817" y="2486341"/>
            <a:ext cx="1268914"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8" name="TextBox 8"/>
          <p:cNvSpPr txBox="1"/>
          <p:nvPr/>
        </p:nvSpPr>
        <p:spPr>
          <a:xfrm>
            <a:off x="8268196" y="1941828"/>
            <a:ext cx="9335473" cy="984250"/>
          </a:xfrm>
          <a:prstGeom prst="rect">
            <a:avLst/>
          </a:prstGeom>
        </p:spPr>
        <p:txBody>
          <a:bodyPr lIns="0" tIns="0" rIns="0" bIns="0" rtlCol="0" anchor="t">
            <a:spAutoFit/>
          </a:bodyPr>
          <a:lstStyle/>
          <a:p>
            <a:pPr algn="l">
              <a:lnSpc>
                <a:spcPts val="4024"/>
              </a:lnSpc>
            </a:pPr>
            <a:r>
              <a:rPr lang="en-US" sz="2499">
                <a:solidFill>
                  <a:srgbClr val="000000"/>
                </a:solidFill>
                <a:latin typeface="Canva Sans"/>
                <a:ea typeface="Canva Sans"/>
                <a:cs typeface="Canva Sans"/>
                <a:sym typeface="Canva Sans"/>
              </a:rPr>
              <a:t>Must be lower bound by the time complexity for computation of all pairwise distances, i.e. the distance matrix</a:t>
            </a:r>
          </a:p>
        </p:txBody>
      </p:sp>
      <p:sp>
        <p:nvSpPr>
          <p:cNvPr id="9" name="AutoShape 9"/>
          <p:cNvSpPr/>
          <p:nvPr/>
        </p:nvSpPr>
        <p:spPr>
          <a:xfrm flipV="1">
            <a:off x="1028700" y="3221353"/>
            <a:ext cx="16230600" cy="0"/>
          </a:xfrm>
          <a:prstGeom prst="line">
            <a:avLst/>
          </a:prstGeom>
          <a:ln w="38100" cap="flat">
            <a:solidFill>
              <a:srgbClr val="5E7B97"/>
            </a:solidFill>
            <a:prstDash val="solid"/>
            <a:headEnd type="none" w="sm" len="sm"/>
            <a:tailEnd type="none" w="sm" len="sm"/>
          </a:ln>
        </p:spPr>
        <p:txBody>
          <a:bodyPr/>
          <a:lstStyle/>
          <a:p>
            <a:endParaRPr lang="en-IN"/>
          </a:p>
        </p:txBody>
      </p:sp>
      <p:sp>
        <p:nvSpPr>
          <p:cNvPr id="10" name="TextBox 10"/>
          <p:cNvSpPr txBox="1"/>
          <p:nvPr/>
        </p:nvSpPr>
        <p:spPr>
          <a:xfrm>
            <a:off x="0" y="3449953"/>
            <a:ext cx="16112051" cy="5969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Canva Sans Bold"/>
                <a:ea typeface="Canva Sans Bold"/>
                <a:cs typeface="Canva Sans Bold"/>
                <a:sym typeface="Canva Sans Bold"/>
              </a:rPr>
              <a:t>A Measure of Distance between Two Strings : Edit (</a:t>
            </a:r>
            <a:r>
              <a:rPr lang="en-US" sz="3500" b="1" err="1">
                <a:solidFill>
                  <a:srgbClr val="000000"/>
                </a:solidFill>
                <a:latin typeface="Canva Sans Bold"/>
                <a:ea typeface="Canva Sans Bold"/>
                <a:cs typeface="Canva Sans Bold"/>
                <a:sym typeface="Canva Sans Bold"/>
              </a:rPr>
              <a:t>Levenshtein</a:t>
            </a:r>
            <a:r>
              <a:rPr lang="en-US" sz="3500" b="1">
                <a:solidFill>
                  <a:srgbClr val="000000"/>
                </a:solidFill>
                <a:latin typeface="Canva Sans Bold"/>
                <a:ea typeface="Canva Sans Bold"/>
                <a:cs typeface="Canva Sans Bold"/>
                <a:sym typeface="Canva Sans Bold"/>
              </a:rPr>
              <a:t>) Distance</a:t>
            </a:r>
          </a:p>
        </p:txBody>
      </p:sp>
      <p:sp>
        <p:nvSpPr>
          <p:cNvPr id="11" name="TextBox 11"/>
          <p:cNvSpPr txBox="1"/>
          <p:nvPr/>
        </p:nvSpPr>
        <p:spPr>
          <a:xfrm>
            <a:off x="720089" y="4192905"/>
            <a:ext cx="16883580" cy="1786890"/>
          </a:xfrm>
          <a:prstGeom prst="rect">
            <a:avLst/>
          </a:prstGeom>
        </p:spPr>
        <p:txBody>
          <a:bodyPr lIns="0" tIns="0" rIns="0" bIns="0" rtlCol="0" anchor="t">
            <a:spAutoFit/>
          </a:bodyPr>
          <a:lstStyle/>
          <a:p>
            <a:pPr algn="l">
              <a:lnSpc>
                <a:spcPts val="4830"/>
              </a:lnSpc>
            </a:pPr>
            <a:r>
              <a:rPr lang="en-US" sz="3000" b="1">
                <a:solidFill>
                  <a:srgbClr val="000000"/>
                </a:solidFill>
                <a:latin typeface="Canva Sans Bold"/>
                <a:ea typeface="Canva Sans Bold"/>
                <a:cs typeface="Canva Sans Bold"/>
                <a:sym typeface="Canva Sans Bold"/>
              </a:rPr>
              <a:t>Definition: </a:t>
            </a:r>
            <a:r>
              <a:rPr lang="en-US" sz="3000">
                <a:solidFill>
                  <a:srgbClr val="000000"/>
                </a:solidFill>
                <a:latin typeface="Canva Sans"/>
                <a:ea typeface="Canva Sans"/>
                <a:cs typeface="Canva Sans"/>
                <a:sym typeface="Canva Sans"/>
              </a:rPr>
              <a:t>The edit distance between two strings is defined as the minimum number of edit operations - insertions, deletions, and substitutions - needed to transform the first string into the second</a:t>
            </a:r>
          </a:p>
        </p:txBody>
      </p:sp>
      <p:sp>
        <p:nvSpPr>
          <p:cNvPr id="12" name="AutoShape 12"/>
          <p:cNvSpPr/>
          <p:nvPr/>
        </p:nvSpPr>
        <p:spPr>
          <a:xfrm flipH="1">
            <a:off x="3215626" y="6450297"/>
            <a:ext cx="0" cy="986021"/>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3" name="AutoShape 13"/>
          <p:cNvSpPr/>
          <p:nvPr/>
        </p:nvSpPr>
        <p:spPr>
          <a:xfrm>
            <a:off x="14573264" y="6469347"/>
            <a:ext cx="33337" cy="966971"/>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4" name="AutoShape 14"/>
          <p:cNvSpPr/>
          <p:nvPr/>
        </p:nvSpPr>
        <p:spPr>
          <a:xfrm flipV="1">
            <a:off x="3215626" y="6450297"/>
            <a:ext cx="11390975" cy="19050"/>
          </a:xfrm>
          <a:prstGeom prst="line">
            <a:avLst/>
          </a:prstGeom>
          <a:ln w="66675" cap="flat">
            <a:solidFill>
              <a:srgbClr val="5E7B97"/>
            </a:solidFill>
            <a:prstDash val="solid"/>
            <a:headEnd type="none" w="sm" len="sm"/>
            <a:tailEnd type="none" w="sm" len="sm"/>
          </a:ln>
        </p:spPr>
        <p:txBody>
          <a:bodyPr/>
          <a:lstStyle/>
          <a:p>
            <a:endParaRPr lang="en-IN"/>
          </a:p>
        </p:txBody>
      </p:sp>
      <p:sp>
        <p:nvSpPr>
          <p:cNvPr id="15" name="AutoShape 15"/>
          <p:cNvSpPr/>
          <p:nvPr/>
        </p:nvSpPr>
        <p:spPr>
          <a:xfrm>
            <a:off x="9022080" y="5979795"/>
            <a:ext cx="0" cy="470502"/>
          </a:xfrm>
          <a:prstGeom prst="line">
            <a:avLst/>
          </a:prstGeom>
          <a:ln w="66675" cap="flat">
            <a:solidFill>
              <a:srgbClr val="5E7B97"/>
            </a:solidFill>
            <a:prstDash val="solid"/>
            <a:headEnd type="none" w="sm" len="sm"/>
            <a:tailEnd type="none" w="sm" len="sm"/>
          </a:ln>
        </p:spPr>
        <p:txBody>
          <a:bodyPr/>
          <a:lstStyle/>
          <a:p>
            <a:endParaRPr lang="en-IN"/>
          </a:p>
        </p:txBody>
      </p:sp>
      <p:sp>
        <p:nvSpPr>
          <p:cNvPr id="16" name="TextBox 16"/>
          <p:cNvSpPr txBox="1"/>
          <p:nvPr/>
        </p:nvSpPr>
        <p:spPr>
          <a:xfrm>
            <a:off x="372429" y="7379168"/>
            <a:ext cx="5686394"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Canva Sans Bold"/>
                <a:ea typeface="Canva Sans Bold"/>
                <a:cs typeface="Canva Sans Bold"/>
                <a:sym typeface="Canva Sans Bold"/>
              </a:rPr>
              <a:t>Alignment Based Methods</a:t>
            </a:r>
          </a:p>
        </p:txBody>
      </p:sp>
      <p:sp>
        <p:nvSpPr>
          <p:cNvPr id="17" name="TextBox 17"/>
          <p:cNvSpPr txBox="1"/>
          <p:nvPr/>
        </p:nvSpPr>
        <p:spPr>
          <a:xfrm>
            <a:off x="12115830" y="7379168"/>
            <a:ext cx="4914867"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Canva Sans Bold"/>
                <a:ea typeface="Canva Sans Bold"/>
                <a:cs typeface="Canva Sans Bold"/>
                <a:sym typeface="Canva Sans Bold"/>
              </a:rPr>
              <a:t>Alignment Free Methods</a:t>
            </a:r>
          </a:p>
        </p:txBody>
      </p:sp>
      <p:sp>
        <p:nvSpPr>
          <p:cNvPr id="18" name="TextBox 18"/>
          <p:cNvSpPr txBox="1"/>
          <p:nvPr/>
        </p:nvSpPr>
        <p:spPr>
          <a:xfrm>
            <a:off x="720089" y="7988768"/>
            <a:ext cx="4577724" cy="742950"/>
          </a:xfrm>
          <a:prstGeom prst="rect">
            <a:avLst/>
          </a:prstGeom>
        </p:spPr>
        <p:txBody>
          <a:bodyPr lIns="0" tIns="0" rIns="0" bIns="0" rtlCol="0" anchor="t">
            <a:spAutoFit/>
          </a:bodyPr>
          <a:lstStyle/>
          <a:p>
            <a:pPr algn="ctr">
              <a:lnSpc>
                <a:spcPts val="2999"/>
              </a:lnSpc>
            </a:pPr>
            <a:r>
              <a:rPr lang="en-US" sz="2499">
                <a:solidFill>
                  <a:srgbClr val="000000"/>
                </a:solidFill>
                <a:latin typeface="Canva Sans"/>
                <a:ea typeface="Canva Sans"/>
                <a:cs typeface="Canva Sans"/>
                <a:sym typeface="Canva Sans"/>
              </a:rPr>
              <a:t>Eg: Needleman-Wunsch algorithm</a:t>
            </a:r>
          </a:p>
        </p:txBody>
      </p:sp>
      <p:sp>
        <p:nvSpPr>
          <p:cNvPr id="19" name="TextBox 19"/>
          <p:cNvSpPr txBox="1"/>
          <p:nvPr/>
        </p:nvSpPr>
        <p:spPr>
          <a:xfrm>
            <a:off x="12452974" y="7988768"/>
            <a:ext cx="4577724" cy="371475"/>
          </a:xfrm>
          <a:prstGeom prst="rect">
            <a:avLst/>
          </a:prstGeom>
        </p:spPr>
        <p:txBody>
          <a:bodyPr lIns="0" tIns="0" rIns="0" bIns="0" rtlCol="0" anchor="t">
            <a:spAutoFit/>
          </a:bodyPr>
          <a:lstStyle/>
          <a:p>
            <a:pPr algn="ctr">
              <a:lnSpc>
                <a:spcPts val="2999"/>
              </a:lnSpc>
            </a:pPr>
            <a:r>
              <a:rPr lang="en-US" sz="2499">
                <a:solidFill>
                  <a:srgbClr val="000000"/>
                </a:solidFill>
                <a:latin typeface="Canva Sans"/>
                <a:ea typeface="Canva Sans"/>
                <a:cs typeface="Canva Sans"/>
                <a:sym typeface="Canva Sans"/>
              </a:rPr>
              <a:t>Eg: k-mer </a:t>
            </a:r>
          </a:p>
        </p:txBody>
      </p:sp>
      <p:sp>
        <p:nvSpPr>
          <p:cNvPr id="20" name="TextBox 20"/>
          <p:cNvSpPr txBox="1"/>
          <p:nvPr/>
        </p:nvSpPr>
        <p:spPr>
          <a:xfrm>
            <a:off x="11640183" y="9678035"/>
            <a:ext cx="5686394" cy="257175"/>
          </a:xfrm>
          <a:prstGeom prst="rect">
            <a:avLst/>
          </a:prstGeom>
        </p:spPr>
        <p:txBody>
          <a:bodyPr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Chapter 11, Gusfield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0" grpId="0"/>
      <p:bldP spid="11" grpId="0"/>
      <p:bldP spid="12" grpId="0" animBg="1"/>
      <p:bldP spid="13" grpId="0" animBg="1"/>
      <p:bldP spid="14" grpId="0" animBg="1"/>
      <p:bldP spid="15" grpId="0" animBg="1"/>
      <p:bldP spid="16" grpId="0"/>
      <p:bldP spid="17" grpId="0"/>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sp>
        <p:nvSpPr>
          <p:cNvPr id="2" name="TextBox 2"/>
          <p:cNvSpPr txBox="1"/>
          <p:nvPr/>
        </p:nvSpPr>
        <p:spPr>
          <a:xfrm>
            <a:off x="23447" y="1937858"/>
            <a:ext cx="12926061"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Alignment Based Methods : Dynamic Programming</a:t>
            </a:r>
          </a:p>
        </p:txBody>
      </p:sp>
      <p:grpSp>
        <p:nvGrpSpPr>
          <p:cNvPr id="3" name="Group 3"/>
          <p:cNvGrpSpPr/>
          <p:nvPr/>
        </p:nvGrpSpPr>
        <p:grpSpPr>
          <a:xfrm>
            <a:off x="-514350" y="282894"/>
            <a:ext cx="20394020" cy="1491611"/>
            <a:chOff x="0" y="0"/>
            <a:chExt cx="5371264" cy="392852"/>
          </a:xfrm>
        </p:grpSpPr>
        <p:sp>
          <p:nvSpPr>
            <p:cNvPr id="4" name="Freeform 4"/>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5" name="TextBox 5"/>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647817" y="445365"/>
            <a:ext cx="5255135"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MOTIVATION</a:t>
            </a:r>
          </a:p>
        </p:txBody>
      </p:sp>
      <p:sp>
        <p:nvSpPr>
          <p:cNvPr id="7" name="TextBox 7"/>
          <p:cNvSpPr txBox="1"/>
          <p:nvPr/>
        </p:nvSpPr>
        <p:spPr>
          <a:xfrm>
            <a:off x="282893" y="2742560"/>
            <a:ext cx="17722214" cy="11772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For two strings S</a:t>
            </a:r>
            <a:r>
              <a:rPr lang="en-US" sz="3000" baseline="-25000">
                <a:solidFill>
                  <a:srgbClr val="000000"/>
                </a:solidFill>
                <a:latin typeface="Canva Sans"/>
                <a:ea typeface="Canva Sans"/>
                <a:cs typeface="Canva Sans"/>
                <a:sym typeface="Canva Sans"/>
              </a:rPr>
              <a:t>1</a:t>
            </a:r>
            <a:r>
              <a:rPr lang="en-US" sz="3000">
                <a:solidFill>
                  <a:srgbClr val="000000"/>
                </a:solidFill>
                <a:latin typeface="Canva Sans"/>
                <a:ea typeface="Canva Sans"/>
                <a:cs typeface="Canva Sans"/>
                <a:sym typeface="Canva Sans"/>
              </a:rPr>
              <a:t> and S</a:t>
            </a:r>
            <a:r>
              <a:rPr lang="en-US" sz="3000" baseline="-25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of lengths m and n respectively, D(</a:t>
            </a:r>
            <a:r>
              <a:rPr lang="en-US" sz="3000" err="1">
                <a:solidFill>
                  <a:srgbClr val="000000"/>
                </a:solidFill>
                <a:latin typeface="Canva Sans"/>
                <a:ea typeface="Canva Sans"/>
                <a:cs typeface="Canva Sans"/>
                <a:sym typeface="Canva Sans"/>
              </a:rPr>
              <a:t>i</a:t>
            </a:r>
            <a:r>
              <a:rPr lang="en-US" sz="3000">
                <a:solidFill>
                  <a:srgbClr val="000000"/>
                </a:solidFill>
                <a:latin typeface="Canva Sans"/>
                <a:ea typeface="Canva Sans"/>
                <a:cs typeface="Canva Sans"/>
                <a:sym typeface="Canva Sans"/>
              </a:rPr>
              <a:t>, j) is defined to be the edit distance of S</a:t>
            </a:r>
            <a:r>
              <a:rPr lang="en-US" sz="3000" baseline="-25000">
                <a:solidFill>
                  <a:srgbClr val="000000"/>
                </a:solidFill>
                <a:latin typeface="Canva Sans"/>
                <a:ea typeface="Canva Sans"/>
                <a:cs typeface="Canva Sans"/>
                <a:sym typeface="Canva Sans"/>
              </a:rPr>
              <a:t>1</a:t>
            </a:r>
            <a:r>
              <a:rPr lang="en-US" sz="3000">
                <a:solidFill>
                  <a:srgbClr val="000000"/>
                </a:solidFill>
                <a:latin typeface="Canva Sans"/>
                <a:ea typeface="Canva Sans"/>
                <a:cs typeface="Canva Sans"/>
                <a:sym typeface="Canva Sans"/>
              </a:rPr>
              <a:t> [ 1....</a:t>
            </a:r>
            <a:r>
              <a:rPr lang="en-US" sz="3000" err="1">
                <a:solidFill>
                  <a:srgbClr val="000000"/>
                </a:solidFill>
                <a:latin typeface="Canva Sans"/>
                <a:ea typeface="Canva Sans"/>
                <a:cs typeface="Canva Sans"/>
                <a:sym typeface="Canva Sans"/>
              </a:rPr>
              <a:t>i</a:t>
            </a:r>
            <a:r>
              <a:rPr lang="en-US" sz="3000">
                <a:solidFill>
                  <a:srgbClr val="000000"/>
                </a:solidFill>
                <a:latin typeface="Canva Sans"/>
                <a:ea typeface="Canva Sans"/>
                <a:cs typeface="Canva Sans"/>
                <a:sym typeface="Canva Sans"/>
              </a:rPr>
              <a:t> ] and S</a:t>
            </a:r>
            <a:r>
              <a:rPr lang="en-US" sz="3000" baseline="-25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[ 1....j ]</a:t>
            </a:r>
          </a:p>
        </p:txBody>
      </p:sp>
      <p:sp>
        <p:nvSpPr>
          <p:cNvPr id="8" name="TextBox 8"/>
          <p:cNvSpPr txBox="1"/>
          <p:nvPr/>
        </p:nvSpPr>
        <p:spPr>
          <a:xfrm>
            <a:off x="750844" y="4105588"/>
            <a:ext cx="3287755"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Base Conditions:</a:t>
            </a:r>
          </a:p>
        </p:txBody>
      </p:sp>
      <p:sp>
        <p:nvSpPr>
          <p:cNvPr id="9" name="TextBox 9"/>
          <p:cNvSpPr txBox="1"/>
          <p:nvPr/>
        </p:nvSpPr>
        <p:spPr>
          <a:xfrm>
            <a:off x="4882072" y="4105588"/>
            <a:ext cx="1899727" cy="1177290"/>
          </a:xfrm>
          <a:prstGeom prst="rect">
            <a:avLst/>
          </a:prstGeom>
        </p:spPr>
        <p:txBody>
          <a:bodyPr wrap="square" lIns="0" tIns="0" rIns="0" bIns="0" rtlCol="0" anchor="t">
            <a:spAutoFit/>
          </a:bodyPr>
          <a:lstStyle/>
          <a:p>
            <a:pPr algn="ctr">
              <a:lnSpc>
                <a:spcPts val="4830"/>
              </a:lnSpc>
            </a:pPr>
            <a:r>
              <a:rPr lang="en-US" sz="3000">
                <a:solidFill>
                  <a:srgbClr val="000000"/>
                </a:solidFill>
                <a:latin typeface="Canva Sans"/>
                <a:ea typeface="Canva Sans"/>
                <a:cs typeface="Canva Sans"/>
                <a:sym typeface="Canva Sans"/>
              </a:rPr>
              <a:t>D(i,0) = </a:t>
            </a:r>
            <a:r>
              <a:rPr lang="en-US" sz="3000" err="1">
                <a:solidFill>
                  <a:srgbClr val="000000"/>
                </a:solidFill>
                <a:latin typeface="Canva Sans"/>
                <a:ea typeface="Canva Sans"/>
                <a:cs typeface="Canva Sans"/>
                <a:sym typeface="Canva Sans"/>
              </a:rPr>
              <a:t>i</a:t>
            </a:r>
            <a:endParaRPr lang="en-US" sz="3000">
              <a:solidFill>
                <a:srgbClr val="000000"/>
              </a:solidFill>
              <a:latin typeface="Canva Sans"/>
              <a:ea typeface="Canva Sans"/>
              <a:cs typeface="Canva Sans"/>
              <a:sym typeface="Canva Sans"/>
            </a:endParaRPr>
          </a:p>
          <a:p>
            <a:pPr algn="ctr">
              <a:lnSpc>
                <a:spcPts val="4830"/>
              </a:lnSpc>
              <a:spcBef>
                <a:spcPct val="0"/>
              </a:spcBef>
            </a:pPr>
            <a:r>
              <a:rPr lang="en-US" sz="3000">
                <a:solidFill>
                  <a:srgbClr val="000000"/>
                </a:solidFill>
                <a:latin typeface="Canva Sans"/>
                <a:ea typeface="Canva Sans"/>
                <a:cs typeface="Canva Sans"/>
                <a:sym typeface="Canva Sans"/>
              </a:rPr>
              <a:t>D(0,j) = j</a:t>
            </a:r>
          </a:p>
        </p:txBody>
      </p:sp>
      <p:sp>
        <p:nvSpPr>
          <p:cNvPr id="10" name="TextBox 10"/>
          <p:cNvSpPr txBox="1"/>
          <p:nvPr/>
        </p:nvSpPr>
        <p:spPr>
          <a:xfrm>
            <a:off x="5210182" y="5663878"/>
            <a:ext cx="10095607" cy="567690"/>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D(i, j) = min [D(i - 1, j) + 1, D(i, j - 1) + 1, D(i - 1, j - 1) + t(i, j)]</a:t>
            </a:r>
          </a:p>
        </p:txBody>
      </p:sp>
      <p:sp>
        <p:nvSpPr>
          <p:cNvPr id="11" name="TextBox 11"/>
          <p:cNvSpPr txBox="1"/>
          <p:nvPr/>
        </p:nvSpPr>
        <p:spPr>
          <a:xfrm>
            <a:off x="750845" y="5663878"/>
            <a:ext cx="4131227"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Recurrence Relation:</a:t>
            </a:r>
          </a:p>
        </p:txBody>
      </p:sp>
      <p:sp>
        <p:nvSpPr>
          <p:cNvPr id="12" name="TextBox 12"/>
          <p:cNvSpPr txBox="1"/>
          <p:nvPr/>
        </p:nvSpPr>
        <p:spPr>
          <a:xfrm>
            <a:off x="5769720" y="6517318"/>
            <a:ext cx="1393079"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where,</a:t>
            </a:r>
          </a:p>
        </p:txBody>
      </p:sp>
      <p:sp>
        <p:nvSpPr>
          <p:cNvPr id="13" name="TextBox 13"/>
          <p:cNvSpPr txBox="1"/>
          <p:nvPr/>
        </p:nvSpPr>
        <p:spPr>
          <a:xfrm>
            <a:off x="7462367" y="6534463"/>
            <a:ext cx="4805833" cy="1177291"/>
          </a:xfrm>
          <a:prstGeom prst="rect">
            <a:avLst/>
          </a:prstGeom>
        </p:spPr>
        <p:txBody>
          <a:bodyPr wrap="square" lIns="0" tIns="0" rIns="0" bIns="0" rtlCol="0" anchor="t">
            <a:spAutoFit/>
          </a:bodyPr>
          <a:lstStyle/>
          <a:p>
            <a:pPr algn="ctr">
              <a:lnSpc>
                <a:spcPts val="4829"/>
              </a:lnSpc>
              <a:spcBef>
                <a:spcPct val="0"/>
              </a:spcBef>
            </a:pPr>
            <a:r>
              <a:rPr lang="en-US" sz="2999">
                <a:solidFill>
                  <a:srgbClr val="000000"/>
                </a:solidFill>
                <a:latin typeface="Canva Sans"/>
                <a:ea typeface="Canva Sans"/>
                <a:cs typeface="Canva Sans"/>
                <a:sym typeface="Canva Sans"/>
              </a:rPr>
              <a:t>t(</a:t>
            </a:r>
            <a:r>
              <a:rPr lang="en-US" sz="2999" err="1">
                <a:solidFill>
                  <a:srgbClr val="000000"/>
                </a:solidFill>
                <a:latin typeface="Canva Sans"/>
                <a:ea typeface="Canva Sans"/>
                <a:cs typeface="Canva Sans"/>
                <a:sym typeface="Canva Sans"/>
              </a:rPr>
              <a:t>i,j</a:t>
            </a:r>
            <a:r>
              <a:rPr lang="en-US" sz="2999">
                <a:solidFill>
                  <a:srgbClr val="000000"/>
                </a:solidFill>
                <a:latin typeface="Canva Sans"/>
                <a:ea typeface="Canva Sans"/>
                <a:cs typeface="Canva Sans"/>
                <a:sym typeface="Canva Sans"/>
              </a:rPr>
              <a:t>) = 0, if S</a:t>
            </a:r>
            <a:r>
              <a:rPr lang="en-US" sz="2999" baseline="-25000">
                <a:solidFill>
                  <a:srgbClr val="000000"/>
                </a:solidFill>
                <a:latin typeface="Canva Sans"/>
                <a:ea typeface="Canva Sans"/>
                <a:cs typeface="Canva Sans"/>
                <a:sym typeface="Canva Sans"/>
              </a:rPr>
              <a:t>1</a:t>
            </a:r>
            <a:r>
              <a:rPr lang="en-US" sz="2999">
                <a:solidFill>
                  <a:srgbClr val="000000"/>
                </a:solidFill>
                <a:latin typeface="Canva Sans"/>
                <a:ea typeface="Canva Sans"/>
                <a:cs typeface="Canva Sans"/>
                <a:sym typeface="Canva Sans"/>
              </a:rPr>
              <a:t> ( </a:t>
            </a:r>
            <a:r>
              <a:rPr lang="en-US" sz="2999" err="1">
                <a:solidFill>
                  <a:srgbClr val="000000"/>
                </a:solidFill>
                <a:latin typeface="Canva Sans"/>
                <a:ea typeface="Canva Sans"/>
                <a:cs typeface="Canva Sans"/>
                <a:sym typeface="Canva Sans"/>
              </a:rPr>
              <a:t>i</a:t>
            </a:r>
            <a:r>
              <a:rPr lang="en-US" sz="2999">
                <a:solidFill>
                  <a:srgbClr val="000000"/>
                </a:solidFill>
                <a:latin typeface="Canva Sans"/>
                <a:ea typeface="Canva Sans"/>
                <a:cs typeface="Canva Sans"/>
                <a:sym typeface="Canva Sans"/>
              </a:rPr>
              <a:t> )  = S</a:t>
            </a:r>
            <a:r>
              <a:rPr lang="en-US" sz="2999" baseline="-25000">
                <a:solidFill>
                  <a:srgbClr val="000000"/>
                </a:solidFill>
                <a:latin typeface="Canva Sans"/>
                <a:ea typeface="Canva Sans"/>
                <a:cs typeface="Canva Sans"/>
                <a:sym typeface="Canva Sans"/>
              </a:rPr>
              <a:t>2</a:t>
            </a:r>
            <a:r>
              <a:rPr lang="en-US" sz="2999">
                <a:solidFill>
                  <a:srgbClr val="000000"/>
                </a:solidFill>
                <a:latin typeface="Canva Sans"/>
                <a:ea typeface="Canva Sans"/>
                <a:cs typeface="Canva Sans"/>
                <a:sym typeface="Canva Sans"/>
              </a:rPr>
              <a:t> ( j )</a:t>
            </a:r>
          </a:p>
          <a:p>
            <a:pPr algn="ctr">
              <a:lnSpc>
                <a:spcPts val="4829"/>
              </a:lnSpc>
              <a:spcBef>
                <a:spcPct val="0"/>
              </a:spcBef>
            </a:pPr>
            <a:r>
              <a:rPr lang="en-US" sz="2999">
                <a:solidFill>
                  <a:srgbClr val="000000"/>
                </a:solidFill>
                <a:latin typeface="Canva Sans"/>
                <a:ea typeface="Canva Sans"/>
                <a:cs typeface="Canva Sans"/>
                <a:sym typeface="Canva Sans"/>
              </a:rPr>
              <a:t>t(</a:t>
            </a:r>
            <a:r>
              <a:rPr lang="en-US" sz="2999" err="1">
                <a:solidFill>
                  <a:srgbClr val="000000"/>
                </a:solidFill>
                <a:latin typeface="Canva Sans"/>
                <a:ea typeface="Canva Sans"/>
                <a:cs typeface="Canva Sans"/>
                <a:sym typeface="Canva Sans"/>
              </a:rPr>
              <a:t>i,j</a:t>
            </a:r>
            <a:r>
              <a:rPr lang="en-US" sz="2999">
                <a:solidFill>
                  <a:srgbClr val="000000"/>
                </a:solidFill>
                <a:latin typeface="Canva Sans"/>
                <a:ea typeface="Canva Sans"/>
                <a:cs typeface="Canva Sans"/>
                <a:sym typeface="Canva Sans"/>
              </a:rPr>
              <a:t>) = 1,  if S</a:t>
            </a:r>
            <a:r>
              <a:rPr lang="en-US" sz="2999" baseline="-25000">
                <a:solidFill>
                  <a:srgbClr val="000000"/>
                </a:solidFill>
                <a:latin typeface="Canva Sans"/>
                <a:ea typeface="Canva Sans"/>
                <a:cs typeface="Canva Sans"/>
                <a:sym typeface="Canva Sans"/>
              </a:rPr>
              <a:t>1</a:t>
            </a:r>
            <a:r>
              <a:rPr lang="en-US" sz="2999">
                <a:solidFill>
                  <a:srgbClr val="000000"/>
                </a:solidFill>
                <a:latin typeface="Canva Sans"/>
                <a:ea typeface="Canva Sans"/>
                <a:cs typeface="Canva Sans"/>
                <a:sym typeface="Canva Sans"/>
              </a:rPr>
              <a:t> ( </a:t>
            </a:r>
            <a:r>
              <a:rPr lang="en-US" sz="2999" err="1">
                <a:solidFill>
                  <a:srgbClr val="000000"/>
                </a:solidFill>
                <a:latin typeface="Canva Sans"/>
                <a:ea typeface="Canva Sans"/>
                <a:cs typeface="Canva Sans"/>
                <a:sym typeface="Canva Sans"/>
              </a:rPr>
              <a:t>i</a:t>
            </a:r>
            <a:r>
              <a:rPr lang="en-US" sz="2999">
                <a:solidFill>
                  <a:srgbClr val="000000"/>
                </a:solidFill>
                <a:latin typeface="Canva Sans"/>
                <a:ea typeface="Canva Sans"/>
                <a:cs typeface="Canva Sans"/>
                <a:sym typeface="Canva Sans"/>
              </a:rPr>
              <a:t> ) ≠ S</a:t>
            </a:r>
            <a:r>
              <a:rPr lang="en-US" sz="2999" baseline="-25000">
                <a:solidFill>
                  <a:srgbClr val="000000"/>
                </a:solidFill>
                <a:latin typeface="Canva Sans"/>
                <a:ea typeface="Canva Sans"/>
                <a:cs typeface="Canva Sans"/>
                <a:sym typeface="Canva Sans"/>
              </a:rPr>
              <a:t>2</a:t>
            </a:r>
            <a:r>
              <a:rPr lang="en-US" sz="2999">
                <a:solidFill>
                  <a:srgbClr val="000000"/>
                </a:solidFill>
                <a:latin typeface="Canva Sans"/>
                <a:ea typeface="Canva Sans"/>
                <a:cs typeface="Canva Sans"/>
                <a:sym typeface="Canva Sans"/>
              </a:rPr>
              <a:t> ( j ) </a:t>
            </a:r>
          </a:p>
        </p:txBody>
      </p:sp>
      <p:sp>
        <p:nvSpPr>
          <p:cNvPr id="14" name="TextBox 14"/>
          <p:cNvSpPr txBox="1"/>
          <p:nvPr/>
        </p:nvSpPr>
        <p:spPr>
          <a:xfrm>
            <a:off x="750845" y="8111803"/>
            <a:ext cx="12974338" cy="567690"/>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Bottom up computation of D(</a:t>
            </a:r>
            <a:r>
              <a:rPr lang="en-US" sz="3000" err="1">
                <a:solidFill>
                  <a:srgbClr val="000000"/>
                </a:solidFill>
                <a:latin typeface="Canva Sans"/>
                <a:ea typeface="Canva Sans"/>
                <a:cs typeface="Canva Sans"/>
                <a:sym typeface="Canva Sans"/>
              </a:rPr>
              <a:t>m,n</a:t>
            </a:r>
            <a:r>
              <a:rPr lang="en-US" sz="3000">
                <a:solidFill>
                  <a:srgbClr val="000000"/>
                </a:solidFill>
                <a:latin typeface="Canva Sans"/>
                <a:ea typeface="Canva Sans"/>
                <a:cs typeface="Canva Sans"/>
                <a:sym typeface="Canva Sans"/>
              </a:rPr>
              <a:t>) using a dynamic programming table</a:t>
            </a:r>
          </a:p>
        </p:txBody>
      </p:sp>
      <p:sp>
        <p:nvSpPr>
          <p:cNvPr id="15" name="AutoShape 15"/>
          <p:cNvSpPr/>
          <p:nvPr/>
        </p:nvSpPr>
        <p:spPr>
          <a:xfrm>
            <a:off x="3831959" y="9224962"/>
            <a:ext cx="1268914"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6" name="AutoShape 16"/>
          <p:cNvSpPr/>
          <p:nvPr/>
        </p:nvSpPr>
        <p:spPr>
          <a:xfrm>
            <a:off x="3798622" y="8787798"/>
            <a:ext cx="0" cy="470502"/>
          </a:xfrm>
          <a:prstGeom prst="line">
            <a:avLst/>
          </a:prstGeom>
          <a:ln w="66675" cap="flat">
            <a:solidFill>
              <a:srgbClr val="5E7B97"/>
            </a:solidFill>
            <a:prstDash val="solid"/>
            <a:headEnd type="none" w="sm" len="sm"/>
            <a:tailEnd type="none" w="sm" len="sm"/>
          </a:ln>
        </p:spPr>
        <p:txBody>
          <a:bodyPr/>
          <a:lstStyle/>
          <a:p>
            <a:endParaRPr lang="en-IN"/>
          </a:p>
        </p:txBody>
      </p:sp>
      <p:sp>
        <p:nvSpPr>
          <p:cNvPr id="17" name="TextBox 17"/>
          <p:cNvSpPr txBox="1"/>
          <p:nvPr/>
        </p:nvSpPr>
        <p:spPr>
          <a:xfrm>
            <a:off x="5252868" y="8883968"/>
            <a:ext cx="5005118" cy="567690"/>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Time complexity ⟶ O(mn)</a:t>
            </a:r>
          </a:p>
        </p:txBody>
      </p:sp>
      <p:sp>
        <p:nvSpPr>
          <p:cNvPr id="18" name="TextBox 18"/>
          <p:cNvSpPr txBox="1"/>
          <p:nvPr/>
        </p:nvSpPr>
        <p:spPr>
          <a:xfrm>
            <a:off x="11640183" y="9678035"/>
            <a:ext cx="5686394" cy="257175"/>
          </a:xfrm>
          <a:prstGeom prst="rect">
            <a:avLst/>
          </a:prstGeom>
        </p:spPr>
        <p:txBody>
          <a:bodyPr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Chapter 11, Gusfield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P spid="10" grpId="0"/>
      <p:bldP spid="11" grpId="0"/>
      <p:bldP spid="12" grpId="0"/>
      <p:bldP spid="13" grpId="0"/>
      <p:bldP spid="14" grpId="0"/>
      <p:bldP spid="15" grpId="0" animBg="1"/>
      <p:bldP spid="16" grpId="0" animBg="1"/>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82893" y="3423123"/>
            <a:ext cx="11575716" cy="575310"/>
          </a:xfrm>
          <a:prstGeom prst="rect">
            <a:avLst/>
          </a:prstGeom>
        </p:spPr>
        <p:txBody>
          <a:bodyPr lIns="0" tIns="0" rIns="0" bIns="0" rtlCol="0" anchor="t">
            <a:spAutoFit/>
          </a:bodyPr>
          <a:lstStyle/>
          <a:p>
            <a:pPr marL="647700" lvl="1" indent="-323850" algn="l">
              <a:lnSpc>
                <a:spcPts val="4920"/>
              </a:lnSpc>
              <a:buFont typeface="Arial"/>
              <a:buChar char="•"/>
            </a:pPr>
            <a:r>
              <a:rPr lang="en-US" sz="3000">
                <a:solidFill>
                  <a:srgbClr val="000000"/>
                </a:solidFill>
                <a:latin typeface="Canva Sans"/>
                <a:ea typeface="Canva Sans"/>
                <a:cs typeface="Canva Sans"/>
                <a:sym typeface="Canva Sans"/>
              </a:rPr>
              <a:t>Consider all possible sequences of a fixed length k</a:t>
            </a:r>
          </a:p>
        </p:txBody>
      </p:sp>
      <p:sp>
        <p:nvSpPr>
          <p:cNvPr id="6" name="AutoShape 6"/>
          <p:cNvSpPr/>
          <p:nvPr/>
        </p:nvSpPr>
        <p:spPr>
          <a:xfrm>
            <a:off x="10454907" y="3806028"/>
            <a:ext cx="3481005" cy="0"/>
          </a:xfrm>
          <a:prstGeom prst="line">
            <a:avLst/>
          </a:prstGeom>
          <a:ln w="66675" cap="flat">
            <a:solidFill>
              <a:srgbClr val="5E7B97"/>
            </a:solidFill>
            <a:prstDash val="solid"/>
            <a:headEnd type="none" w="sm" len="sm"/>
            <a:tailEnd type="triangle" w="lg" len="med"/>
          </a:ln>
        </p:spPr>
        <p:txBody>
          <a:bodyPr/>
          <a:lstStyle/>
          <a:p>
            <a:endParaRPr lang="en-IN"/>
          </a:p>
        </p:txBody>
      </p:sp>
      <p:grpSp>
        <p:nvGrpSpPr>
          <p:cNvPr id="7" name="Group 7"/>
          <p:cNvGrpSpPr/>
          <p:nvPr/>
        </p:nvGrpSpPr>
        <p:grpSpPr>
          <a:xfrm>
            <a:off x="10506340" y="4299423"/>
            <a:ext cx="7498767" cy="4958877"/>
            <a:chOff x="0" y="0"/>
            <a:chExt cx="1974984" cy="1306042"/>
          </a:xfrm>
        </p:grpSpPr>
        <p:sp>
          <p:nvSpPr>
            <p:cNvPr id="8" name="Freeform 8"/>
            <p:cNvSpPr/>
            <p:nvPr/>
          </p:nvSpPr>
          <p:spPr>
            <a:xfrm>
              <a:off x="0" y="0"/>
              <a:ext cx="1974984" cy="1306042"/>
            </a:xfrm>
            <a:custGeom>
              <a:avLst/>
              <a:gdLst/>
              <a:ahLst/>
              <a:cxnLst/>
              <a:rect l="l" t="t" r="r" b="b"/>
              <a:pathLst>
                <a:path w="1974984" h="1306042">
                  <a:moveTo>
                    <a:pt x="0" y="0"/>
                  </a:moveTo>
                  <a:lnTo>
                    <a:pt x="1974984" y="0"/>
                  </a:lnTo>
                  <a:lnTo>
                    <a:pt x="1974984" y="1306042"/>
                  </a:lnTo>
                  <a:lnTo>
                    <a:pt x="0" y="1306042"/>
                  </a:lnTo>
                  <a:close/>
                </a:path>
              </a:pathLst>
            </a:custGeom>
            <a:ln w="38100" cap="sq">
              <a:solidFill>
                <a:srgbClr val="5E7B97"/>
              </a:solidFill>
              <a:prstDash val="solid"/>
              <a:miter/>
            </a:ln>
          </p:spPr>
          <p:txBody>
            <a:bodyPr/>
            <a:lstStyle/>
            <a:p>
              <a:endParaRPr lang="en-IN"/>
            </a:p>
          </p:txBody>
        </p:sp>
        <p:sp>
          <p:nvSpPr>
            <p:cNvPr id="9" name="TextBox 9"/>
            <p:cNvSpPr txBox="1"/>
            <p:nvPr/>
          </p:nvSpPr>
          <p:spPr>
            <a:xfrm>
              <a:off x="0" y="-38100"/>
              <a:ext cx="1974984" cy="134414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1709568" y="6311893"/>
            <a:ext cx="5082845" cy="1087687"/>
          </a:xfrm>
          <a:custGeom>
            <a:avLst/>
            <a:gdLst/>
            <a:ahLst/>
            <a:cxnLst/>
            <a:rect l="l" t="t" r="r" b="b"/>
            <a:pathLst>
              <a:path w="5082845" h="1087687">
                <a:moveTo>
                  <a:pt x="0" y="0"/>
                </a:moveTo>
                <a:lnTo>
                  <a:pt x="5082845" y="0"/>
                </a:lnTo>
                <a:lnTo>
                  <a:pt x="5082845" y="1087687"/>
                </a:lnTo>
                <a:lnTo>
                  <a:pt x="0" y="1087687"/>
                </a:lnTo>
                <a:lnTo>
                  <a:pt x="0" y="0"/>
                </a:lnTo>
                <a:close/>
              </a:path>
            </a:pathLst>
          </a:custGeom>
          <a:blipFill>
            <a:blip r:embed="rId2"/>
            <a:stretch>
              <a:fillRect/>
            </a:stretch>
          </a:blipFill>
          <a:ln w="19050" cap="sq">
            <a:solidFill>
              <a:srgbClr val="000000"/>
            </a:solidFill>
            <a:prstDash val="solid"/>
            <a:miter/>
          </a:ln>
        </p:spPr>
        <p:txBody>
          <a:bodyPr/>
          <a:lstStyle/>
          <a:p>
            <a:endParaRPr lang="en-IN"/>
          </a:p>
        </p:txBody>
      </p:sp>
      <p:sp>
        <p:nvSpPr>
          <p:cNvPr id="11" name="Freeform 11"/>
          <p:cNvSpPr/>
          <p:nvPr/>
        </p:nvSpPr>
        <p:spPr>
          <a:xfrm>
            <a:off x="12594687" y="7530124"/>
            <a:ext cx="3322069" cy="728981"/>
          </a:xfrm>
          <a:custGeom>
            <a:avLst/>
            <a:gdLst/>
            <a:ahLst/>
            <a:cxnLst/>
            <a:rect l="l" t="t" r="r" b="b"/>
            <a:pathLst>
              <a:path w="3322069" h="728981">
                <a:moveTo>
                  <a:pt x="0" y="0"/>
                </a:moveTo>
                <a:lnTo>
                  <a:pt x="3322070" y="0"/>
                </a:lnTo>
                <a:lnTo>
                  <a:pt x="3322070" y="728981"/>
                </a:lnTo>
                <a:lnTo>
                  <a:pt x="0" y="728981"/>
                </a:lnTo>
                <a:lnTo>
                  <a:pt x="0" y="0"/>
                </a:lnTo>
                <a:close/>
              </a:path>
            </a:pathLst>
          </a:custGeom>
          <a:blipFill>
            <a:blip r:embed="rId3"/>
            <a:stretch>
              <a:fillRect/>
            </a:stretch>
          </a:blipFill>
          <a:ln w="19050" cap="sq">
            <a:solidFill>
              <a:srgbClr val="000000"/>
            </a:solidFill>
            <a:prstDash val="solid"/>
            <a:miter/>
          </a:ln>
        </p:spPr>
        <p:txBody>
          <a:bodyPr/>
          <a:lstStyle/>
          <a:p>
            <a:endParaRPr lang="en-IN"/>
          </a:p>
        </p:txBody>
      </p:sp>
      <p:sp>
        <p:nvSpPr>
          <p:cNvPr id="12" name="Freeform 12"/>
          <p:cNvSpPr/>
          <p:nvPr/>
        </p:nvSpPr>
        <p:spPr>
          <a:xfrm>
            <a:off x="11883002" y="8337270"/>
            <a:ext cx="4909411" cy="702866"/>
          </a:xfrm>
          <a:custGeom>
            <a:avLst/>
            <a:gdLst/>
            <a:ahLst/>
            <a:cxnLst/>
            <a:rect l="l" t="t" r="r" b="b"/>
            <a:pathLst>
              <a:path w="4909411" h="702866">
                <a:moveTo>
                  <a:pt x="0" y="0"/>
                </a:moveTo>
                <a:lnTo>
                  <a:pt x="4909411" y="0"/>
                </a:lnTo>
                <a:lnTo>
                  <a:pt x="4909411" y="702866"/>
                </a:lnTo>
                <a:lnTo>
                  <a:pt x="0" y="702866"/>
                </a:lnTo>
                <a:lnTo>
                  <a:pt x="0" y="0"/>
                </a:lnTo>
                <a:close/>
              </a:path>
            </a:pathLst>
          </a:custGeom>
          <a:blipFill>
            <a:blip r:embed="rId4"/>
            <a:stretch>
              <a:fillRect/>
            </a:stretch>
          </a:blipFill>
          <a:ln w="19050" cap="sq">
            <a:solidFill>
              <a:srgbClr val="000000"/>
            </a:solidFill>
            <a:prstDash val="solid"/>
            <a:miter/>
          </a:ln>
        </p:spPr>
        <p:txBody>
          <a:bodyPr/>
          <a:lstStyle/>
          <a:p>
            <a:endParaRPr lang="en-IN"/>
          </a:p>
        </p:txBody>
      </p:sp>
      <p:sp>
        <p:nvSpPr>
          <p:cNvPr id="13" name="TextBox 13"/>
          <p:cNvSpPr txBox="1"/>
          <p:nvPr/>
        </p:nvSpPr>
        <p:spPr>
          <a:xfrm>
            <a:off x="23447" y="1937858"/>
            <a:ext cx="10482892"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Alignment Free Methods : k-</a:t>
            </a:r>
            <a:r>
              <a:rPr lang="en-US" sz="3999" b="1" err="1">
                <a:solidFill>
                  <a:srgbClr val="000000"/>
                </a:solidFill>
                <a:latin typeface="Canva Sans Bold"/>
                <a:ea typeface="Canva Sans Bold"/>
                <a:cs typeface="Canva Sans Bold"/>
                <a:sym typeface="Canva Sans Bold"/>
              </a:rPr>
              <a:t>mer</a:t>
            </a:r>
            <a:r>
              <a:rPr lang="en-US" sz="3999" b="1">
                <a:solidFill>
                  <a:srgbClr val="000000"/>
                </a:solidFill>
                <a:latin typeface="Canva Sans Bold"/>
                <a:ea typeface="Canva Sans Bold"/>
                <a:cs typeface="Canva Sans Bold"/>
                <a:sym typeface="Canva Sans Bold"/>
              </a:rPr>
              <a:t> Method </a:t>
            </a:r>
          </a:p>
        </p:txBody>
      </p:sp>
      <p:sp>
        <p:nvSpPr>
          <p:cNvPr id="14" name="TextBox 14"/>
          <p:cNvSpPr txBox="1"/>
          <p:nvPr/>
        </p:nvSpPr>
        <p:spPr>
          <a:xfrm>
            <a:off x="6647817" y="445365"/>
            <a:ext cx="5391783"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MOTIVATION</a:t>
            </a:r>
          </a:p>
        </p:txBody>
      </p:sp>
      <p:sp>
        <p:nvSpPr>
          <p:cNvPr id="15" name="TextBox 15"/>
          <p:cNvSpPr txBox="1"/>
          <p:nvPr/>
        </p:nvSpPr>
        <p:spPr>
          <a:xfrm>
            <a:off x="14388979" y="3465033"/>
            <a:ext cx="1908751" cy="567690"/>
          </a:xfrm>
          <a:prstGeom prst="rect">
            <a:avLst/>
          </a:prstGeom>
        </p:spPr>
        <p:txBody>
          <a:bodyPr lIns="0" tIns="0" rIns="0" bIns="0" rtlCol="0" anchor="t">
            <a:spAutoFit/>
          </a:bodyPr>
          <a:lstStyle/>
          <a:p>
            <a:pPr algn="l">
              <a:lnSpc>
                <a:spcPts val="4830"/>
              </a:lnSpc>
            </a:pPr>
            <a:r>
              <a:rPr lang="en-US" sz="3000">
                <a:solidFill>
                  <a:srgbClr val="000000"/>
                </a:solidFill>
                <a:latin typeface="Canva Sans"/>
                <a:ea typeface="Canva Sans"/>
                <a:cs typeface="Canva Sans"/>
                <a:sym typeface="Canva Sans"/>
              </a:rPr>
              <a:t>4</a:t>
            </a:r>
            <a:r>
              <a:rPr lang="en-US" sz="3000" baseline="30000">
                <a:solidFill>
                  <a:srgbClr val="000000"/>
                </a:solidFill>
                <a:latin typeface="Canva Sans"/>
                <a:ea typeface="Canva Sans"/>
                <a:cs typeface="Canva Sans"/>
                <a:sym typeface="Canva Sans"/>
              </a:rPr>
              <a:t>k</a:t>
            </a:r>
            <a:r>
              <a:rPr lang="en-US" sz="3000">
                <a:solidFill>
                  <a:srgbClr val="000000"/>
                </a:solidFill>
                <a:latin typeface="Canva Sans"/>
                <a:ea typeface="Canva Sans"/>
                <a:cs typeface="Canva Sans"/>
                <a:sym typeface="Canva Sans"/>
              </a:rPr>
              <a:t> k-</a:t>
            </a:r>
            <a:r>
              <a:rPr lang="en-US" sz="3000" err="1">
                <a:solidFill>
                  <a:srgbClr val="000000"/>
                </a:solidFill>
                <a:latin typeface="Canva Sans"/>
                <a:ea typeface="Canva Sans"/>
                <a:cs typeface="Canva Sans"/>
                <a:sym typeface="Canva Sans"/>
              </a:rPr>
              <a:t>mers</a:t>
            </a:r>
            <a:endParaRPr lang="en-US" sz="3000">
              <a:solidFill>
                <a:srgbClr val="000000"/>
              </a:solidFill>
              <a:latin typeface="Canva Sans"/>
              <a:ea typeface="Canva Sans"/>
              <a:cs typeface="Canva Sans"/>
              <a:sym typeface="Canva Sans"/>
            </a:endParaRPr>
          </a:p>
        </p:txBody>
      </p:sp>
      <p:sp>
        <p:nvSpPr>
          <p:cNvPr id="16" name="TextBox 16"/>
          <p:cNvSpPr txBox="1"/>
          <p:nvPr/>
        </p:nvSpPr>
        <p:spPr>
          <a:xfrm>
            <a:off x="282893" y="4304662"/>
            <a:ext cx="10172014" cy="1786890"/>
          </a:xfrm>
          <a:prstGeom prst="rect">
            <a:avLst/>
          </a:prstGeom>
        </p:spPr>
        <p:txBody>
          <a:bodyPr lIns="0" tIns="0" rIns="0" bIns="0" rtlCol="0" anchor="t">
            <a:spAutoFit/>
          </a:bodyPr>
          <a:lstStyle/>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For each sequence, construct a vector k-</a:t>
            </a:r>
            <a:r>
              <a:rPr lang="en-US" sz="3000" err="1">
                <a:solidFill>
                  <a:srgbClr val="000000"/>
                </a:solidFill>
                <a:latin typeface="Canva Sans"/>
                <a:ea typeface="Canva Sans"/>
                <a:cs typeface="Canva Sans"/>
                <a:sym typeface="Canva Sans"/>
              </a:rPr>
              <a:t>mer</a:t>
            </a:r>
            <a:r>
              <a:rPr lang="en-US" sz="3000">
                <a:solidFill>
                  <a:srgbClr val="000000"/>
                </a:solidFill>
                <a:latin typeface="Canva Sans"/>
                <a:ea typeface="Canva Sans"/>
                <a:cs typeface="Canva Sans"/>
                <a:sym typeface="Canva Sans"/>
              </a:rPr>
              <a:t>(S</a:t>
            </a:r>
            <a:r>
              <a:rPr lang="en-US" sz="3000" baseline="-25000">
                <a:solidFill>
                  <a:srgbClr val="000000"/>
                </a:solidFill>
                <a:latin typeface="Canva Sans"/>
                <a:ea typeface="Canva Sans"/>
                <a:cs typeface="Canva Sans"/>
                <a:sym typeface="Canva Sans"/>
              </a:rPr>
              <a:t>i</a:t>
            </a:r>
            <a:r>
              <a:rPr lang="en-US" sz="3000">
                <a:solidFill>
                  <a:srgbClr val="000000"/>
                </a:solidFill>
                <a:latin typeface="Canva Sans"/>
                <a:ea typeface="Canva Sans"/>
                <a:cs typeface="Canva Sans"/>
                <a:sym typeface="Canva Sans"/>
              </a:rPr>
              <a:t>) with components corresponding to the number of </a:t>
            </a:r>
            <a:r>
              <a:rPr lang="en-US" sz="3000" err="1">
                <a:solidFill>
                  <a:srgbClr val="000000"/>
                </a:solidFill>
                <a:latin typeface="Canva Sans"/>
                <a:ea typeface="Canva Sans"/>
                <a:cs typeface="Canva Sans"/>
                <a:sym typeface="Canva Sans"/>
              </a:rPr>
              <a:t>occurences</a:t>
            </a:r>
            <a:r>
              <a:rPr lang="en-US" sz="3000">
                <a:solidFill>
                  <a:srgbClr val="000000"/>
                </a:solidFill>
                <a:latin typeface="Canva Sans"/>
                <a:ea typeface="Canva Sans"/>
                <a:cs typeface="Canva Sans"/>
                <a:sym typeface="Canva Sans"/>
              </a:rPr>
              <a:t> of each k-</a:t>
            </a:r>
            <a:r>
              <a:rPr lang="en-US" sz="3000" err="1">
                <a:solidFill>
                  <a:srgbClr val="000000"/>
                </a:solidFill>
                <a:latin typeface="Canva Sans"/>
                <a:ea typeface="Canva Sans"/>
                <a:cs typeface="Canva Sans"/>
                <a:sym typeface="Canva Sans"/>
              </a:rPr>
              <a:t>mer</a:t>
            </a:r>
            <a:r>
              <a:rPr lang="en-US" sz="3000">
                <a:solidFill>
                  <a:srgbClr val="000000"/>
                </a:solidFill>
                <a:latin typeface="Canva Sans"/>
                <a:ea typeface="Canva Sans"/>
                <a:cs typeface="Canva Sans"/>
                <a:sym typeface="Canva Sans"/>
              </a:rPr>
              <a:t> in the sequence</a:t>
            </a:r>
          </a:p>
        </p:txBody>
      </p:sp>
      <p:sp>
        <p:nvSpPr>
          <p:cNvPr id="17" name="TextBox 17"/>
          <p:cNvSpPr txBox="1"/>
          <p:nvPr/>
        </p:nvSpPr>
        <p:spPr>
          <a:xfrm>
            <a:off x="282893" y="6397780"/>
            <a:ext cx="10172014" cy="1786890"/>
          </a:xfrm>
          <a:prstGeom prst="rect">
            <a:avLst/>
          </a:prstGeom>
        </p:spPr>
        <p:txBody>
          <a:bodyPr lIns="0" tIns="0" rIns="0" bIns="0" rtlCol="0" anchor="t">
            <a:spAutoFit/>
          </a:bodyPr>
          <a:lstStyle/>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The distance between the sequences is then approximated by some type of distance between the vectors</a:t>
            </a:r>
          </a:p>
        </p:txBody>
      </p:sp>
      <p:sp>
        <p:nvSpPr>
          <p:cNvPr id="18" name="TextBox 18"/>
          <p:cNvSpPr txBox="1"/>
          <p:nvPr/>
        </p:nvSpPr>
        <p:spPr>
          <a:xfrm>
            <a:off x="282893" y="2741133"/>
            <a:ext cx="17722214"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For two strings S</a:t>
            </a:r>
            <a:r>
              <a:rPr lang="en-US" sz="3000" baseline="-25000">
                <a:solidFill>
                  <a:srgbClr val="000000"/>
                </a:solidFill>
                <a:latin typeface="Canva Sans"/>
                <a:ea typeface="Canva Sans"/>
                <a:cs typeface="Canva Sans"/>
                <a:sym typeface="Canva Sans"/>
              </a:rPr>
              <a:t>1</a:t>
            </a:r>
            <a:r>
              <a:rPr lang="en-US" sz="3000">
                <a:solidFill>
                  <a:srgbClr val="000000"/>
                </a:solidFill>
                <a:latin typeface="Canva Sans"/>
                <a:ea typeface="Canva Sans"/>
                <a:cs typeface="Canva Sans"/>
                <a:sym typeface="Canva Sans"/>
              </a:rPr>
              <a:t> and S</a:t>
            </a:r>
            <a:r>
              <a:rPr lang="en-US" sz="3000" baseline="-25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of length n</a:t>
            </a:r>
          </a:p>
        </p:txBody>
      </p:sp>
      <p:sp>
        <p:nvSpPr>
          <p:cNvPr id="19" name="TextBox 19"/>
          <p:cNvSpPr txBox="1"/>
          <p:nvPr/>
        </p:nvSpPr>
        <p:spPr>
          <a:xfrm>
            <a:off x="10874322" y="4384557"/>
            <a:ext cx="6936236" cy="567690"/>
          </a:xfrm>
          <a:prstGeom prst="rect">
            <a:avLst/>
          </a:prstGeom>
        </p:spPr>
        <p:txBody>
          <a:bodyPr wrap="square" lIns="0" tIns="0" rIns="0" bIns="0" rtlCol="0" anchor="t">
            <a:spAutoFit/>
          </a:bodyPr>
          <a:lstStyle/>
          <a:p>
            <a:pPr algn="ctr">
              <a:lnSpc>
                <a:spcPts val="4830"/>
              </a:lnSpc>
              <a:spcBef>
                <a:spcPct val="0"/>
              </a:spcBef>
            </a:pPr>
            <a:r>
              <a:rPr lang="en-US" sz="3000" dirty="0">
                <a:solidFill>
                  <a:srgbClr val="000000"/>
                </a:solidFill>
                <a:latin typeface="Canva Sans"/>
                <a:ea typeface="Canva Sans"/>
                <a:cs typeface="Canva Sans"/>
                <a:sym typeface="Canva Sans"/>
              </a:rPr>
              <a:t>ED(S</a:t>
            </a:r>
            <a:r>
              <a:rPr lang="en-US" sz="3000" baseline="-25000" dirty="0">
                <a:solidFill>
                  <a:srgbClr val="000000"/>
                </a:solidFill>
                <a:latin typeface="Canva Sans"/>
                <a:ea typeface="Canva Sans"/>
                <a:cs typeface="Canva Sans"/>
                <a:sym typeface="Canva Sans"/>
              </a:rPr>
              <a:t>1</a:t>
            </a:r>
            <a:r>
              <a:rPr lang="en-US" sz="3000" dirty="0">
                <a:solidFill>
                  <a:srgbClr val="000000"/>
                </a:solidFill>
                <a:latin typeface="Canva Sans"/>
                <a:ea typeface="Canva Sans"/>
                <a:cs typeface="Canva Sans"/>
                <a:sym typeface="Canva Sans"/>
              </a:rPr>
              <a:t>,S</a:t>
            </a:r>
            <a:r>
              <a:rPr lang="en-US" sz="3000" baseline="-25000" dirty="0">
                <a:solidFill>
                  <a:srgbClr val="000000"/>
                </a:solidFill>
                <a:latin typeface="Canva Sans"/>
                <a:ea typeface="Canva Sans"/>
                <a:cs typeface="Canva Sans"/>
                <a:sym typeface="Canva Sans"/>
              </a:rPr>
              <a:t>2</a:t>
            </a:r>
            <a:r>
              <a:rPr lang="en-US" sz="3000" dirty="0">
                <a:solidFill>
                  <a:srgbClr val="000000"/>
                </a:solidFill>
                <a:latin typeface="Canva Sans"/>
                <a:ea typeface="Canva Sans"/>
                <a:cs typeface="Canva Sans"/>
                <a:sym typeface="Canva Sans"/>
              </a:rPr>
              <a:t>) ≈ nα d(k-</a:t>
            </a:r>
            <a:r>
              <a:rPr lang="en-US" sz="3000" dirty="0" err="1">
                <a:solidFill>
                  <a:srgbClr val="000000"/>
                </a:solidFill>
                <a:latin typeface="Canva Sans"/>
                <a:ea typeface="Canva Sans"/>
                <a:cs typeface="Canva Sans"/>
                <a:sym typeface="Canva Sans"/>
              </a:rPr>
              <a:t>mer</a:t>
            </a:r>
            <a:r>
              <a:rPr lang="en-US" sz="3000" dirty="0">
                <a:solidFill>
                  <a:srgbClr val="000000"/>
                </a:solidFill>
                <a:latin typeface="Canva Sans"/>
                <a:ea typeface="Canva Sans"/>
                <a:cs typeface="Canva Sans"/>
                <a:sym typeface="Canva Sans"/>
              </a:rPr>
              <a:t>(S</a:t>
            </a:r>
            <a:r>
              <a:rPr lang="en-US" sz="3000" baseline="-25000" dirty="0">
                <a:solidFill>
                  <a:srgbClr val="000000"/>
                </a:solidFill>
                <a:latin typeface="Canva Sans"/>
                <a:ea typeface="Canva Sans"/>
                <a:cs typeface="Canva Sans"/>
                <a:sym typeface="Canva Sans"/>
              </a:rPr>
              <a:t>1</a:t>
            </a:r>
            <a:r>
              <a:rPr lang="en-US" sz="3000" dirty="0">
                <a:solidFill>
                  <a:srgbClr val="000000"/>
                </a:solidFill>
                <a:latin typeface="Canva Sans"/>
                <a:ea typeface="Canva Sans"/>
                <a:cs typeface="Canva Sans"/>
                <a:sym typeface="Canva Sans"/>
              </a:rPr>
              <a:t>),k-</a:t>
            </a:r>
            <a:r>
              <a:rPr lang="en-US" sz="3000" dirty="0" err="1">
                <a:solidFill>
                  <a:srgbClr val="000000"/>
                </a:solidFill>
                <a:latin typeface="Canva Sans"/>
                <a:ea typeface="Canva Sans"/>
                <a:cs typeface="Canva Sans"/>
                <a:sym typeface="Canva Sans"/>
              </a:rPr>
              <a:t>mer</a:t>
            </a:r>
            <a:r>
              <a:rPr lang="en-US" sz="3000" dirty="0">
                <a:solidFill>
                  <a:srgbClr val="000000"/>
                </a:solidFill>
                <a:latin typeface="Canva Sans"/>
                <a:ea typeface="Canva Sans"/>
                <a:cs typeface="Canva Sans"/>
                <a:sym typeface="Canva Sans"/>
              </a:rPr>
              <a:t>(S</a:t>
            </a:r>
            <a:r>
              <a:rPr lang="en-US" sz="3000" baseline="-25000" dirty="0">
                <a:solidFill>
                  <a:srgbClr val="000000"/>
                </a:solidFill>
                <a:latin typeface="Canva Sans"/>
                <a:ea typeface="Canva Sans"/>
                <a:cs typeface="Canva Sans"/>
                <a:sym typeface="Canva Sans"/>
              </a:rPr>
              <a:t>2</a:t>
            </a:r>
            <a:r>
              <a:rPr lang="en-US" sz="3000" dirty="0">
                <a:solidFill>
                  <a:srgbClr val="000000"/>
                </a:solidFill>
                <a:latin typeface="Canva Sans"/>
                <a:ea typeface="Canva Sans"/>
                <a:cs typeface="Canva Sans"/>
                <a:sym typeface="Canva Sans"/>
              </a:rPr>
              <a:t>))</a:t>
            </a:r>
          </a:p>
        </p:txBody>
      </p:sp>
      <p:sp>
        <p:nvSpPr>
          <p:cNvPr id="20" name="TextBox 20"/>
          <p:cNvSpPr txBox="1"/>
          <p:nvPr/>
        </p:nvSpPr>
        <p:spPr>
          <a:xfrm>
            <a:off x="10581958" y="4988160"/>
            <a:ext cx="7228600" cy="433324"/>
          </a:xfrm>
          <a:prstGeom prst="rect">
            <a:avLst/>
          </a:prstGeom>
        </p:spPr>
        <p:txBody>
          <a:bodyPr wrap="square" lIns="0" tIns="0" rIns="0" bIns="0" rtlCol="0" anchor="t">
            <a:spAutoFit/>
          </a:bodyPr>
          <a:lstStyle/>
          <a:p>
            <a:pPr algn="ctr">
              <a:lnSpc>
                <a:spcPts val="3702"/>
              </a:lnSpc>
              <a:spcBef>
                <a:spcPct val="0"/>
              </a:spcBef>
            </a:pPr>
            <a:r>
              <a:rPr lang="en-US" sz="2299" dirty="0">
                <a:solidFill>
                  <a:srgbClr val="000000"/>
                </a:solidFill>
                <a:latin typeface="Canva Sans"/>
                <a:ea typeface="Canva Sans"/>
                <a:cs typeface="Canva Sans"/>
                <a:sym typeface="Canva Sans"/>
              </a:rPr>
              <a:t>α learnable parameter with optimal value at α*</a:t>
            </a:r>
          </a:p>
        </p:txBody>
      </p:sp>
      <p:sp>
        <p:nvSpPr>
          <p:cNvPr id="21" name="TextBox 21"/>
          <p:cNvSpPr txBox="1"/>
          <p:nvPr/>
        </p:nvSpPr>
        <p:spPr>
          <a:xfrm>
            <a:off x="2166760" y="8690610"/>
            <a:ext cx="5442317" cy="567690"/>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Time complexity ⟶ O(4</a:t>
            </a:r>
            <a:r>
              <a:rPr lang="en-US" sz="3000" baseline="30000">
                <a:solidFill>
                  <a:srgbClr val="000000"/>
                </a:solidFill>
                <a:latin typeface="Canva Sans"/>
                <a:ea typeface="Canva Sans"/>
                <a:cs typeface="Canva Sans"/>
                <a:sym typeface="Canva Sans"/>
              </a:rPr>
              <a:t>k</a:t>
            </a:r>
            <a:r>
              <a:rPr lang="en-US" sz="3000">
                <a:solidFill>
                  <a:srgbClr val="000000"/>
                </a:solidFill>
                <a:latin typeface="Canva Sans"/>
                <a:ea typeface="Canva Sans"/>
                <a:cs typeface="Canva Sans"/>
                <a:sym typeface="Canva Sans"/>
              </a:rPr>
              <a:t> . n)</a:t>
            </a:r>
          </a:p>
        </p:txBody>
      </p:sp>
      <p:sp>
        <p:nvSpPr>
          <p:cNvPr id="22" name="TextBox 22"/>
          <p:cNvSpPr txBox="1"/>
          <p:nvPr/>
        </p:nvSpPr>
        <p:spPr>
          <a:xfrm>
            <a:off x="10785976" y="9768693"/>
            <a:ext cx="6663824"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
        <p:nvSpPr>
          <p:cNvPr id="24" name="TextBox 23">
            <a:extLst>
              <a:ext uri="{FF2B5EF4-FFF2-40B4-BE49-F238E27FC236}">
                <a16:creationId xmlns:a16="http://schemas.microsoft.com/office/drawing/2014/main" id="{EA505F0E-ABF4-1B54-C100-7021BF225792}"/>
              </a:ext>
            </a:extLst>
          </p:cNvPr>
          <p:cNvSpPr txBox="1"/>
          <p:nvPr/>
        </p:nvSpPr>
        <p:spPr>
          <a:xfrm>
            <a:off x="10605597" y="5543523"/>
            <a:ext cx="7024582" cy="646331"/>
          </a:xfrm>
          <a:prstGeom prst="rect">
            <a:avLst/>
          </a:prstGeom>
          <a:noFill/>
        </p:spPr>
        <p:txBody>
          <a:bodyPr wrap="square">
            <a:spAutoFit/>
          </a:bodyPr>
          <a:lstStyle/>
          <a:p>
            <a:pPr algn="ctr"/>
            <a:r>
              <a:rPr lang="en-US" sz="1800" dirty="0">
                <a:solidFill>
                  <a:srgbClr val="000000"/>
                </a:solidFill>
                <a:latin typeface="Canva Sans"/>
                <a:ea typeface="Canva Sans"/>
                <a:cs typeface="Canva Sans"/>
                <a:sym typeface="Canva Sans"/>
              </a:rPr>
              <a:t>d(k-</a:t>
            </a:r>
            <a:r>
              <a:rPr lang="en-US" sz="1800" dirty="0" err="1">
                <a:solidFill>
                  <a:srgbClr val="000000"/>
                </a:solidFill>
                <a:latin typeface="Canva Sans"/>
                <a:ea typeface="Canva Sans"/>
                <a:cs typeface="Canva Sans"/>
                <a:sym typeface="Canva Sans"/>
              </a:rPr>
              <a:t>mer</a:t>
            </a:r>
            <a:r>
              <a:rPr lang="en-US" sz="1800" dirty="0">
                <a:solidFill>
                  <a:srgbClr val="000000"/>
                </a:solidFill>
                <a:latin typeface="Canva Sans"/>
                <a:ea typeface="Canva Sans"/>
                <a:cs typeface="Canva Sans"/>
                <a:sym typeface="Canva Sans"/>
              </a:rPr>
              <a:t>(S</a:t>
            </a:r>
            <a:r>
              <a:rPr lang="en-US" sz="1800" baseline="-25000" dirty="0">
                <a:solidFill>
                  <a:srgbClr val="000000"/>
                </a:solidFill>
                <a:latin typeface="Canva Sans"/>
                <a:ea typeface="Canva Sans"/>
                <a:cs typeface="Canva Sans"/>
                <a:sym typeface="Canva Sans"/>
              </a:rPr>
              <a:t>1</a:t>
            </a:r>
            <a:r>
              <a:rPr lang="en-US" sz="1800" dirty="0">
                <a:solidFill>
                  <a:srgbClr val="000000"/>
                </a:solidFill>
                <a:latin typeface="Canva Sans"/>
                <a:ea typeface="Canva Sans"/>
                <a:cs typeface="Canva Sans"/>
                <a:sym typeface="Canva Sans"/>
              </a:rPr>
              <a:t>),k-</a:t>
            </a:r>
            <a:r>
              <a:rPr lang="en-US" sz="1800" dirty="0" err="1">
                <a:solidFill>
                  <a:srgbClr val="000000"/>
                </a:solidFill>
                <a:latin typeface="Canva Sans"/>
                <a:ea typeface="Canva Sans"/>
                <a:cs typeface="Canva Sans"/>
                <a:sym typeface="Canva Sans"/>
              </a:rPr>
              <a:t>mer</a:t>
            </a:r>
            <a:r>
              <a:rPr lang="en-US" sz="1800" dirty="0">
                <a:solidFill>
                  <a:srgbClr val="000000"/>
                </a:solidFill>
                <a:latin typeface="Canva Sans"/>
                <a:ea typeface="Canva Sans"/>
                <a:cs typeface="Canva Sans"/>
                <a:sym typeface="Canva Sans"/>
              </a:rPr>
              <a:t>(S</a:t>
            </a:r>
            <a:r>
              <a:rPr lang="en-US" sz="1800" baseline="-25000" dirty="0">
                <a:solidFill>
                  <a:srgbClr val="000000"/>
                </a:solidFill>
                <a:latin typeface="Canva Sans"/>
                <a:ea typeface="Canva Sans"/>
                <a:cs typeface="Canva Sans"/>
                <a:sym typeface="Canva Sans"/>
              </a:rPr>
              <a:t>2</a:t>
            </a:r>
            <a:r>
              <a:rPr lang="en-US" sz="1800" dirty="0">
                <a:solidFill>
                  <a:srgbClr val="000000"/>
                </a:solidFill>
                <a:latin typeface="Canva Sans"/>
                <a:ea typeface="Canva Sans"/>
                <a:cs typeface="Canva Sans"/>
                <a:sym typeface="Canva Sans"/>
              </a:rPr>
              <a:t>)) is the distance between the k-</a:t>
            </a:r>
            <a:r>
              <a:rPr lang="en-US" sz="1800" dirty="0" err="1">
                <a:solidFill>
                  <a:srgbClr val="000000"/>
                </a:solidFill>
                <a:latin typeface="Canva Sans"/>
                <a:ea typeface="Canva Sans"/>
                <a:cs typeface="Canva Sans"/>
                <a:sym typeface="Canva Sans"/>
              </a:rPr>
              <a:t>mer</a:t>
            </a:r>
            <a:r>
              <a:rPr lang="en-US" sz="1800" dirty="0">
                <a:solidFill>
                  <a:srgbClr val="000000"/>
                </a:solidFill>
                <a:latin typeface="Canva Sans"/>
                <a:ea typeface="Canva Sans"/>
                <a:cs typeface="Canva Sans"/>
                <a:sym typeface="Canva Sans"/>
              </a:rPr>
              <a:t> vector representations of S</a:t>
            </a:r>
            <a:r>
              <a:rPr lang="en-US" sz="1800" baseline="-25000" dirty="0">
                <a:solidFill>
                  <a:srgbClr val="000000"/>
                </a:solidFill>
                <a:latin typeface="Canva Sans"/>
                <a:ea typeface="Canva Sans"/>
                <a:cs typeface="Canva Sans"/>
                <a:sym typeface="Canva Sans"/>
              </a:rPr>
              <a:t>1</a:t>
            </a:r>
            <a:r>
              <a:rPr lang="en-US" sz="1800" dirty="0">
                <a:solidFill>
                  <a:srgbClr val="000000"/>
                </a:solidFill>
                <a:latin typeface="Canva Sans"/>
                <a:ea typeface="Canva Sans"/>
                <a:cs typeface="Canva Sans"/>
                <a:sym typeface="Canva Sans"/>
              </a:rPr>
              <a:t> and S</a:t>
            </a:r>
            <a:r>
              <a:rPr lang="en-US" sz="1800" baseline="-25000" dirty="0">
                <a:solidFill>
                  <a:srgbClr val="000000"/>
                </a:solidFill>
                <a:latin typeface="Canva Sans"/>
                <a:ea typeface="Canva Sans"/>
                <a:cs typeface="Canva Sans"/>
                <a:sym typeface="Canva Sans"/>
              </a:rPr>
              <a:t>2</a:t>
            </a:r>
            <a:endParaRPr lang="en-IN" baseline="-25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animBg="1"/>
      <p:bldP spid="11" grpId="0" animBg="1"/>
      <p:bldP spid="12" grpId="0" animBg="1"/>
      <p:bldP spid="13" grpId="0"/>
      <p:bldP spid="15" grpId="0"/>
      <p:bldP spid="16" grpId="0"/>
      <p:bldP spid="17" grpId="0"/>
      <p:bldP spid="18" grpId="0"/>
      <p:bldP spid="19"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3447" y="1937858"/>
            <a:ext cx="7628243"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Computing a Distance Matrix</a:t>
            </a:r>
          </a:p>
        </p:txBody>
      </p:sp>
      <p:sp>
        <p:nvSpPr>
          <p:cNvPr id="6" name="TextBox 6"/>
          <p:cNvSpPr txBox="1"/>
          <p:nvPr/>
        </p:nvSpPr>
        <p:spPr>
          <a:xfrm>
            <a:off x="6647817" y="445365"/>
            <a:ext cx="5239383"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MOTIVATION</a:t>
            </a:r>
          </a:p>
        </p:txBody>
      </p:sp>
      <p:sp>
        <p:nvSpPr>
          <p:cNvPr id="7" name="TextBox 7"/>
          <p:cNvSpPr txBox="1"/>
          <p:nvPr/>
        </p:nvSpPr>
        <p:spPr>
          <a:xfrm>
            <a:off x="282893" y="2742560"/>
            <a:ext cx="17722214"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For N strings of length M each </a:t>
            </a:r>
          </a:p>
        </p:txBody>
      </p:sp>
      <p:sp>
        <p:nvSpPr>
          <p:cNvPr id="8" name="TextBox 8"/>
          <p:cNvSpPr txBox="1"/>
          <p:nvPr/>
        </p:nvSpPr>
        <p:spPr>
          <a:xfrm>
            <a:off x="1115729" y="3434075"/>
            <a:ext cx="5532089"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Total number of pairs = 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a:t>
            </a:r>
          </a:p>
        </p:txBody>
      </p:sp>
      <p:sp>
        <p:nvSpPr>
          <p:cNvPr id="9" name="TextBox 9"/>
          <p:cNvSpPr txBox="1"/>
          <p:nvPr/>
        </p:nvSpPr>
        <p:spPr>
          <a:xfrm>
            <a:off x="1115729" y="4125590"/>
            <a:ext cx="9003960"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Time complexity for computing distance matrix:</a:t>
            </a:r>
          </a:p>
        </p:txBody>
      </p:sp>
      <p:sp>
        <p:nvSpPr>
          <p:cNvPr id="10" name="TextBox 10"/>
          <p:cNvSpPr txBox="1"/>
          <p:nvPr/>
        </p:nvSpPr>
        <p:spPr>
          <a:xfrm>
            <a:off x="2636223" y="4698043"/>
            <a:ext cx="9003960"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Alignment based method ⟶ 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 M</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a:t>
            </a:r>
          </a:p>
        </p:txBody>
      </p:sp>
      <p:sp>
        <p:nvSpPr>
          <p:cNvPr id="11" name="TextBox 11"/>
          <p:cNvSpPr txBox="1"/>
          <p:nvPr/>
        </p:nvSpPr>
        <p:spPr>
          <a:xfrm>
            <a:off x="2636223" y="5270495"/>
            <a:ext cx="9003960"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Alignment free method ⟶ 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 4</a:t>
            </a:r>
            <a:r>
              <a:rPr lang="en-US" sz="3000" baseline="30000">
                <a:solidFill>
                  <a:srgbClr val="000000"/>
                </a:solidFill>
                <a:latin typeface="Canva Sans"/>
                <a:ea typeface="Canva Sans"/>
                <a:cs typeface="Canva Sans"/>
                <a:sym typeface="Canva Sans"/>
              </a:rPr>
              <a:t>K</a:t>
            </a:r>
            <a:r>
              <a:rPr lang="en-US" sz="3000">
                <a:solidFill>
                  <a:srgbClr val="000000"/>
                </a:solidFill>
                <a:latin typeface="Canva Sans"/>
                <a:ea typeface="Canva Sans"/>
                <a:cs typeface="Canva Sans"/>
                <a:sym typeface="Canva Sans"/>
              </a:rPr>
              <a:t> . M)</a:t>
            </a:r>
          </a:p>
        </p:txBody>
      </p:sp>
      <p:grpSp>
        <p:nvGrpSpPr>
          <p:cNvPr id="12" name="Group 12"/>
          <p:cNvGrpSpPr/>
          <p:nvPr/>
        </p:nvGrpSpPr>
        <p:grpSpPr>
          <a:xfrm>
            <a:off x="10917821" y="3204203"/>
            <a:ext cx="6830111" cy="1595125"/>
            <a:chOff x="0" y="0"/>
            <a:chExt cx="9106814" cy="2126833"/>
          </a:xfrm>
        </p:grpSpPr>
        <p:sp>
          <p:nvSpPr>
            <p:cNvPr id="13" name="TextBox 13"/>
            <p:cNvSpPr txBox="1"/>
            <p:nvPr/>
          </p:nvSpPr>
          <p:spPr>
            <a:xfrm>
              <a:off x="368863" y="240457"/>
              <a:ext cx="8369087" cy="1568721"/>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Computationally intractable for a large number of sequences</a:t>
              </a:r>
            </a:p>
          </p:txBody>
        </p:sp>
        <p:grpSp>
          <p:nvGrpSpPr>
            <p:cNvPr id="14" name="Group 14"/>
            <p:cNvGrpSpPr/>
            <p:nvPr/>
          </p:nvGrpSpPr>
          <p:grpSpPr>
            <a:xfrm>
              <a:off x="0" y="0"/>
              <a:ext cx="9106814" cy="2126833"/>
              <a:chOff x="0" y="0"/>
              <a:chExt cx="1798877" cy="420115"/>
            </a:xfrm>
          </p:grpSpPr>
          <p:sp>
            <p:nvSpPr>
              <p:cNvPr id="15" name="Freeform 15"/>
              <p:cNvSpPr/>
              <p:nvPr/>
            </p:nvSpPr>
            <p:spPr>
              <a:xfrm>
                <a:off x="0" y="0"/>
                <a:ext cx="1798877" cy="420115"/>
              </a:xfrm>
              <a:custGeom>
                <a:avLst/>
                <a:gdLst/>
                <a:ahLst/>
                <a:cxnLst/>
                <a:rect l="l" t="t" r="r" b="b"/>
                <a:pathLst>
                  <a:path w="1798877" h="420115">
                    <a:moveTo>
                      <a:pt x="43073" y="0"/>
                    </a:moveTo>
                    <a:lnTo>
                      <a:pt x="1755804" y="0"/>
                    </a:lnTo>
                    <a:cubicBezTo>
                      <a:pt x="1779592" y="0"/>
                      <a:pt x="1798877" y="19284"/>
                      <a:pt x="1798877" y="43073"/>
                    </a:cubicBezTo>
                    <a:lnTo>
                      <a:pt x="1798877" y="377042"/>
                    </a:lnTo>
                    <a:cubicBezTo>
                      <a:pt x="1798877" y="388466"/>
                      <a:pt x="1794339" y="399422"/>
                      <a:pt x="1786261" y="407499"/>
                    </a:cubicBezTo>
                    <a:cubicBezTo>
                      <a:pt x="1778183" y="415577"/>
                      <a:pt x="1767228" y="420115"/>
                      <a:pt x="1755804" y="420115"/>
                    </a:cubicBezTo>
                    <a:lnTo>
                      <a:pt x="43073" y="420115"/>
                    </a:lnTo>
                    <a:cubicBezTo>
                      <a:pt x="31649" y="420115"/>
                      <a:pt x="20694" y="415577"/>
                      <a:pt x="12616" y="407499"/>
                    </a:cubicBezTo>
                    <a:cubicBezTo>
                      <a:pt x="4538" y="399422"/>
                      <a:pt x="0" y="388466"/>
                      <a:pt x="0" y="377042"/>
                    </a:cubicBezTo>
                    <a:lnTo>
                      <a:pt x="0" y="43073"/>
                    </a:lnTo>
                    <a:cubicBezTo>
                      <a:pt x="0" y="31649"/>
                      <a:pt x="4538" y="20694"/>
                      <a:pt x="12616" y="12616"/>
                    </a:cubicBezTo>
                    <a:cubicBezTo>
                      <a:pt x="20694" y="4538"/>
                      <a:pt x="31649" y="0"/>
                      <a:pt x="43073" y="0"/>
                    </a:cubicBezTo>
                    <a:close/>
                  </a:path>
                </a:pathLst>
              </a:custGeom>
              <a:ln w="38100" cap="rnd">
                <a:solidFill>
                  <a:srgbClr val="5E7B97"/>
                </a:solidFill>
                <a:prstDash val="solid"/>
                <a:round/>
              </a:ln>
            </p:spPr>
            <p:txBody>
              <a:bodyPr/>
              <a:lstStyle/>
              <a:p>
                <a:endParaRPr lang="en-IN"/>
              </a:p>
            </p:txBody>
          </p:sp>
          <p:sp>
            <p:nvSpPr>
              <p:cNvPr id="16" name="TextBox 16"/>
              <p:cNvSpPr txBox="1"/>
              <p:nvPr/>
            </p:nvSpPr>
            <p:spPr>
              <a:xfrm>
                <a:off x="0" y="-38100"/>
                <a:ext cx="1798877" cy="458215"/>
              </a:xfrm>
              <a:prstGeom prst="rect">
                <a:avLst/>
              </a:prstGeom>
            </p:spPr>
            <p:txBody>
              <a:bodyPr lIns="50800" tIns="50800" rIns="50800" bIns="50800" rtlCol="0" anchor="ctr"/>
              <a:lstStyle/>
              <a:p>
                <a:pPr algn="ctr">
                  <a:lnSpc>
                    <a:spcPts val="2659"/>
                  </a:lnSpc>
                  <a:spcBef>
                    <a:spcPct val="0"/>
                  </a:spcBef>
                </a:pPr>
                <a:endParaRPr/>
              </a:p>
            </p:txBody>
          </p:sp>
        </p:grpSp>
      </p:grpSp>
      <p:sp>
        <p:nvSpPr>
          <p:cNvPr id="17" name="TextBox 17"/>
          <p:cNvSpPr txBox="1"/>
          <p:nvPr/>
        </p:nvSpPr>
        <p:spPr>
          <a:xfrm>
            <a:off x="565786" y="6809735"/>
            <a:ext cx="17722214" cy="2396490"/>
          </a:xfrm>
          <a:prstGeom prst="rect">
            <a:avLst/>
          </a:prstGeom>
        </p:spPr>
        <p:txBody>
          <a:bodyPr lIns="0" tIns="0" rIns="0" bIns="0" rtlCol="0" anchor="t">
            <a:spAutoFit/>
          </a:bodyPr>
          <a:lstStyle/>
          <a:p>
            <a:pPr algn="l">
              <a:lnSpc>
                <a:spcPts val="4830"/>
              </a:lnSpc>
            </a:pPr>
            <a:r>
              <a:rPr lang="en-US" sz="3000" b="1">
                <a:solidFill>
                  <a:srgbClr val="000000"/>
                </a:solidFill>
                <a:latin typeface="Canva Sans Bold"/>
                <a:ea typeface="Canva Sans Bold"/>
                <a:cs typeface="Canva Sans Bold"/>
                <a:sym typeface="Canva Sans Bold"/>
              </a:rPr>
              <a:t>Two major problems:</a:t>
            </a:r>
          </a:p>
          <a:p>
            <a:pPr marL="1295400" lvl="2" indent="-431800" algn="l">
              <a:lnSpc>
                <a:spcPts val="4830"/>
              </a:lnSpc>
              <a:buFont typeface="Arial"/>
              <a:buChar char="⚬"/>
            </a:pPr>
            <a:r>
              <a:rPr lang="en-US" sz="3000">
                <a:solidFill>
                  <a:srgbClr val="000000"/>
                </a:solidFill>
                <a:latin typeface="Canva Sans"/>
                <a:ea typeface="Canva Sans"/>
                <a:cs typeface="Canva Sans"/>
                <a:sym typeface="Canva Sans"/>
              </a:rPr>
              <a:t>Alignment based method ⟶ computing exact edit distance is expensive</a:t>
            </a:r>
          </a:p>
          <a:p>
            <a:pPr marL="1295400" lvl="2" indent="-431800" algn="l">
              <a:lnSpc>
                <a:spcPts val="4830"/>
              </a:lnSpc>
              <a:buFont typeface="Arial"/>
              <a:buChar char="⚬"/>
            </a:pPr>
            <a:r>
              <a:rPr lang="en-US" sz="3000">
                <a:solidFill>
                  <a:srgbClr val="000000"/>
                </a:solidFill>
                <a:latin typeface="Canva Sans"/>
                <a:ea typeface="Canva Sans"/>
                <a:cs typeface="Canva Sans"/>
                <a:sym typeface="Canva Sans"/>
              </a:rPr>
              <a:t>Alignment free method ⟶ accounts for the entire sequence space of high dimension</a:t>
            </a:r>
          </a:p>
          <a:p>
            <a:pPr algn="l">
              <a:lnSpc>
                <a:spcPts val="4830"/>
              </a:lnSpc>
              <a:spcBef>
                <a:spcPct val="0"/>
              </a:spcBef>
            </a:pPr>
            <a:endParaRPr lang="en-US" sz="3000">
              <a:solidFill>
                <a:srgbClr val="000000"/>
              </a:solidFill>
              <a:latin typeface="Canva Sans"/>
              <a:ea typeface="Canva Sans"/>
              <a:cs typeface="Canva Sans"/>
              <a:sym typeface="Canv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2340291"/>
            <a:chOff x="0" y="0"/>
            <a:chExt cx="5371264" cy="616373"/>
          </a:xfrm>
        </p:grpSpPr>
        <p:sp>
          <p:nvSpPr>
            <p:cNvPr id="3" name="Freeform 3"/>
            <p:cNvSpPr/>
            <p:nvPr/>
          </p:nvSpPr>
          <p:spPr>
            <a:xfrm>
              <a:off x="0" y="0"/>
              <a:ext cx="5371264" cy="616373"/>
            </a:xfrm>
            <a:custGeom>
              <a:avLst/>
              <a:gdLst/>
              <a:ahLst/>
              <a:cxnLst/>
              <a:rect l="l" t="t" r="r" b="b"/>
              <a:pathLst>
                <a:path w="5371264" h="616373">
                  <a:moveTo>
                    <a:pt x="0" y="0"/>
                  </a:moveTo>
                  <a:lnTo>
                    <a:pt x="5371264" y="0"/>
                  </a:lnTo>
                  <a:lnTo>
                    <a:pt x="5371264" y="616373"/>
                  </a:lnTo>
                  <a:lnTo>
                    <a:pt x="0" y="616373"/>
                  </a:lnTo>
                  <a:close/>
                </a:path>
              </a:pathLst>
            </a:custGeom>
            <a:solidFill>
              <a:srgbClr val="5E7B97"/>
            </a:solidFill>
          </p:spPr>
          <p:txBody>
            <a:bodyPr/>
            <a:lstStyle/>
            <a:p>
              <a:endParaRPr lang="en-IN"/>
            </a:p>
          </p:txBody>
        </p:sp>
        <p:sp>
          <p:nvSpPr>
            <p:cNvPr id="4" name="TextBox 4"/>
            <p:cNvSpPr txBox="1"/>
            <p:nvPr/>
          </p:nvSpPr>
          <p:spPr>
            <a:xfrm>
              <a:off x="0" y="-38100"/>
              <a:ext cx="5371264" cy="654473"/>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853030" y="5370195"/>
            <a:ext cx="1372165"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6" name="AutoShape 6"/>
          <p:cNvSpPr/>
          <p:nvPr/>
        </p:nvSpPr>
        <p:spPr>
          <a:xfrm>
            <a:off x="2213076" y="6227921"/>
            <a:ext cx="1372165"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7" name="AutoShape 7"/>
          <p:cNvSpPr/>
          <p:nvPr/>
        </p:nvSpPr>
        <p:spPr>
          <a:xfrm>
            <a:off x="2539112" y="7053262"/>
            <a:ext cx="1372165" cy="0"/>
          </a:xfrm>
          <a:prstGeom prst="line">
            <a:avLst/>
          </a:prstGeom>
          <a:ln w="66675" cap="flat">
            <a:solidFill>
              <a:srgbClr val="5E7B97"/>
            </a:solidFill>
            <a:prstDash val="solid"/>
            <a:headEnd type="none" w="sm" len="sm"/>
            <a:tailEnd type="triangle" w="lg" len="med"/>
          </a:ln>
        </p:spPr>
        <p:txBody>
          <a:bodyPr/>
          <a:lstStyle/>
          <a:p>
            <a:endParaRPr lang="en-IN"/>
          </a:p>
        </p:txBody>
      </p:sp>
      <p:grpSp>
        <p:nvGrpSpPr>
          <p:cNvPr id="8" name="Group 8"/>
          <p:cNvGrpSpPr/>
          <p:nvPr/>
        </p:nvGrpSpPr>
        <p:grpSpPr>
          <a:xfrm>
            <a:off x="1177769" y="7808595"/>
            <a:ext cx="9187555" cy="1595125"/>
            <a:chOff x="0" y="0"/>
            <a:chExt cx="12250073" cy="2126833"/>
          </a:xfrm>
        </p:grpSpPr>
        <p:sp>
          <p:nvSpPr>
            <p:cNvPr id="9" name="TextBox 9"/>
            <p:cNvSpPr txBox="1"/>
            <p:nvPr/>
          </p:nvSpPr>
          <p:spPr>
            <a:xfrm>
              <a:off x="0" y="190500"/>
              <a:ext cx="12250073" cy="1531620"/>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Once trained, any new sequence can be embedded in milliseconds​</a:t>
              </a:r>
            </a:p>
          </p:txBody>
        </p:sp>
        <p:grpSp>
          <p:nvGrpSpPr>
            <p:cNvPr id="10" name="Group 10"/>
            <p:cNvGrpSpPr/>
            <p:nvPr/>
          </p:nvGrpSpPr>
          <p:grpSpPr>
            <a:xfrm>
              <a:off x="1116305" y="0"/>
              <a:ext cx="10223550" cy="2126833"/>
              <a:chOff x="0" y="0"/>
              <a:chExt cx="2019467" cy="420115"/>
            </a:xfrm>
          </p:grpSpPr>
          <p:sp>
            <p:nvSpPr>
              <p:cNvPr id="11" name="Freeform 11"/>
              <p:cNvSpPr/>
              <p:nvPr/>
            </p:nvSpPr>
            <p:spPr>
              <a:xfrm>
                <a:off x="0" y="0"/>
                <a:ext cx="2019467" cy="420115"/>
              </a:xfrm>
              <a:custGeom>
                <a:avLst/>
                <a:gdLst/>
                <a:ahLst/>
                <a:cxnLst/>
                <a:rect l="l" t="t" r="r" b="b"/>
                <a:pathLst>
                  <a:path w="2019467" h="420115">
                    <a:moveTo>
                      <a:pt x="38368" y="0"/>
                    </a:moveTo>
                    <a:lnTo>
                      <a:pt x="1981099" y="0"/>
                    </a:lnTo>
                    <a:cubicBezTo>
                      <a:pt x="1991274" y="0"/>
                      <a:pt x="2001033" y="4042"/>
                      <a:pt x="2008229" y="11238"/>
                    </a:cubicBezTo>
                    <a:cubicBezTo>
                      <a:pt x="2015424" y="18433"/>
                      <a:pt x="2019467" y="28192"/>
                      <a:pt x="2019467" y="38368"/>
                    </a:cubicBezTo>
                    <a:lnTo>
                      <a:pt x="2019467" y="381747"/>
                    </a:lnTo>
                    <a:cubicBezTo>
                      <a:pt x="2019467" y="391923"/>
                      <a:pt x="2015424" y="401682"/>
                      <a:pt x="2008229" y="408877"/>
                    </a:cubicBezTo>
                    <a:cubicBezTo>
                      <a:pt x="2001033" y="416073"/>
                      <a:pt x="1991274" y="420115"/>
                      <a:pt x="1981099" y="420115"/>
                    </a:cubicBezTo>
                    <a:lnTo>
                      <a:pt x="38368" y="420115"/>
                    </a:lnTo>
                    <a:cubicBezTo>
                      <a:pt x="28192" y="420115"/>
                      <a:pt x="18433" y="416073"/>
                      <a:pt x="11238" y="408877"/>
                    </a:cubicBezTo>
                    <a:cubicBezTo>
                      <a:pt x="4042" y="401682"/>
                      <a:pt x="0" y="391923"/>
                      <a:pt x="0" y="381747"/>
                    </a:cubicBezTo>
                    <a:lnTo>
                      <a:pt x="0" y="38368"/>
                    </a:lnTo>
                    <a:cubicBezTo>
                      <a:pt x="0" y="28192"/>
                      <a:pt x="4042" y="18433"/>
                      <a:pt x="11238" y="11238"/>
                    </a:cubicBezTo>
                    <a:cubicBezTo>
                      <a:pt x="18433" y="4042"/>
                      <a:pt x="28192" y="0"/>
                      <a:pt x="38368" y="0"/>
                    </a:cubicBezTo>
                    <a:close/>
                  </a:path>
                </a:pathLst>
              </a:custGeom>
              <a:ln w="38100" cap="rnd">
                <a:solidFill>
                  <a:srgbClr val="5E7B97"/>
                </a:solidFill>
                <a:prstDash val="solid"/>
                <a:round/>
              </a:ln>
            </p:spPr>
            <p:txBody>
              <a:bodyPr/>
              <a:lstStyle/>
              <a:p>
                <a:endParaRPr lang="en-IN"/>
              </a:p>
            </p:txBody>
          </p:sp>
          <p:sp>
            <p:nvSpPr>
              <p:cNvPr id="12" name="TextBox 12"/>
              <p:cNvSpPr txBox="1"/>
              <p:nvPr/>
            </p:nvSpPr>
            <p:spPr>
              <a:xfrm>
                <a:off x="0" y="-38100"/>
                <a:ext cx="2019467" cy="458215"/>
              </a:xfrm>
              <a:prstGeom prst="rect">
                <a:avLst/>
              </a:prstGeom>
            </p:spPr>
            <p:txBody>
              <a:bodyPr lIns="50800" tIns="50800" rIns="50800" bIns="50800" rtlCol="0" anchor="ctr"/>
              <a:lstStyle/>
              <a:p>
                <a:pPr algn="ctr">
                  <a:lnSpc>
                    <a:spcPts val="2659"/>
                  </a:lnSpc>
                  <a:spcBef>
                    <a:spcPct val="0"/>
                  </a:spcBef>
                </a:pPr>
                <a:endParaRPr/>
              </a:p>
            </p:txBody>
          </p:sp>
        </p:grpSp>
      </p:grpSp>
      <p:sp>
        <p:nvSpPr>
          <p:cNvPr id="13" name="Freeform 13"/>
          <p:cNvSpPr/>
          <p:nvPr/>
        </p:nvSpPr>
        <p:spPr>
          <a:xfrm>
            <a:off x="12376769" y="3973567"/>
            <a:ext cx="5613723" cy="3273053"/>
          </a:xfrm>
          <a:custGeom>
            <a:avLst/>
            <a:gdLst/>
            <a:ahLst/>
            <a:cxnLst/>
            <a:rect l="l" t="t" r="r" b="b"/>
            <a:pathLst>
              <a:path w="5613723" h="3273053">
                <a:moveTo>
                  <a:pt x="0" y="0"/>
                </a:moveTo>
                <a:lnTo>
                  <a:pt x="5613724" y="0"/>
                </a:lnTo>
                <a:lnTo>
                  <a:pt x="5613724" y="3273053"/>
                </a:lnTo>
                <a:lnTo>
                  <a:pt x="0" y="3273053"/>
                </a:lnTo>
                <a:lnTo>
                  <a:pt x="0" y="0"/>
                </a:lnTo>
                <a:close/>
              </a:path>
            </a:pathLst>
          </a:custGeom>
          <a:blipFill>
            <a:blip r:embed="rId2"/>
            <a:stretch>
              <a:fillRect/>
            </a:stretch>
          </a:blipFill>
          <a:ln w="19050" cap="sq">
            <a:solidFill>
              <a:srgbClr val="000000"/>
            </a:solidFill>
            <a:prstDash val="solid"/>
            <a:miter/>
          </a:ln>
        </p:spPr>
        <p:txBody>
          <a:bodyPr/>
          <a:lstStyle/>
          <a:p>
            <a:endParaRPr lang="en-IN"/>
          </a:p>
        </p:txBody>
      </p:sp>
      <p:sp>
        <p:nvSpPr>
          <p:cNvPr id="14" name="TextBox 14"/>
          <p:cNvSpPr txBox="1"/>
          <p:nvPr/>
        </p:nvSpPr>
        <p:spPr>
          <a:xfrm>
            <a:off x="6999201" y="346710"/>
            <a:ext cx="4506999"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15" name="TextBox 15"/>
          <p:cNvSpPr txBox="1"/>
          <p:nvPr/>
        </p:nvSpPr>
        <p:spPr>
          <a:xfrm>
            <a:off x="287982" y="1254851"/>
            <a:ext cx="18297142" cy="944618"/>
          </a:xfrm>
          <a:prstGeom prst="rect">
            <a:avLst/>
          </a:prstGeom>
        </p:spPr>
        <p:txBody>
          <a:bodyPr wrap="square" lIns="0" tIns="0" rIns="0" bIns="0" rtlCol="0" anchor="t">
            <a:spAutoFit/>
          </a:bodyPr>
          <a:lstStyle/>
          <a:p>
            <a:pPr algn="ctr">
              <a:lnSpc>
                <a:spcPts val="8050"/>
              </a:lnSpc>
              <a:spcBef>
                <a:spcPct val="0"/>
              </a:spcBef>
            </a:pPr>
            <a:r>
              <a:rPr lang="en-US" sz="5000" b="1">
                <a:solidFill>
                  <a:srgbClr val="FDF6EC"/>
                </a:solidFill>
                <a:latin typeface="Canva Sans Bold"/>
                <a:ea typeface="Canva Sans Bold"/>
                <a:cs typeface="Canva Sans Bold"/>
                <a:sym typeface="Canva Sans Bold"/>
              </a:rPr>
              <a:t>Neural Distance Embeddings for Biological Sequences</a:t>
            </a:r>
          </a:p>
        </p:txBody>
      </p:sp>
      <p:sp>
        <p:nvSpPr>
          <p:cNvPr id="16" name="TextBox 16"/>
          <p:cNvSpPr txBox="1"/>
          <p:nvPr/>
        </p:nvSpPr>
        <p:spPr>
          <a:xfrm>
            <a:off x="282891" y="2881309"/>
            <a:ext cx="11909109" cy="1786890"/>
          </a:xfrm>
          <a:prstGeom prst="rect">
            <a:avLst/>
          </a:prstGeom>
        </p:spPr>
        <p:txBody>
          <a:bodyPr wrap="square" lIns="0" tIns="0" rIns="0" bIns="0" rtlCol="0" anchor="t">
            <a:spAutoFit/>
          </a:bodyPr>
          <a:lstStyle/>
          <a:p>
            <a:pPr algn="l">
              <a:lnSpc>
                <a:spcPts val="4830"/>
              </a:lnSpc>
              <a:spcBef>
                <a:spcPct val="0"/>
              </a:spcBef>
            </a:pPr>
            <a:r>
              <a:rPr lang="en-US" sz="3000" err="1">
                <a:solidFill>
                  <a:srgbClr val="000000"/>
                </a:solidFill>
                <a:latin typeface="Canva Sans"/>
                <a:ea typeface="Canva Sans"/>
                <a:cs typeface="Canva Sans"/>
                <a:sym typeface="Canva Sans"/>
              </a:rPr>
              <a:t>NeuroSEED</a:t>
            </a:r>
            <a:r>
              <a:rPr lang="en-US" sz="3000">
                <a:solidFill>
                  <a:srgbClr val="000000"/>
                </a:solidFill>
                <a:latin typeface="Canva Sans"/>
                <a:ea typeface="Canva Sans"/>
                <a:cs typeface="Canva Sans"/>
                <a:sym typeface="Canva Sans"/>
              </a:rPr>
              <a:t> learns low-dimensional geometric embeddings of biological sequences so that distances in the embedding space directly approximate true evolutionary/phylogenetic distances.</a:t>
            </a:r>
          </a:p>
        </p:txBody>
      </p:sp>
      <p:sp>
        <p:nvSpPr>
          <p:cNvPr id="17" name="TextBox 17"/>
          <p:cNvSpPr txBox="1"/>
          <p:nvPr/>
        </p:nvSpPr>
        <p:spPr>
          <a:xfrm>
            <a:off x="340540" y="5029200"/>
            <a:ext cx="1288694" cy="567690"/>
          </a:xfrm>
          <a:prstGeom prst="rect">
            <a:avLst/>
          </a:prstGeom>
        </p:spPr>
        <p:txBody>
          <a:bodyPr lIns="0" tIns="0" rIns="0" bIns="0" rtlCol="0" anchor="t">
            <a:spAutoFit/>
          </a:bodyPr>
          <a:lstStyle/>
          <a:p>
            <a:pPr algn="l">
              <a:lnSpc>
                <a:spcPts val="4830"/>
              </a:lnSpc>
              <a:spcBef>
                <a:spcPct val="0"/>
              </a:spcBef>
            </a:pPr>
            <a:r>
              <a:rPr lang="en-US" sz="3000" b="1">
                <a:solidFill>
                  <a:srgbClr val="000000"/>
                </a:solidFill>
                <a:latin typeface="Canva Sans Bold"/>
                <a:ea typeface="Canva Sans Bold"/>
                <a:cs typeface="Canva Sans Bold"/>
                <a:sym typeface="Canva Sans Bold"/>
              </a:rPr>
              <a:t>INPUT</a:t>
            </a:r>
          </a:p>
        </p:txBody>
      </p:sp>
      <p:sp>
        <p:nvSpPr>
          <p:cNvPr id="18" name="TextBox 18"/>
          <p:cNvSpPr txBox="1"/>
          <p:nvPr/>
        </p:nvSpPr>
        <p:spPr>
          <a:xfrm>
            <a:off x="340540" y="5886926"/>
            <a:ext cx="1674457" cy="567690"/>
          </a:xfrm>
          <a:prstGeom prst="rect">
            <a:avLst/>
          </a:prstGeom>
        </p:spPr>
        <p:txBody>
          <a:bodyPr lIns="0" tIns="0" rIns="0" bIns="0" rtlCol="0" anchor="t">
            <a:spAutoFit/>
          </a:bodyPr>
          <a:lstStyle/>
          <a:p>
            <a:pPr algn="l">
              <a:lnSpc>
                <a:spcPts val="4830"/>
              </a:lnSpc>
              <a:spcBef>
                <a:spcPct val="0"/>
              </a:spcBef>
            </a:pPr>
            <a:r>
              <a:rPr lang="en-US" sz="3000" b="1">
                <a:solidFill>
                  <a:srgbClr val="000000"/>
                </a:solidFill>
                <a:latin typeface="Canva Sans Bold"/>
                <a:ea typeface="Canva Sans Bold"/>
                <a:cs typeface="Canva Sans Bold"/>
                <a:sym typeface="Canva Sans Bold"/>
              </a:rPr>
              <a:t>OUTPUT</a:t>
            </a:r>
          </a:p>
        </p:txBody>
      </p:sp>
      <p:sp>
        <p:nvSpPr>
          <p:cNvPr id="19" name="TextBox 19"/>
          <p:cNvSpPr txBox="1"/>
          <p:nvPr/>
        </p:nvSpPr>
        <p:spPr>
          <a:xfrm>
            <a:off x="340540" y="6678930"/>
            <a:ext cx="2060220" cy="567690"/>
          </a:xfrm>
          <a:prstGeom prst="rect">
            <a:avLst/>
          </a:prstGeom>
        </p:spPr>
        <p:txBody>
          <a:bodyPr lIns="0" tIns="0" rIns="0" bIns="0" rtlCol="0" anchor="t">
            <a:spAutoFit/>
          </a:bodyPr>
          <a:lstStyle/>
          <a:p>
            <a:pPr algn="l">
              <a:lnSpc>
                <a:spcPts val="4830"/>
              </a:lnSpc>
              <a:spcBef>
                <a:spcPct val="0"/>
              </a:spcBef>
            </a:pPr>
            <a:r>
              <a:rPr lang="en-US" sz="3000" b="1">
                <a:solidFill>
                  <a:srgbClr val="000000"/>
                </a:solidFill>
                <a:latin typeface="Canva Sans Bold"/>
                <a:ea typeface="Canva Sans Bold"/>
                <a:cs typeface="Canva Sans Bold"/>
                <a:sym typeface="Canva Sans Bold"/>
              </a:rPr>
              <a:t>TRAINING</a:t>
            </a:r>
          </a:p>
        </p:txBody>
      </p:sp>
      <p:sp>
        <p:nvSpPr>
          <p:cNvPr id="20" name="TextBox 20"/>
          <p:cNvSpPr txBox="1"/>
          <p:nvPr/>
        </p:nvSpPr>
        <p:spPr>
          <a:xfrm>
            <a:off x="3585240" y="5029200"/>
            <a:ext cx="8606760"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 raw biological sequences (DNA/RNA/Protein)</a:t>
            </a:r>
          </a:p>
        </p:txBody>
      </p:sp>
      <p:sp>
        <p:nvSpPr>
          <p:cNvPr id="21" name="TextBox 21"/>
          <p:cNvSpPr txBox="1"/>
          <p:nvPr/>
        </p:nvSpPr>
        <p:spPr>
          <a:xfrm>
            <a:off x="3845057" y="5854065"/>
            <a:ext cx="5451343"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points in a geometric space</a:t>
            </a:r>
          </a:p>
        </p:txBody>
      </p:sp>
      <p:sp>
        <p:nvSpPr>
          <p:cNvPr id="22" name="TextBox 22"/>
          <p:cNvSpPr txBox="1"/>
          <p:nvPr/>
        </p:nvSpPr>
        <p:spPr>
          <a:xfrm>
            <a:off x="4054152" y="6678930"/>
            <a:ext cx="8214048"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end-to-end with a distance-preserving loss​</a:t>
            </a:r>
          </a:p>
        </p:txBody>
      </p:sp>
      <p:sp>
        <p:nvSpPr>
          <p:cNvPr id="23" name="TextBox 23"/>
          <p:cNvSpPr txBox="1"/>
          <p:nvPr/>
        </p:nvSpPr>
        <p:spPr>
          <a:xfrm>
            <a:off x="10785976" y="9692493"/>
            <a:ext cx="6737791"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animBg="1"/>
      <p:bldP spid="16" grpId="0"/>
      <p:bldP spid="17" grpId="0"/>
      <p:bldP spid="18"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2240440" y="6082816"/>
            <a:ext cx="5242455" cy="2369407"/>
          </a:xfrm>
          <a:custGeom>
            <a:avLst/>
            <a:gdLst/>
            <a:ahLst/>
            <a:cxnLst/>
            <a:rect l="l" t="t" r="r" b="b"/>
            <a:pathLst>
              <a:path w="5242455" h="2369407">
                <a:moveTo>
                  <a:pt x="0" y="0"/>
                </a:moveTo>
                <a:lnTo>
                  <a:pt x="5242456" y="0"/>
                </a:lnTo>
                <a:lnTo>
                  <a:pt x="5242456" y="2369406"/>
                </a:lnTo>
                <a:lnTo>
                  <a:pt x="0" y="2369406"/>
                </a:lnTo>
                <a:lnTo>
                  <a:pt x="0" y="0"/>
                </a:lnTo>
                <a:close/>
              </a:path>
            </a:pathLst>
          </a:custGeom>
          <a:blipFill>
            <a:blip r:embed="rId2"/>
            <a:stretch>
              <a:fillRect/>
            </a:stretch>
          </a:blipFill>
          <a:ln w="19050" cap="sq">
            <a:solidFill>
              <a:srgbClr val="000000"/>
            </a:solidFill>
            <a:prstDash val="solid"/>
            <a:miter/>
          </a:ln>
        </p:spPr>
        <p:txBody>
          <a:bodyPr/>
          <a:lstStyle/>
          <a:p>
            <a:endParaRPr lang="en-IN"/>
          </a:p>
        </p:txBody>
      </p:sp>
      <p:sp>
        <p:nvSpPr>
          <p:cNvPr id="6" name="TextBox 6"/>
          <p:cNvSpPr txBox="1"/>
          <p:nvPr/>
        </p:nvSpPr>
        <p:spPr>
          <a:xfrm>
            <a:off x="6611362" y="8850359"/>
            <a:ext cx="11258155"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Hyperbolic space works best for biology’s tree-like evolution</a:t>
            </a:r>
          </a:p>
        </p:txBody>
      </p:sp>
      <p:grpSp>
        <p:nvGrpSpPr>
          <p:cNvPr id="7" name="Group 7"/>
          <p:cNvGrpSpPr/>
          <p:nvPr/>
        </p:nvGrpSpPr>
        <p:grpSpPr>
          <a:xfrm>
            <a:off x="6521780" y="8705053"/>
            <a:ext cx="11437321" cy="858303"/>
            <a:chOff x="0" y="0"/>
            <a:chExt cx="3012298" cy="226055"/>
          </a:xfrm>
        </p:grpSpPr>
        <p:sp>
          <p:nvSpPr>
            <p:cNvPr id="8" name="Freeform 8"/>
            <p:cNvSpPr/>
            <p:nvPr/>
          </p:nvSpPr>
          <p:spPr>
            <a:xfrm>
              <a:off x="0" y="0"/>
              <a:ext cx="3012298" cy="226055"/>
            </a:xfrm>
            <a:custGeom>
              <a:avLst/>
              <a:gdLst/>
              <a:ahLst/>
              <a:cxnLst/>
              <a:rect l="l" t="t" r="r" b="b"/>
              <a:pathLst>
                <a:path w="3012298" h="226055">
                  <a:moveTo>
                    <a:pt x="8800" y="0"/>
                  </a:moveTo>
                  <a:lnTo>
                    <a:pt x="3003499" y="0"/>
                  </a:lnTo>
                  <a:cubicBezTo>
                    <a:pt x="3008359" y="0"/>
                    <a:pt x="3012298" y="3940"/>
                    <a:pt x="3012298" y="8800"/>
                  </a:cubicBezTo>
                  <a:lnTo>
                    <a:pt x="3012298" y="217255"/>
                  </a:lnTo>
                  <a:cubicBezTo>
                    <a:pt x="3012298" y="222115"/>
                    <a:pt x="3008359" y="226055"/>
                    <a:pt x="3003499" y="226055"/>
                  </a:cubicBezTo>
                  <a:lnTo>
                    <a:pt x="8800" y="226055"/>
                  </a:lnTo>
                  <a:cubicBezTo>
                    <a:pt x="3940" y="226055"/>
                    <a:pt x="0" y="222115"/>
                    <a:pt x="0" y="217255"/>
                  </a:cubicBezTo>
                  <a:lnTo>
                    <a:pt x="0" y="8800"/>
                  </a:lnTo>
                  <a:cubicBezTo>
                    <a:pt x="0" y="3940"/>
                    <a:pt x="3940" y="0"/>
                    <a:pt x="8800" y="0"/>
                  </a:cubicBezTo>
                  <a:close/>
                </a:path>
              </a:pathLst>
            </a:custGeom>
            <a:ln w="38100" cap="sq">
              <a:solidFill>
                <a:srgbClr val="5E7B97"/>
              </a:solidFill>
              <a:prstDash val="solid"/>
              <a:miter/>
            </a:ln>
          </p:spPr>
          <p:txBody>
            <a:bodyPr/>
            <a:lstStyle/>
            <a:p>
              <a:endParaRPr lang="en-IN"/>
            </a:p>
          </p:txBody>
        </p:sp>
        <p:sp>
          <p:nvSpPr>
            <p:cNvPr id="9" name="TextBox 9"/>
            <p:cNvSpPr txBox="1"/>
            <p:nvPr/>
          </p:nvSpPr>
          <p:spPr>
            <a:xfrm>
              <a:off x="0" y="-38100"/>
              <a:ext cx="3012298" cy="264155"/>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1809657" y="4738847"/>
            <a:ext cx="6104021" cy="1086794"/>
          </a:xfrm>
          <a:custGeom>
            <a:avLst/>
            <a:gdLst/>
            <a:ahLst/>
            <a:cxnLst/>
            <a:rect l="l" t="t" r="r" b="b"/>
            <a:pathLst>
              <a:path w="6104021" h="1086794">
                <a:moveTo>
                  <a:pt x="0" y="0"/>
                </a:moveTo>
                <a:lnTo>
                  <a:pt x="6104021" y="0"/>
                </a:lnTo>
                <a:lnTo>
                  <a:pt x="6104021" y="1086794"/>
                </a:lnTo>
                <a:lnTo>
                  <a:pt x="0" y="1086794"/>
                </a:lnTo>
                <a:lnTo>
                  <a:pt x="0" y="0"/>
                </a:lnTo>
                <a:close/>
              </a:path>
            </a:pathLst>
          </a:custGeom>
          <a:blipFill>
            <a:blip r:embed="rId3"/>
            <a:stretch>
              <a:fillRect/>
            </a:stretch>
          </a:blipFill>
          <a:ln w="19050" cap="sq">
            <a:solidFill>
              <a:srgbClr val="000000"/>
            </a:solidFill>
            <a:prstDash val="solid"/>
            <a:miter/>
          </a:ln>
        </p:spPr>
        <p:txBody>
          <a:bodyPr/>
          <a:lstStyle/>
          <a:p>
            <a:endParaRPr lang="en-IN"/>
          </a:p>
        </p:txBody>
      </p:sp>
      <p:sp>
        <p:nvSpPr>
          <p:cNvPr id="11" name="TextBox 11"/>
          <p:cNvSpPr txBox="1"/>
          <p:nvPr/>
        </p:nvSpPr>
        <p:spPr>
          <a:xfrm>
            <a:off x="6999201" y="346710"/>
            <a:ext cx="4430799"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12" name="TextBox 12"/>
          <p:cNvSpPr txBox="1"/>
          <p:nvPr/>
        </p:nvSpPr>
        <p:spPr>
          <a:xfrm>
            <a:off x="0" y="1681156"/>
            <a:ext cx="14713259" cy="763270"/>
          </a:xfrm>
          <a:prstGeom prst="rect">
            <a:avLst/>
          </a:prstGeom>
        </p:spPr>
        <p:txBody>
          <a:bodyPr lIns="0" tIns="0" rIns="0" bIns="0" rtlCol="0" anchor="t">
            <a:spAutoFit/>
          </a:bodyPr>
          <a:lstStyle/>
          <a:p>
            <a:pPr algn="ctr">
              <a:lnSpc>
                <a:spcPts val="6439"/>
              </a:lnSpc>
              <a:spcBef>
                <a:spcPct val="0"/>
              </a:spcBef>
            </a:pPr>
            <a:r>
              <a:rPr lang="en-US" sz="3999" b="1">
                <a:solidFill>
                  <a:srgbClr val="000000"/>
                </a:solidFill>
                <a:latin typeface="Canva Sans Bold"/>
                <a:ea typeface="Canva Sans Bold"/>
                <a:cs typeface="Canva Sans Bold"/>
                <a:sym typeface="Canva Sans Bold"/>
              </a:rPr>
              <a:t>Embedding Geometry: Where Do We Place the Sequences?​</a:t>
            </a:r>
          </a:p>
        </p:txBody>
      </p:sp>
      <p:sp>
        <p:nvSpPr>
          <p:cNvPr id="13" name="TextBox 13"/>
          <p:cNvSpPr txBox="1"/>
          <p:nvPr/>
        </p:nvSpPr>
        <p:spPr>
          <a:xfrm>
            <a:off x="675345" y="2511101"/>
            <a:ext cx="17373972" cy="9144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Canva Sans"/>
                <a:ea typeface="Canva Sans"/>
                <a:cs typeface="Canva Sans"/>
                <a:sym typeface="Canva Sans"/>
              </a:rPr>
              <a:t>The distance function d between the embedded points defines the geometry of the embedding space</a:t>
            </a:r>
          </a:p>
        </p:txBody>
      </p:sp>
      <p:sp>
        <p:nvSpPr>
          <p:cNvPr id="14" name="TextBox 14"/>
          <p:cNvSpPr txBox="1"/>
          <p:nvPr/>
        </p:nvSpPr>
        <p:spPr>
          <a:xfrm>
            <a:off x="675345" y="3568376"/>
            <a:ext cx="16726272" cy="9144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Canva Sans"/>
                <a:ea typeface="Canva Sans"/>
                <a:cs typeface="Canva Sans"/>
                <a:sym typeface="Canva Sans"/>
              </a:rPr>
              <a:t>The choice of geometry really affects how well distances between sequences are preserved</a:t>
            </a:r>
          </a:p>
        </p:txBody>
      </p:sp>
      <p:grpSp>
        <p:nvGrpSpPr>
          <p:cNvPr id="15" name="Group 15"/>
          <p:cNvGrpSpPr/>
          <p:nvPr/>
        </p:nvGrpSpPr>
        <p:grpSpPr>
          <a:xfrm>
            <a:off x="211822" y="4780432"/>
            <a:ext cx="5048605" cy="2399188"/>
            <a:chOff x="-1" y="-85725"/>
            <a:chExt cx="6731473" cy="3198917"/>
          </a:xfrm>
        </p:grpSpPr>
        <p:sp>
          <p:nvSpPr>
            <p:cNvPr id="16" name="TextBox 16"/>
            <p:cNvSpPr txBox="1"/>
            <p:nvPr/>
          </p:nvSpPr>
          <p:spPr>
            <a:xfrm>
              <a:off x="-1" y="-85725"/>
              <a:ext cx="1923652" cy="508847"/>
            </a:xfrm>
            <a:prstGeom prst="rect">
              <a:avLst/>
            </a:prstGeom>
          </p:spPr>
          <p:txBody>
            <a:bodyPr wrap="square" lIns="0" tIns="0" rIns="0" bIns="0" rtlCol="0" anchor="t">
              <a:spAutoFit/>
            </a:bodyPr>
            <a:lstStyle/>
            <a:p>
              <a:pPr algn="ctr">
                <a:lnSpc>
                  <a:spcPts val="3220"/>
                </a:lnSpc>
                <a:spcBef>
                  <a:spcPct val="0"/>
                </a:spcBef>
              </a:pPr>
              <a:r>
                <a:rPr lang="en-US" sz="2000" b="1">
                  <a:solidFill>
                    <a:srgbClr val="000000"/>
                  </a:solidFill>
                  <a:latin typeface="Canva Sans Bold"/>
                  <a:ea typeface="Canva Sans Bold"/>
                  <a:cs typeface="Canva Sans Bold"/>
                  <a:sym typeface="Canva Sans Bold"/>
                </a:rPr>
                <a:t>Euclidean​</a:t>
              </a:r>
            </a:p>
          </p:txBody>
        </p:sp>
        <p:sp>
          <p:nvSpPr>
            <p:cNvPr id="17" name="TextBox 17"/>
            <p:cNvSpPr txBox="1"/>
            <p:nvPr/>
          </p:nvSpPr>
          <p:spPr>
            <a:xfrm>
              <a:off x="16371" y="499321"/>
              <a:ext cx="6715101" cy="2613871"/>
            </a:xfrm>
            <a:prstGeom prst="rect">
              <a:avLst/>
            </a:prstGeom>
          </p:spPr>
          <p:txBody>
            <a:bodyPr lIns="0" tIns="0" rIns="0" bIns="0" rtlCol="0" anchor="t">
              <a:spAutoFit/>
            </a:bodyPr>
            <a:lstStyle/>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Standard distance: ‖u − v‖₂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Simple and widely used baseline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Works well for flat, uniform data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Struggles to represent hierarchical relationships</a:t>
              </a:r>
            </a:p>
          </p:txBody>
        </p:sp>
      </p:grpSp>
      <p:grpSp>
        <p:nvGrpSpPr>
          <p:cNvPr id="18" name="Group 18"/>
          <p:cNvGrpSpPr/>
          <p:nvPr/>
        </p:nvGrpSpPr>
        <p:grpSpPr>
          <a:xfrm>
            <a:off x="211823" y="7737631"/>
            <a:ext cx="5558433" cy="1934845"/>
            <a:chOff x="0" y="0"/>
            <a:chExt cx="7411244" cy="2579793"/>
          </a:xfrm>
        </p:grpSpPr>
        <p:sp>
          <p:nvSpPr>
            <p:cNvPr id="19" name="TextBox 19"/>
            <p:cNvSpPr txBox="1"/>
            <p:nvPr/>
          </p:nvSpPr>
          <p:spPr>
            <a:xfrm>
              <a:off x="61912" y="499321"/>
              <a:ext cx="7349331" cy="2080471"/>
            </a:xfrm>
            <a:prstGeom prst="rect">
              <a:avLst/>
            </a:prstGeom>
          </p:spPr>
          <p:txBody>
            <a:bodyPr lIns="0" tIns="0" rIns="0" bIns="0" rtlCol="0" anchor="t">
              <a:spAutoFit/>
            </a:bodyPr>
            <a:lstStyle/>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Formula: 1 − cos(θ)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Compares direction, not magnitude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Useful when embeddings are normalized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Ignores hierarchical depth differences ​</a:t>
              </a:r>
            </a:p>
          </p:txBody>
        </p:sp>
        <p:sp>
          <p:nvSpPr>
            <p:cNvPr id="20" name="TextBox 20"/>
            <p:cNvSpPr txBox="1"/>
            <p:nvPr/>
          </p:nvSpPr>
          <p:spPr>
            <a:xfrm>
              <a:off x="0" y="-85725"/>
              <a:ext cx="1207294" cy="480271"/>
            </a:xfrm>
            <a:prstGeom prst="rect">
              <a:avLst/>
            </a:prstGeom>
          </p:spPr>
          <p:txBody>
            <a:bodyPr lIns="0" tIns="0" rIns="0" bIns="0" rtlCol="0" anchor="t">
              <a:spAutoFit/>
            </a:bodyPr>
            <a:lstStyle/>
            <a:p>
              <a:pPr algn="ctr">
                <a:lnSpc>
                  <a:spcPts val="3220"/>
                </a:lnSpc>
                <a:spcBef>
                  <a:spcPct val="0"/>
                </a:spcBef>
              </a:pPr>
              <a:r>
                <a:rPr lang="en-US" sz="2000" b="1">
                  <a:solidFill>
                    <a:srgbClr val="000000"/>
                  </a:solidFill>
                  <a:latin typeface="Canva Sans Bold"/>
                  <a:ea typeface="Canva Sans Bold"/>
                  <a:cs typeface="Canva Sans Bold"/>
                  <a:sym typeface="Canva Sans Bold"/>
                </a:rPr>
                <a:t>Cosine ​</a:t>
              </a:r>
            </a:p>
          </p:txBody>
        </p:sp>
      </p:grpSp>
      <p:sp>
        <p:nvSpPr>
          <p:cNvPr id="21" name="TextBox 21"/>
          <p:cNvSpPr txBox="1"/>
          <p:nvPr/>
        </p:nvSpPr>
        <p:spPr>
          <a:xfrm>
            <a:off x="5890626" y="4759001"/>
            <a:ext cx="1442740" cy="381635"/>
          </a:xfrm>
          <a:prstGeom prst="rect">
            <a:avLst/>
          </a:prstGeom>
        </p:spPr>
        <p:txBody>
          <a:bodyPr lIns="0" tIns="0" rIns="0" bIns="0" rtlCol="0" anchor="t">
            <a:spAutoFit/>
          </a:bodyPr>
          <a:lstStyle/>
          <a:p>
            <a:pPr algn="ctr">
              <a:lnSpc>
                <a:spcPts val="3220"/>
              </a:lnSpc>
              <a:spcBef>
                <a:spcPct val="0"/>
              </a:spcBef>
            </a:pPr>
            <a:r>
              <a:rPr lang="en-US" sz="2000" b="1">
                <a:solidFill>
                  <a:srgbClr val="000000"/>
                </a:solidFill>
                <a:latin typeface="Canva Sans Bold"/>
                <a:ea typeface="Canva Sans Bold"/>
                <a:cs typeface="Canva Sans Bold"/>
                <a:sym typeface="Canva Sans Bold"/>
              </a:rPr>
              <a:t>Hyperbolic </a:t>
            </a:r>
          </a:p>
        </p:txBody>
      </p:sp>
      <p:sp>
        <p:nvSpPr>
          <p:cNvPr id="22" name="TextBox 22"/>
          <p:cNvSpPr txBox="1"/>
          <p:nvPr/>
        </p:nvSpPr>
        <p:spPr>
          <a:xfrm>
            <a:off x="5890626" y="5197786"/>
            <a:ext cx="5153193" cy="2781935"/>
          </a:xfrm>
          <a:prstGeom prst="rect">
            <a:avLst/>
          </a:prstGeom>
        </p:spPr>
        <p:txBody>
          <a:bodyPr lIns="0" tIns="0" rIns="0" bIns="0" rtlCol="0" anchor="t">
            <a:spAutoFit/>
          </a:bodyPr>
          <a:lstStyle/>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Distance grows rapidly near boundary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Naturally models exponential expansion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Captures hierarchical / tree-like relationships ​</a:t>
            </a:r>
          </a:p>
          <a:p>
            <a:pPr marL="431801" lvl="1" indent="-215900" algn="l">
              <a:lnSpc>
                <a:spcPts val="3220"/>
              </a:lnSpc>
              <a:buFont typeface="Arial"/>
              <a:buChar char="•"/>
            </a:pPr>
            <a:r>
              <a:rPr lang="en-US" sz="2000">
                <a:solidFill>
                  <a:srgbClr val="000000"/>
                </a:solidFill>
                <a:latin typeface="Canva Sans"/>
                <a:ea typeface="Canva Sans"/>
                <a:cs typeface="Canva Sans"/>
                <a:sym typeface="Canva Sans"/>
              </a:rPr>
              <a:t> Best fit for biological evolution and sequence data</a:t>
            </a:r>
          </a:p>
        </p:txBody>
      </p:sp>
      <p:sp>
        <p:nvSpPr>
          <p:cNvPr id="23" name="TextBox 23"/>
          <p:cNvSpPr txBox="1"/>
          <p:nvPr/>
        </p:nvSpPr>
        <p:spPr>
          <a:xfrm>
            <a:off x="10785976" y="9678036"/>
            <a:ext cx="6696919"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0" grpId="0" animBg="1"/>
      <p:bldP spid="12" grpId="0"/>
      <p:bldP spid="13" grpId="0"/>
      <p:bldP spid="14"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a:extLst>
            <a:ext uri="{FF2B5EF4-FFF2-40B4-BE49-F238E27FC236}">
              <a16:creationId xmlns:a16="http://schemas.microsoft.com/office/drawing/2014/main" id="{6D191919-9D6C-8695-654F-A202687521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892295-DD94-52EF-79D6-1ECB18CE3172}"/>
              </a:ext>
            </a:extLst>
          </p:cNvPr>
          <p:cNvGrpSpPr/>
          <p:nvPr/>
        </p:nvGrpSpPr>
        <p:grpSpPr>
          <a:xfrm>
            <a:off x="-514350" y="282894"/>
            <a:ext cx="20394020" cy="1491611"/>
            <a:chOff x="0" y="0"/>
            <a:chExt cx="5371264" cy="392852"/>
          </a:xfrm>
        </p:grpSpPr>
        <p:sp>
          <p:nvSpPr>
            <p:cNvPr id="3" name="Freeform 3">
              <a:extLst>
                <a:ext uri="{FF2B5EF4-FFF2-40B4-BE49-F238E27FC236}">
                  <a16:creationId xmlns:a16="http://schemas.microsoft.com/office/drawing/2014/main" id="{D9F1B00C-2CC6-AA13-872B-107142C3A9B0}"/>
                </a:ext>
              </a:extLst>
            </p:cNvPr>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a:extLst>
                <a:ext uri="{FF2B5EF4-FFF2-40B4-BE49-F238E27FC236}">
                  <a16:creationId xmlns:a16="http://schemas.microsoft.com/office/drawing/2014/main" id="{E46CD072-4BDF-E90B-B2A3-C2973803D257}"/>
                </a:ext>
              </a:extLst>
            </p:cNvPr>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84077D0F-1819-8090-0024-608A3ED8319F}"/>
              </a:ext>
            </a:extLst>
          </p:cNvPr>
          <p:cNvSpPr txBox="1"/>
          <p:nvPr/>
        </p:nvSpPr>
        <p:spPr>
          <a:xfrm>
            <a:off x="6516112" y="8564609"/>
            <a:ext cx="11258155" cy="567690"/>
          </a:xfrm>
          <a:prstGeom prst="rect">
            <a:avLst/>
          </a:prstGeom>
        </p:spPr>
        <p:txBody>
          <a:bodyPr wrap="square"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Hyperbolic space works best for biology’s tree-like evolution</a:t>
            </a:r>
          </a:p>
        </p:txBody>
      </p:sp>
      <p:grpSp>
        <p:nvGrpSpPr>
          <p:cNvPr id="7" name="Group 7">
            <a:extLst>
              <a:ext uri="{FF2B5EF4-FFF2-40B4-BE49-F238E27FC236}">
                <a16:creationId xmlns:a16="http://schemas.microsoft.com/office/drawing/2014/main" id="{E8102F0D-DE3A-9596-6215-591CE8386B86}"/>
              </a:ext>
            </a:extLst>
          </p:cNvPr>
          <p:cNvGrpSpPr/>
          <p:nvPr/>
        </p:nvGrpSpPr>
        <p:grpSpPr>
          <a:xfrm>
            <a:off x="6426530" y="8419303"/>
            <a:ext cx="11437321" cy="858303"/>
            <a:chOff x="0" y="0"/>
            <a:chExt cx="3012298" cy="226055"/>
          </a:xfrm>
        </p:grpSpPr>
        <p:sp>
          <p:nvSpPr>
            <p:cNvPr id="8" name="Freeform 8">
              <a:extLst>
                <a:ext uri="{FF2B5EF4-FFF2-40B4-BE49-F238E27FC236}">
                  <a16:creationId xmlns:a16="http://schemas.microsoft.com/office/drawing/2014/main" id="{4BE30782-1A0F-009F-9BAC-61505BF7391A}"/>
                </a:ext>
              </a:extLst>
            </p:cNvPr>
            <p:cNvSpPr/>
            <p:nvPr/>
          </p:nvSpPr>
          <p:spPr>
            <a:xfrm>
              <a:off x="0" y="0"/>
              <a:ext cx="3012298" cy="226055"/>
            </a:xfrm>
            <a:custGeom>
              <a:avLst/>
              <a:gdLst/>
              <a:ahLst/>
              <a:cxnLst/>
              <a:rect l="l" t="t" r="r" b="b"/>
              <a:pathLst>
                <a:path w="3012298" h="226055">
                  <a:moveTo>
                    <a:pt x="8800" y="0"/>
                  </a:moveTo>
                  <a:lnTo>
                    <a:pt x="3003499" y="0"/>
                  </a:lnTo>
                  <a:cubicBezTo>
                    <a:pt x="3008359" y="0"/>
                    <a:pt x="3012298" y="3940"/>
                    <a:pt x="3012298" y="8800"/>
                  </a:cubicBezTo>
                  <a:lnTo>
                    <a:pt x="3012298" y="217255"/>
                  </a:lnTo>
                  <a:cubicBezTo>
                    <a:pt x="3012298" y="222115"/>
                    <a:pt x="3008359" y="226055"/>
                    <a:pt x="3003499" y="226055"/>
                  </a:cubicBezTo>
                  <a:lnTo>
                    <a:pt x="8800" y="226055"/>
                  </a:lnTo>
                  <a:cubicBezTo>
                    <a:pt x="3940" y="226055"/>
                    <a:pt x="0" y="222115"/>
                    <a:pt x="0" y="217255"/>
                  </a:cubicBezTo>
                  <a:lnTo>
                    <a:pt x="0" y="8800"/>
                  </a:lnTo>
                  <a:cubicBezTo>
                    <a:pt x="0" y="3940"/>
                    <a:pt x="3940" y="0"/>
                    <a:pt x="8800" y="0"/>
                  </a:cubicBezTo>
                  <a:close/>
                </a:path>
              </a:pathLst>
            </a:custGeom>
            <a:ln w="38100" cap="sq">
              <a:solidFill>
                <a:srgbClr val="5E7B97"/>
              </a:solidFill>
              <a:prstDash val="solid"/>
              <a:miter/>
            </a:ln>
          </p:spPr>
          <p:txBody>
            <a:bodyPr/>
            <a:lstStyle/>
            <a:p>
              <a:endParaRPr lang="en-IN"/>
            </a:p>
          </p:txBody>
        </p:sp>
        <p:sp>
          <p:nvSpPr>
            <p:cNvPr id="9" name="TextBox 9">
              <a:extLst>
                <a:ext uri="{FF2B5EF4-FFF2-40B4-BE49-F238E27FC236}">
                  <a16:creationId xmlns:a16="http://schemas.microsoft.com/office/drawing/2014/main" id="{211CF6C4-DEB7-C829-F537-7C4652050E67}"/>
                </a:ext>
              </a:extLst>
            </p:cNvPr>
            <p:cNvSpPr txBox="1"/>
            <p:nvPr/>
          </p:nvSpPr>
          <p:spPr>
            <a:xfrm>
              <a:off x="0" y="-38100"/>
              <a:ext cx="3012298" cy="264155"/>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a:extLst>
              <a:ext uri="{FF2B5EF4-FFF2-40B4-BE49-F238E27FC236}">
                <a16:creationId xmlns:a16="http://schemas.microsoft.com/office/drawing/2014/main" id="{0A1027F3-5418-EDAA-9F68-8B6635B9A80C}"/>
              </a:ext>
            </a:extLst>
          </p:cNvPr>
          <p:cNvSpPr txBox="1"/>
          <p:nvPr/>
        </p:nvSpPr>
        <p:spPr>
          <a:xfrm>
            <a:off x="6999201" y="346710"/>
            <a:ext cx="4430799"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12" name="TextBox 12">
            <a:extLst>
              <a:ext uri="{FF2B5EF4-FFF2-40B4-BE49-F238E27FC236}">
                <a16:creationId xmlns:a16="http://schemas.microsoft.com/office/drawing/2014/main" id="{5B271AAF-F057-E74B-91F5-9AD6AF58905D}"/>
              </a:ext>
            </a:extLst>
          </p:cNvPr>
          <p:cNvSpPr txBox="1"/>
          <p:nvPr/>
        </p:nvSpPr>
        <p:spPr>
          <a:xfrm>
            <a:off x="0" y="1681156"/>
            <a:ext cx="14713259" cy="763270"/>
          </a:xfrm>
          <a:prstGeom prst="rect">
            <a:avLst/>
          </a:prstGeom>
        </p:spPr>
        <p:txBody>
          <a:bodyPr lIns="0" tIns="0" rIns="0" bIns="0" rtlCol="0" anchor="t">
            <a:spAutoFit/>
          </a:bodyPr>
          <a:lstStyle/>
          <a:p>
            <a:pPr algn="ctr">
              <a:lnSpc>
                <a:spcPts val="6439"/>
              </a:lnSpc>
              <a:spcBef>
                <a:spcPct val="0"/>
              </a:spcBef>
            </a:pPr>
            <a:r>
              <a:rPr lang="en-US" sz="3999" b="1">
                <a:solidFill>
                  <a:srgbClr val="000000"/>
                </a:solidFill>
                <a:latin typeface="Canva Sans Bold"/>
                <a:ea typeface="Canva Sans Bold"/>
                <a:cs typeface="Canva Sans Bold"/>
                <a:sym typeface="Canva Sans Bold"/>
              </a:rPr>
              <a:t>Embedding Geometry: Where Do We Place the Sequences?​</a:t>
            </a:r>
          </a:p>
        </p:txBody>
      </p:sp>
      <p:sp>
        <p:nvSpPr>
          <p:cNvPr id="13" name="TextBox 13">
            <a:extLst>
              <a:ext uri="{FF2B5EF4-FFF2-40B4-BE49-F238E27FC236}">
                <a16:creationId xmlns:a16="http://schemas.microsoft.com/office/drawing/2014/main" id="{1ABD9475-CBA2-B043-E30F-204B7C732742}"/>
              </a:ext>
            </a:extLst>
          </p:cNvPr>
          <p:cNvSpPr txBox="1"/>
          <p:nvPr/>
        </p:nvSpPr>
        <p:spPr>
          <a:xfrm>
            <a:off x="675345" y="2511101"/>
            <a:ext cx="17373972" cy="9144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Canva Sans"/>
                <a:ea typeface="Canva Sans"/>
                <a:cs typeface="Canva Sans"/>
                <a:sym typeface="Canva Sans"/>
              </a:rPr>
              <a:t>The distance function d between the embedded points defines the geometry of the embedding space</a:t>
            </a:r>
          </a:p>
        </p:txBody>
      </p:sp>
      <p:sp>
        <p:nvSpPr>
          <p:cNvPr id="14" name="TextBox 14">
            <a:extLst>
              <a:ext uri="{FF2B5EF4-FFF2-40B4-BE49-F238E27FC236}">
                <a16:creationId xmlns:a16="http://schemas.microsoft.com/office/drawing/2014/main" id="{116152AF-B3E2-CE66-32F2-EB85636D5F56}"/>
              </a:ext>
            </a:extLst>
          </p:cNvPr>
          <p:cNvSpPr txBox="1"/>
          <p:nvPr/>
        </p:nvSpPr>
        <p:spPr>
          <a:xfrm>
            <a:off x="675345" y="3568376"/>
            <a:ext cx="16726272" cy="914400"/>
          </a:xfrm>
          <a:prstGeom prst="rect">
            <a:avLst/>
          </a:prstGeom>
        </p:spPr>
        <p:txBody>
          <a:bodyPr lIns="0" tIns="0" rIns="0" bIns="0" rtlCol="0" anchor="t">
            <a:spAutoFit/>
          </a:bodyPr>
          <a:lstStyle/>
          <a:p>
            <a:pPr marL="647700" lvl="1" indent="-323850" algn="l">
              <a:lnSpc>
                <a:spcPts val="3600"/>
              </a:lnSpc>
              <a:buFont typeface="Arial"/>
              <a:buChar char="•"/>
            </a:pPr>
            <a:r>
              <a:rPr lang="en-US" sz="3000">
                <a:solidFill>
                  <a:srgbClr val="000000"/>
                </a:solidFill>
                <a:latin typeface="Canva Sans"/>
                <a:ea typeface="Canva Sans"/>
                <a:cs typeface="Canva Sans"/>
                <a:sym typeface="Canva Sans"/>
              </a:rPr>
              <a:t>The choice of geometry really affects how well distances between sequences are preserved</a:t>
            </a:r>
          </a:p>
        </p:txBody>
      </p:sp>
      <p:grpSp>
        <p:nvGrpSpPr>
          <p:cNvPr id="15" name="Group 15">
            <a:extLst>
              <a:ext uri="{FF2B5EF4-FFF2-40B4-BE49-F238E27FC236}">
                <a16:creationId xmlns:a16="http://schemas.microsoft.com/office/drawing/2014/main" id="{625EEAD5-541D-5EEF-CE2A-BFA46326451B}"/>
              </a:ext>
            </a:extLst>
          </p:cNvPr>
          <p:cNvGrpSpPr/>
          <p:nvPr/>
        </p:nvGrpSpPr>
        <p:grpSpPr>
          <a:xfrm>
            <a:off x="211822" y="4780432"/>
            <a:ext cx="5048605" cy="2043904"/>
            <a:chOff x="-1" y="-85725"/>
            <a:chExt cx="6731473" cy="2725205"/>
          </a:xfrm>
        </p:grpSpPr>
        <p:sp>
          <p:nvSpPr>
            <p:cNvPr id="16" name="TextBox 16">
              <a:extLst>
                <a:ext uri="{FF2B5EF4-FFF2-40B4-BE49-F238E27FC236}">
                  <a16:creationId xmlns:a16="http://schemas.microsoft.com/office/drawing/2014/main" id="{93B52CC8-39BB-A685-97FE-85B4608F298D}"/>
                </a:ext>
              </a:extLst>
            </p:cNvPr>
            <p:cNvSpPr txBox="1"/>
            <p:nvPr/>
          </p:nvSpPr>
          <p:spPr>
            <a:xfrm>
              <a:off x="-1" y="-85725"/>
              <a:ext cx="1923652" cy="508847"/>
            </a:xfrm>
            <a:prstGeom prst="rect">
              <a:avLst/>
            </a:prstGeom>
          </p:spPr>
          <p:txBody>
            <a:bodyPr wrap="square" lIns="0" tIns="0" rIns="0" bIns="0" rtlCol="0" anchor="t">
              <a:spAutoFit/>
            </a:bodyPr>
            <a:lstStyle/>
            <a:p>
              <a:pPr algn="ctr">
                <a:lnSpc>
                  <a:spcPts val="3220"/>
                </a:lnSpc>
                <a:spcBef>
                  <a:spcPct val="0"/>
                </a:spcBef>
              </a:pPr>
              <a:r>
                <a:rPr lang="en-US" sz="2000" b="1">
                  <a:solidFill>
                    <a:srgbClr val="000000"/>
                  </a:solidFill>
                  <a:latin typeface="Canva Sans Bold"/>
                  <a:ea typeface="Canva Sans Bold"/>
                  <a:cs typeface="Canva Sans Bold"/>
                  <a:sym typeface="Canva Sans Bold"/>
                </a:rPr>
                <a:t>Euclidean​</a:t>
              </a:r>
            </a:p>
          </p:txBody>
        </p:sp>
        <p:sp>
          <p:nvSpPr>
            <p:cNvPr id="17" name="TextBox 17">
              <a:extLst>
                <a:ext uri="{FF2B5EF4-FFF2-40B4-BE49-F238E27FC236}">
                  <a16:creationId xmlns:a16="http://schemas.microsoft.com/office/drawing/2014/main" id="{CC66F1C3-5451-6619-D2CD-10D01C9DF387}"/>
                </a:ext>
              </a:extLst>
            </p:cNvPr>
            <p:cNvSpPr txBox="1"/>
            <p:nvPr/>
          </p:nvSpPr>
          <p:spPr>
            <a:xfrm>
              <a:off x="16371" y="499322"/>
              <a:ext cx="6715101" cy="2140158"/>
            </a:xfrm>
            <a:prstGeom prst="rect">
              <a:avLst/>
            </a:prstGeom>
          </p:spPr>
          <p:txBody>
            <a:bodyPr lIns="0" tIns="0" rIns="0" bIns="0" rtlCol="0" anchor="t">
              <a:spAutoFit/>
            </a:bodyPr>
            <a:lstStyle/>
            <a:p>
              <a:pPr marL="431800" lvl="1" indent="-215900" algn="l">
                <a:lnSpc>
                  <a:spcPts val="3220"/>
                </a:lnSpc>
                <a:buFont typeface="Arial"/>
                <a:buChar char="•"/>
              </a:pPr>
              <a:r>
                <a:rPr lang="en-US" sz="2000">
                  <a:solidFill>
                    <a:srgbClr val="000000"/>
                  </a:solidFill>
                  <a:latin typeface="Canva Sans"/>
                  <a:ea typeface="Canva Sans"/>
                  <a:cs typeface="Canva Sans"/>
                  <a:sym typeface="Canva Sans"/>
                </a:rPr>
                <a:t> Simple and widely used baseline ​</a:t>
              </a:r>
              <a:endParaRPr lang="en-US">
                <a:ea typeface="Calibri"/>
                <a:cs typeface="Calibri"/>
              </a:endParaRPr>
            </a:p>
            <a:p>
              <a:pPr marL="431800" lvl="1" indent="-215900" algn="l">
                <a:lnSpc>
                  <a:spcPts val="3220"/>
                </a:lnSpc>
                <a:buFont typeface="Arial"/>
                <a:buChar char="•"/>
              </a:pPr>
              <a:r>
                <a:rPr lang="en-US" sz="2000">
                  <a:solidFill>
                    <a:srgbClr val="000000"/>
                  </a:solidFill>
                  <a:latin typeface="Canva Sans"/>
                  <a:ea typeface="Canva Sans"/>
                  <a:cs typeface="Canva Sans"/>
                  <a:sym typeface="Canva Sans"/>
                </a:rPr>
                <a:t> Works well for flat, uniform data ​</a:t>
              </a:r>
              <a:endParaRPr lang="en-US" sz="2000">
                <a:solidFill>
                  <a:srgbClr val="000000"/>
                </a:solidFill>
                <a:latin typeface="Canva Sans"/>
                <a:ea typeface="Canva Sans"/>
                <a:cs typeface="Canva Sans"/>
              </a:endParaRPr>
            </a:p>
            <a:p>
              <a:pPr marL="431800" lvl="1" indent="-215900" algn="l">
                <a:lnSpc>
                  <a:spcPts val="3220"/>
                </a:lnSpc>
                <a:buFont typeface="Arial"/>
                <a:buChar char="•"/>
              </a:pPr>
              <a:r>
                <a:rPr lang="en-US" sz="2000">
                  <a:solidFill>
                    <a:srgbClr val="000000"/>
                  </a:solidFill>
                  <a:latin typeface="Canva Sans"/>
                  <a:ea typeface="Canva Sans"/>
                  <a:cs typeface="Canva Sans"/>
                  <a:sym typeface="Canva Sans"/>
                </a:rPr>
                <a:t> Struggles to represent hierarchical relationships</a:t>
              </a:r>
              <a:endParaRPr lang="en-US" sz="2000">
                <a:solidFill>
                  <a:srgbClr val="000000"/>
                </a:solidFill>
                <a:latin typeface="Canva Sans"/>
                <a:ea typeface="Canva Sans"/>
                <a:cs typeface="Canva Sans"/>
              </a:endParaRPr>
            </a:p>
          </p:txBody>
        </p:sp>
      </p:grpSp>
      <p:grpSp>
        <p:nvGrpSpPr>
          <p:cNvPr id="18" name="Group 18">
            <a:extLst>
              <a:ext uri="{FF2B5EF4-FFF2-40B4-BE49-F238E27FC236}">
                <a16:creationId xmlns:a16="http://schemas.microsoft.com/office/drawing/2014/main" id="{89FBB764-DBDE-9B4C-810B-FB7FB57F5153}"/>
              </a:ext>
            </a:extLst>
          </p:cNvPr>
          <p:cNvGrpSpPr/>
          <p:nvPr/>
        </p:nvGrpSpPr>
        <p:grpSpPr>
          <a:xfrm>
            <a:off x="334287" y="6952158"/>
            <a:ext cx="5558432" cy="2042238"/>
            <a:chOff x="0" y="-85725"/>
            <a:chExt cx="7411243" cy="2722983"/>
          </a:xfrm>
        </p:grpSpPr>
        <p:sp>
          <p:nvSpPr>
            <p:cNvPr id="19" name="TextBox 19">
              <a:extLst>
                <a:ext uri="{FF2B5EF4-FFF2-40B4-BE49-F238E27FC236}">
                  <a16:creationId xmlns:a16="http://schemas.microsoft.com/office/drawing/2014/main" id="{8BF2F195-6FD1-CE9F-F846-126E690A68AA}"/>
                </a:ext>
              </a:extLst>
            </p:cNvPr>
            <p:cNvSpPr txBox="1"/>
            <p:nvPr/>
          </p:nvSpPr>
          <p:spPr>
            <a:xfrm>
              <a:off x="61912" y="499323"/>
              <a:ext cx="7349331" cy="2137935"/>
            </a:xfrm>
            <a:prstGeom prst="rect">
              <a:avLst/>
            </a:prstGeom>
          </p:spPr>
          <p:txBody>
            <a:bodyPr lIns="0" tIns="0" rIns="0" bIns="0" rtlCol="0" anchor="t">
              <a:spAutoFit/>
            </a:bodyPr>
            <a:lstStyle/>
            <a:p>
              <a:pPr marL="431800" lvl="1" indent="-215900" algn="l">
                <a:lnSpc>
                  <a:spcPts val="3220"/>
                </a:lnSpc>
                <a:buFont typeface="Arial"/>
                <a:buChar char="•"/>
              </a:pPr>
              <a:r>
                <a:rPr lang="en-US" sz="2000">
                  <a:solidFill>
                    <a:srgbClr val="000000"/>
                  </a:solidFill>
                  <a:latin typeface="Canva Sans"/>
                  <a:ea typeface="Canva Sans"/>
                  <a:cs typeface="Canva Sans"/>
                  <a:sym typeface="Canva Sans"/>
                </a:rPr>
                <a:t> Compares direction, not magnitude ​</a:t>
              </a:r>
              <a:endParaRPr lang="en-US">
                <a:ea typeface="Calibri"/>
                <a:cs typeface="Calibri"/>
              </a:endParaRPr>
            </a:p>
            <a:p>
              <a:pPr marL="431800" lvl="1" indent="-215900">
                <a:lnSpc>
                  <a:spcPts val="3220"/>
                </a:lnSpc>
                <a:buFont typeface="Arial"/>
                <a:buChar char="•"/>
              </a:pPr>
              <a:r>
                <a:rPr lang="en-US" sz="2000">
                  <a:solidFill>
                    <a:srgbClr val="000000"/>
                  </a:solidFill>
                  <a:latin typeface="Canva Sans"/>
                  <a:ea typeface="Canva Sans"/>
                  <a:cs typeface="Canva Sans"/>
                  <a:sym typeface="Canva Sans"/>
                </a:rPr>
                <a:t> Useful when embeddings are normalized ​</a:t>
              </a:r>
            </a:p>
            <a:p>
              <a:pPr marL="431800" lvl="1" indent="-215900">
                <a:lnSpc>
                  <a:spcPts val="3220"/>
                </a:lnSpc>
                <a:buFont typeface="Arial"/>
                <a:buChar char="•"/>
              </a:pPr>
              <a:r>
                <a:rPr lang="en-US" sz="2000">
                  <a:solidFill>
                    <a:srgbClr val="000000"/>
                  </a:solidFill>
                  <a:latin typeface="Canva Sans"/>
                  <a:ea typeface="Canva Sans"/>
                  <a:cs typeface="Canva Sans"/>
                  <a:sym typeface="Canva Sans"/>
                </a:rPr>
                <a:t> Ignores hierarchical depth differences ​</a:t>
              </a:r>
              <a:endParaRPr lang="en-US" sz="2000">
                <a:solidFill>
                  <a:srgbClr val="000000"/>
                </a:solidFill>
                <a:latin typeface="Canva Sans"/>
                <a:ea typeface="Canva Sans"/>
                <a:cs typeface="Canva Sans"/>
              </a:endParaRPr>
            </a:p>
          </p:txBody>
        </p:sp>
        <p:sp>
          <p:nvSpPr>
            <p:cNvPr id="20" name="TextBox 20">
              <a:extLst>
                <a:ext uri="{FF2B5EF4-FFF2-40B4-BE49-F238E27FC236}">
                  <a16:creationId xmlns:a16="http://schemas.microsoft.com/office/drawing/2014/main" id="{04367561-B374-D8C7-F18F-5CC0DCE1F5F3}"/>
                </a:ext>
              </a:extLst>
            </p:cNvPr>
            <p:cNvSpPr txBox="1"/>
            <p:nvPr/>
          </p:nvSpPr>
          <p:spPr>
            <a:xfrm>
              <a:off x="0" y="-85725"/>
              <a:ext cx="1207294" cy="480271"/>
            </a:xfrm>
            <a:prstGeom prst="rect">
              <a:avLst/>
            </a:prstGeom>
          </p:spPr>
          <p:txBody>
            <a:bodyPr lIns="0" tIns="0" rIns="0" bIns="0" rtlCol="0" anchor="t">
              <a:spAutoFit/>
            </a:bodyPr>
            <a:lstStyle/>
            <a:p>
              <a:pPr algn="ctr">
                <a:lnSpc>
                  <a:spcPts val="3220"/>
                </a:lnSpc>
                <a:spcBef>
                  <a:spcPct val="0"/>
                </a:spcBef>
              </a:pPr>
              <a:r>
                <a:rPr lang="en-US" sz="2000" b="1">
                  <a:solidFill>
                    <a:srgbClr val="000000"/>
                  </a:solidFill>
                  <a:latin typeface="Canva Sans Bold"/>
                  <a:ea typeface="Canva Sans Bold"/>
                  <a:cs typeface="Canva Sans Bold"/>
                  <a:sym typeface="Canva Sans Bold"/>
                </a:rPr>
                <a:t>Cosine ​</a:t>
              </a:r>
            </a:p>
          </p:txBody>
        </p:sp>
      </p:grpSp>
      <p:sp>
        <p:nvSpPr>
          <p:cNvPr id="21" name="TextBox 21">
            <a:extLst>
              <a:ext uri="{FF2B5EF4-FFF2-40B4-BE49-F238E27FC236}">
                <a16:creationId xmlns:a16="http://schemas.microsoft.com/office/drawing/2014/main" id="{7730DDD6-DC8C-3751-2665-E2098F81074E}"/>
              </a:ext>
            </a:extLst>
          </p:cNvPr>
          <p:cNvSpPr txBox="1"/>
          <p:nvPr/>
        </p:nvSpPr>
        <p:spPr>
          <a:xfrm>
            <a:off x="5591269" y="4895073"/>
            <a:ext cx="1442740" cy="381635"/>
          </a:xfrm>
          <a:prstGeom prst="rect">
            <a:avLst/>
          </a:prstGeom>
        </p:spPr>
        <p:txBody>
          <a:bodyPr lIns="0" tIns="0" rIns="0" bIns="0" rtlCol="0" anchor="t">
            <a:spAutoFit/>
          </a:bodyPr>
          <a:lstStyle/>
          <a:p>
            <a:pPr algn="ctr">
              <a:lnSpc>
                <a:spcPts val="3220"/>
              </a:lnSpc>
              <a:spcBef>
                <a:spcPct val="0"/>
              </a:spcBef>
            </a:pPr>
            <a:r>
              <a:rPr lang="en-US" sz="2000" b="1">
                <a:solidFill>
                  <a:srgbClr val="000000"/>
                </a:solidFill>
                <a:latin typeface="Canva Sans Bold"/>
                <a:ea typeface="Canva Sans Bold"/>
                <a:cs typeface="Canva Sans Bold"/>
                <a:sym typeface="Canva Sans Bold"/>
              </a:rPr>
              <a:t>Hyperbolic </a:t>
            </a:r>
          </a:p>
        </p:txBody>
      </p:sp>
      <p:sp>
        <p:nvSpPr>
          <p:cNvPr id="22" name="TextBox 22">
            <a:extLst>
              <a:ext uri="{FF2B5EF4-FFF2-40B4-BE49-F238E27FC236}">
                <a16:creationId xmlns:a16="http://schemas.microsoft.com/office/drawing/2014/main" id="{42AB9431-E43D-21F1-CB68-61BBAFFA170B}"/>
              </a:ext>
            </a:extLst>
          </p:cNvPr>
          <p:cNvSpPr txBox="1"/>
          <p:nvPr/>
        </p:nvSpPr>
        <p:spPr>
          <a:xfrm>
            <a:off x="5591269" y="5333858"/>
            <a:ext cx="5153193" cy="2013821"/>
          </a:xfrm>
          <a:prstGeom prst="rect">
            <a:avLst/>
          </a:prstGeom>
        </p:spPr>
        <p:txBody>
          <a:bodyPr lIns="0" tIns="0" rIns="0" bIns="0" rtlCol="0" anchor="t">
            <a:spAutoFit/>
          </a:bodyPr>
          <a:lstStyle/>
          <a:p>
            <a:pPr marL="431800" lvl="1" indent="-215900" algn="l">
              <a:lnSpc>
                <a:spcPts val="3220"/>
              </a:lnSpc>
              <a:buFont typeface="Arial"/>
              <a:buChar char="•"/>
            </a:pPr>
            <a:r>
              <a:rPr lang="en-US" sz="2000">
                <a:solidFill>
                  <a:srgbClr val="000000"/>
                </a:solidFill>
                <a:latin typeface="Canva Sans"/>
                <a:ea typeface="Canva Sans"/>
                <a:cs typeface="Canva Sans"/>
                <a:sym typeface="Canva Sans"/>
              </a:rPr>
              <a:t> Distance grows rapidly near boundary </a:t>
            </a:r>
            <a:endParaRPr lang="en-US"/>
          </a:p>
          <a:p>
            <a:pPr marL="431800" lvl="1" indent="-215900" algn="l">
              <a:lnSpc>
                <a:spcPts val="3220"/>
              </a:lnSpc>
              <a:buFont typeface="Arial"/>
              <a:buChar char="•"/>
            </a:pPr>
            <a:r>
              <a:rPr lang="en-US" sz="2000">
                <a:solidFill>
                  <a:srgbClr val="000000"/>
                </a:solidFill>
                <a:latin typeface="Canva Sans"/>
                <a:ea typeface="Canva Sans"/>
                <a:cs typeface="Canva Sans"/>
                <a:sym typeface="Canva Sans"/>
              </a:rPr>
              <a:t> Naturally models exponential expansion ​</a:t>
            </a:r>
            <a:endParaRPr lang="en-US" sz="2000">
              <a:solidFill>
                <a:srgbClr val="000000"/>
              </a:solidFill>
              <a:latin typeface="Canva Sans"/>
              <a:ea typeface="Canva Sans"/>
              <a:cs typeface="Canva Sans"/>
            </a:endParaRPr>
          </a:p>
          <a:p>
            <a:pPr marL="431800" lvl="1" indent="-215900" algn="l">
              <a:lnSpc>
                <a:spcPts val="3220"/>
              </a:lnSpc>
              <a:buFont typeface="Arial"/>
              <a:buChar char="•"/>
            </a:pPr>
            <a:r>
              <a:rPr lang="en-US" sz="2000">
                <a:solidFill>
                  <a:srgbClr val="000000"/>
                </a:solidFill>
                <a:latin typeface="Canva Sans"/>
                <a:ea typeface="Canva Sans"/>
                <a:cs typeface="Canva Sans"/>
                <a:sym typeface="Canva Sans"/>
              </a:rPr>
              <a:t> Captures hierarchical / tree-like relationships ​</a:t>
            </a:r>
            <a:endParaRPr lang="en-US" sz="2000">
              <a:solidFill>
                <a:srgbClr val="000000"/>
              </a:solidFill>
              <a:latin typeface="Canva Sans"/>
              <a:ea typeface="Canva Sans"/>
              <a:cs typeface="Canva Sans"/>
            </a:endParaRPr>
          </a:p>
        </p:txBody>
      </p:sp>
      <p:sp>
        <p:nvSpPr>
          <p:cNvPr id="23" name="TextBox 23">
            <a:extLst>
              <a:ext uri="{FF2B5EF4-FFF2-40B4-BE49-F238E27FC236}">
                <a16:creationId xmlns:a16="http://schemas.microsoft.com/office/drawing/2014/main" id="{C194B8AE-AED8-A1E9-2AE9-FDD90550EF4F}"/>
              </a:ext>
            </a:extLst>
          </p:cNvPr>
          <p:cNvSpPr txBox="1"/>
          <p:nvPr/>
        </p:nvSpPr>
        <p:spPr>
          <a:xfrm>
            <a:off x="10785976" y="9678036"/>
            <a:ext cx="6696919"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pic>
        <p:nvPicPr>
          <p:cNvPr id="24" name="Picture 23">
            <a:extLst>
              <a:ext uri="{FF2B5EF4-FFF2-40B4-BE49-F238E27FC236}">
                <a16:creationId xmlns:a16="http://schemas.microsoft.com/office/drawing/2014/main" id="{FCDBA689-FF22-6417-BC01-FDF60AD517C8}"/>
              </a:ext>
            </a:extLst>
          </p:cNvPr>
          <p:cNvPicPr>
            <a:picLocks noChangeAspect="1"/>
          </p:cNvPicPr>
          <p:nvPr/>
        </p:nvPicPr>
        <p:blipFill>
          <a:blip r:embed="rId2"/>
          <a:stretch>
            <a:fillRect/>
          </a:stretch>
        </p:blipFill>
        <p:spPr>
          <a:xfrm>
            <a:off x="11051042" y="5814332"/>
            <a:ext cx="7017204" cy="2155372"/>
          </a:xfrm>
          <a:prstGeom prst="rect">
            <a:avLst/>
          </a:prstGeom>
        </p:spPr>
      </p:pic>
      <p:pic>
        <p:nvPicPr>
          <p:cNvPr id="26" name="Picture 25" descr="A mathematical equation with black text&#10;&#10;AI-generated content may be incorrect.">
            <a:extLst>
              <a:ext uri="{FF2B5EF4-FFF2-40B4-BE49-F238E27FC236}">
                <a16:creationId xmlns:a16="http://schemas.microsoft.com/office/drawing/2014/main" id="{4FA42CD4-1262-E3DA-560B-6262C65AA7E9}"/>
              </a:ext>
            </a:extLst>
          </p:cNvPr>
          <p:cNvPicPr>
            <a:picLocks noChangeAspect="1"/>
          </p:cNvPicPr>
          <p:nvPr/>
        </p:nvPicPr>
        <p:blipFill>
          <a:blip r:embed="rId3"/>
          <a:stretch>
            <a:fillRect/>
          </a:stretch>
        </p:blipFill>
        <p:spPr>
          <a:xfrm>
            <a:off x="11051041" y="4335236"/>
            <a:ext cx="7017310" cy="1494064"/>
          </a:xfrm>
          <a:prstGeom prst="rect">
            <a:avLst/>
          </a:prstGeom>
        </p:spPr>
      </p:pic>
      <p:sp>
        <p:nvSpPr>
          <p:cNvPr id="28" name="Rectangle 27">
            <a:extLst>
              <a:ext uri="{FF2B5EF4-FFF2-40B4-BE49-F238E27FC236}">
                <a16:creationId xmlns:a16="http://schemas.microsoft.com/office/drawing/2014/main" id="{4DF9A38B-ACDC-4F62-94CC-7D456BE765FF}"/>
              </a:ext>
            </a:extLst>
          </p:cNvPr>
          <p:cNvSpPr/>
          <p:nvPr/>
        </p:nvSpPr>
        <p:spPr>
          <a:xfrm>
            <a:off x="11051993" y="4335222"/>
            <a:ext cx="7017464" cy="36332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1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10" presetClass="entr" presetSubtype="0" fill="hold"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3" grpId="0"/>
      <p:bldP spid="14" grpId="0"/>
      <p:bldP spid="21" grpId="0"/>
      <p:bldP spid="22" grpId="0"/>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999201" y="346710"/>
            <a:ext cx="4430799"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6" name="TextBox 6"/>
          <p:cNvSpPr txBox="1"/>
          <p:nvPr/>
        </p:nvSpPr>
        <p:spPr>
          <a:xfrm>
            <a:off x="215732" y="1773870"/>
            <a:ext cx="12052468" cy="763270"/>
          </a:xfrm>
          <a:prstGeom prst="rect">
            <a:avLst/>
          </a:prstGeom>
        </p:spPr>
        <p:txBody>
          <a:bodyPr wrap="square" lIns="0" tIns="0" rIns="0" bIns="0" rtlCol="0" anchor="t">
            <a:spAutoFit/>
          </a:bodyPr>
          <a:lstStyle/>
          <a:p>
            <a:pPr algn="ctr">
              <a:lnSpc>
                <a:spcPts val="6439"/>
              </a:lnSpc>
              <a:spcBef>
                <a:spcPct val="0"/>
              </a:spcBef>
            </a:pPr>
            <a:r>
              <a:rPr lang="en-US" sz="3999" b="1">
                <a:solidFill>
                  <a:srgbClr val="000000"/>
                </a:solidFill>
                <a:latin typeface="Canva Sans Bold"/>
                <a:ea typeface="Canva Sans Bold"/>
                <a:cs typeface="Canva Sans Bold"/>
                <a:sym typeface="Canva Sans Bold"/>
              </a:rPr>
              <a:t>Dataset Structure &amp; Synthetic Data Generation</a:t>
            </a:r>
          </a:p>
        </p:txBody>
      </p:sp>
      <p:sp>
        <p:nvSpPr>
          <p:cNvPr id="7" name="TextBox 7"/>
          <p:cNvSpPr txBox="1"/>
          <p:nvPr/>
        </p:nvSpPr>
        <p:spPr>
          <a:xfrm>
            <a:off x="431042" y="4283550"/>
            <a:ext cx="5899249" cy="558486"/>
          </a:xfrm>
          <a:prstGeom prst="rect">
            <a:avLst/>
          </a:prstGeom>
        </p:spPr>
        <p:txBody>
          <a:bodyPr lIns="0" tIns="0" rIns="0" bIns="0" rtlCol="0" anchor="t">
            <a:spAutoFit/>
          </a:bodyPr>
          <a:lstStyle/>
          <a:p>
            <a:pPr algn="ctr">
              <a:lnSpc>
                <a:spcPts val="4830"/>
              </a:lnSpc>
              <a:spcBef>
                <a:spcPct val="0"/>
              </a:spcBef>
            </a:pPr>
            <a:r>
              <a:rPr lang="en-US" sz="3000" b="1">
                <a:solidFill>
                  <a:srgbClr val="000000"/>
                </a:solidFill>
                <a:latin typeface="Canva Sans Bold"/>
                <a:ea typeface="Canva Sans Bold"/>
                <a:cs typeface="Canva Sans Bold"/>
                <a:sym typeface="Canva Sans Bold"/>
              </a:rPr>
              <a:t>Real Biological Data ( 16SrRNA)​</a:t>
            </a:r>
          </a:p>
        </p:txBody>
      </p:sp>
      <p:sp>
        <p:nvSpPr>
          <p:cNvPr id="8" name="TextBox 8"/>
          <p:cNvSpPr txBox="1"/>
          <p:nvPr/>
        </p:nvSpPr>
        <p:spPr>
          <a:xfrm>
            <a:off x="9211142" y="4283550"/>
            <a:ext cx="6336292" cy="560987"/>
          </a:xfrm>
          <a:prstGeom prst="rect">
            <a:avLst/>
          </a:prstGeom>
        </p:spPr>
        <p:txBody>
          <a:bodyPr wrap="square" lIns="0" tIns="0" rIns="0" bIns="0" rtlCol="0" anchor="t">
            <a:spAutoFit/>
          </a:bodyPr>
          <a:lstStyle/>
          <a:p>
            <a:pPr algn="ctr">
              <a:lnSpc>
                <a:spcPts val="4830"/>
              </a:lnSpc>
              <a:spcBef>
                <a:spcPct val="0"/>
              </a:spcBef>
            </a:pPr>
            <a:r>
              <a:rPr lang="en-US" sz="3000" b="1">
                <a:solidFill>
                  <a:srgbClr val="000000"/>
                </a:solidFill>
                <a:latin typeface="Canva Sans Bold"/>
                <a:ea typeface="Canva Sans Bold"/>
                <a:cs typeface="Canva Sans Bold"/>
                <a:sym typeface="Canva Sans Bold"/>
              </a:rPr>
              <a:t>Synthetic Data Generation</a:t>
            </a:r>
          </a:p>
        </p:txBody>
      </p:sp>
      <p:sp>
        <p:nvSpPr>
          <p:cNvPr id="9" name="TextBox 9"/>
          <p:cNvSpPr txBox="1"/>
          <p:nvPr/>
        </p:nvSpPr>
        <p:spPr>
          <a:xfrm>
            <a:off x="315123" y="5144030"/>
            <a:ext cx="8902296" cy="4013200"/>
          </a:xfrm>
          <a:prstGeom prst="rect">
            <a:avLst/>
          </a:prstGeom>
        </p:spPr>
        <p:txBody>
          <a:bodyPr lIns="0" tIns="0" rIns="0" bIns="0" rtlCol="0" anchor="t">
            <a:spAutoFit/>
          </a:bodyPr>
          <a:lstStyle/>
          <a:p>
            <a:pPr marL="539749" lvl="1" indent="-269875" algn="l">
              <a:lnSpc>
                <a:spcPts val="4024"/>
              </a:lnSpc>
              <a:buAutoNum type="arabicPeriod"/>
            </a:pPr>
            <a:r>
              <a:rPr lang="en-US" sz="2499">
                <a:solidFill>
                  <a:srgbClr val="000000"/>
                </a:solidFill>
                <a:latin typeface="Canva Sans"/>
                <a:ea typeface="Canva Sans"/>
                <a:cs typeface="Canva Sans"/>
                <a:sym typeface="Canva Sans"/>
              </a:rPr>
              <a:t>Load raw FASTA file of 16S rRNA sequences​</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Clean &amp; filter:​</a:t>
            </a:r>
          </a:p>
          <a:p>
            <a:pPr marL="1079499" lvl="2" indent="-359833" algn="l">
              <a:lnSpc>
                <a:spcPts val="4024"/>
              </a:lnSpc>
              <a:buAutoNum type="alphaLcPeriod"/>
            </a:pPr>
            <a:r>
              <a:rPr lang="en-US" sz="2499">
                <a:solidFill>
                  <a:srgbClr val="000000"/>
                </a:solidFill>
                <a:latin typeface="Canva Sans"/>
                <a:ea typeface="Canva Sans"/>
                <a:cs typeface="Canva Sans"/>
                <a:sym typeface="Canva Sans"/>
              </a:rPr>
              <a:t>Remove duplicates​</a:t>
            </a:r>
          </a:p>
          <a:p>
            <a:pPr marL="1079499" lvl="2" indent="-359833" algn="l">
              <a:lnSpc>
                <a:spcPts val="4024"/>
              </a:lnSpc>
              <a:buAutoNum type="alphaLcPeriod"/>
            </a:pPr>
            <a:r>
              <a:rPr lang="en-US" sz="2499">
                <a:solidFill>
                  <a:srgbClr val="000000"/>
                </a:solidFill>
                <a:latin typeface="Canva Sans"/>
                <a:ea typeface="Canva Sans"/>
                <a:cs typeface="Canva Sans"/>
                <a:sym typeface="Canva Sans"/>
              </a:rPr>
              <a:t>Remove sequences with length &lt; 1200 bp​</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 Truncate / pad to fixed length 1500 bp​</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 Encode nucleotides (A/C/G/T/N → integers)​</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 Compute full pairwise Levenshtein distance matrix​</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 Split into train / validation / test sets​</a:t>
            </a:r>
          </a:p>
        </p:txBody>
      </p:sp>
      <p:sp>
        <p:nvSpPr>
          <p:cNvPr id="10" name="TextBox 10"/>
          <p:cNvSpPr txBox="1"/>
          <p:nvPr/>
        </p:nvSpPr>
        <p:spPr>
          <a:xfrm>
            <a:off x="9397501" y="5144030"/>
            <a:ext cx="8662343" cy="4013200"/>
          </a:xfrm>
          <a:prstGeom prst="rect">
            <a:avLst/>
          </a:prstGeom>
        </p:spPr>
        <p:txBody>
          <a:bodyPr lIns="0" tIns="0" rIns="0" bIns="0" rtlCol="0" anchor="t">
            <a:spAutoFit/>
          </a:bodyPr>
          <a:lstStyle/>
          <a:p>
            <a:pPr marL="539749" lvl="1" indent="-269875" algn="l">
              <a:lnSpc>
                <a:spcPts val="4024"/>
              </a:lnSpc>
              <a:buAutoNum type="arabicPeriod"/>
            </a:pPr>
            <a:r>
              <a:rPr lang="en-US" sz="2499">
                <a:solidFill>
                  <a:srgbClr val="000000"/>
                </a:solidFill>
                <a:latin typeface="Canva Sans"/>
                <a:ea typeface="Canva Sans"/>
                <a:cs typeface="Canva Sans"/>
                <a:sym typeface="Canva Sans"/>
              </a:rPr>
              <a:t>Start with random independent base sequences​</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 Iteratively generate new sequences in each batch:​</a:t>
            </a:r>
          </a:p>
          <a:p>
            <a:pPr marL="1079499" lvl="2" indent="-359833" algn="l">
              <a:lnSpc>
                <a:spcPts val="4024"/>
              </a:lnSpc>
              <a:buAutoNum type="alphaLcPeriod"/>
            </a:pPr>
            <a:r>
              <a:rPr lang="en-US" sz="2499">
                <a:solidFill>
                  <a:srgbClr val="000000"/>
                </a:solidFill>
                <a:latin typeface="Canva Sans"/>
                <a:ea typeface="Canva Sans"/>
                <a:cs typeface="Canva Sans"/>
                <a:sym typeface="Canva Sans"/>
              </a:rPr>
              <a:t>Pick a random “parent” sequence​</a:t>
            </a:r>
          </a:p>
          <a:p>
            <a:pPr marL="1079499" lvl="2" indent="-359833" algn="l">
              <a:lnSpc>
                <a:spcPts val="4024"/>
              </a:lnSpc>
              <a:buAutoNum type="alphaLcPeriod"/>
            </a:pPr>
            <a:r>
              <a:rPr lang="en-US" sz="2499">
                <a:solidFill>
                  <a:srgbClr val="000000"/>
                </a:solidFill>
                <a:latin typeface="Canva Sans"/>
                <a:ea typeface="Canva Sans"/>
                <a:cs typeface="Canva Sans"/>
                <a:sym typeface="Canva Sans"/>
              </a:rPr>
              <a:t>Apply k random mutations (insert/delete/substitute)​</a:t>
            </a:r>
          </a:p>
          <a:p>
            <a:pPr marL="1079499" lvl="2" indent="-359833" algn="l">
              <a:lnSpc>
                <a:spcPts val="4024"/>
              </a:lnSpc>
              <a:buAutoNum type="alphaLcPeriod"/>
            </a:pPr>
            <a:r>
              <a:rPr lang="en-US" sz="2499">
                <a:solidFill>
                  <a:srgbClr val="000000"/>
                </a:solidFill>
                <a:latin typeface="Canva Sans"/>
                <a:ea typeface="Canva Sans"/>
                <a:cs typeface="Canva Sans"/>
                <a:sym typeface="Canva Sans"/>
              </a:rPr>
              <a:t>k sampled from 1 + Geometric distribution​</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 Compute full pairwise edit distance matrix per batch​</a:t>
            </a:r>
          </a:p>
          <a:p>
            <a:pPr marL="539749" lvl="1" indent="-269875" algn="l">
              <a:lnSpc>
                <a:spcPts val="4024"/>
              </a:lnSpc>
              <a:buAutoNum type="arabicPeriod"/>
            </a:pPr>
            <a:r>
              <a:rPr lang="en-US" sz="2499">
                <a:solidFill>
                  <a:srgbClr val="000000"/>
                </a:solidFill>
                <a:latin typeface="Canva Sans"/>
                <a:ea typeface="Canva Sans"/>
                <a:cs typeface="Canva Sans"/>
                <a:sym typeface="Canva Sans"/>
              </a:rPr>
              <a:t> Generate thousands of independent batches.</a:t>
            </a:r>
          </a:p>
        </p:txBody>
      </p:sp>
      <p:sp>
        <p:nvSpPr>
          <p:cNvPr id="11" name="TextBox 11"/>
          <p:cNvSpPr txBox="1"/>
          <p:nvPr/>
        </p:nvSpPr>
        <p:spPr>
          <a:xfrm>
            <a:off x="431042" y="2855673"/>
            <a:ext cx="17373972" cy="914400"/>
          </a:xfrm>
          <a:prstGeom prst="rect">
            <a:avLst/>
          </a:prstGeom>
        </p:spPr>
        <p:txBody>
          <a:bodyPr lIns="0" tIns="0" rIns="0" bIns="0" rtlCol="0" anchor="t">
            <a:spAutoFit/>
          </a:bodyPr>
          <a:lstStyle/>
          <a:p>
            <a:pPr algn="l">
              <a:lnSpc>
                <a:spcPts val="3600"/>
              </a:lnSpc>
            </a:pPr>
            <a:r>
              <a:rPr lang="en-US" sz="3000">
                <a:solidFill>
                  <a:srgbClr val="000000"/>
                </a:solidFill>
                <a:latin typeface="Canva Sans"/>
                <a:ea typeface="Canva Sans"/>
                <a:cs typeface="Canva Sans"/>
                <a:sym typeface="Canva Sans"/>
              </a:rPr>
              <a:t>The significance of exploiting the low dimensional manifold that characterises real world biological data was demonstrated by training the model on two types of datasets</a:t>
            </a:r>
          </a:p>
        </p:txBody>
      </p:sp>
      <p:sp>
        <p:nvSpPr>
          <p:cNvPr id="12" name="TextBox 12"/>
          <p:cNvSpPr txBox="1"/>
          <p:nvPr/>
        </p:nvSpPr>
        <p:spPr>
          <a:xfrm>
            <a:off x="10785976" y="9678035"/>
            <a:ext cx="6740024"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273997" y="7634216"/>
            <a:ext cx="8193310" cy="1269963"/>
          </a:xfrm>
          <a:custGeom>
            <a:avLst/>
            <a:gdLst/>
            <a:ahLst/>
            <a:cxnLst/>
            <a:rect l="l" t="t" r="r" b="b"/>
            <a:pathLst>
              <a:path w="8193310" h="1269963">
                <a:moveTo>
                  <a:pt x="0" y="0"/>
                </a:moveTo>
                <a:lnTo>
                  <a:pt x="8193311" y="0"/>
                </a:lnTo>
                <a:lnTo>
                  <a:pt x="8193311" y="1269963"/>
                </a:lnTo>
                <a:lnTo>
                  <a:pt x="0" y="1269963"/>
                </a:lnTo>
                <a:lnTo>
                  <a:pt x="0" y="0"/>
                </a:lnTo>
                <a:close/>
              </a:path>
            </a:pathLst>
          </a:custGeom>
          <a:blipFill>
            <a:blip r:embed="rId2"/>
            <a:stretch>
              <a:fillRect/>
            </a:stretch>
          </a:blipFill>
          <a:ln w="19050" cap="sq">
            <a:solidFill>
              <a:srgbClr val="000000"/>
            </a:solidFill>
            <a:prstDash val="solid"/>
            <a:miter/>
          </a:ln>
        </p:spPr>
        <p:txBody>
          <a:bodyPr/>
          <a:lstStyle/>
          <a:p>
            <a:endParaRPr lang="en-IN"/>
          </a:p>
        </p:txBody>
      </p:sp>
      <p:sp>
        <p:nvSpPr>
          <p:cNvPr id="6" name="TextBox 6"/>
          <p:cNvSpPr txBox="1"/>
          <p:nvPr/>
        </p:nvSpPr>
        <p:spPr>
          <a:xfrm>
            <a:off x="6999201" y="346710"/>
            <a:ext cx="4506999"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7" name="TextBox 7"/>
          <p:cNvSpPr txBox="1"/>
          <p:nvPr/>
        </p:nvSpPr>
        <p:spPr>
          <a:xfrm>
            <a:off x="75748" y="1703543"/>
            <a:ext cx="9677851" cy="763270"/>
          </a:xfrm>
          <a:prstGeom prst="rect">
            <a:avLst/>
          </a:prstGeom>
        </p:spPr>
        <p:txBody>
          <a:bodyPr wrap="square" lIns="0" tIns="0" rIns="0" bIns="0" rtlCol="0" anchor="t">
            <a:spAutoFit/>
          </a:bodyPr>
          <a:lstStyle/>
          <a:p>
            <a:pPr algn="ctr">
              <a:lnSpc>
                <a:spcPts val="6439"/>
              </a:lnSpc>
              <a:spcBef>
                <a:spcPct val="0"/>
              </a:spcBef>
            </a:pPr>
            <a:r>
              <a:rPr lang="en-US" sz="3999" b="1">
                <a:solidFill>
                  <a:srgbClr val="000000"/>
                </a:solidFill>
                <a:latin typeface="Canva Sans Bold"/>
                <a:ea typeface="Canva Sans Bold"/>
                <a:cs typeface="Canva Sans Bold"/>
                <a:sym typeface="Canva Sans Bold"/>
              </a:rPr>
              <a:t>Neural Encoders &amp; Training Objective</a:t>
            </a:r>
          </a:p>
        </p:txBody>
      </p:sp>
      <p:sp>
        <p:nvSpPr>
          <p:cNvPr id="8" name="TextBox 8"/>
          <p:cNvSpPr txBox="1"/>
          <p:nvPr/>
        </p:nvSpPr>
        <p:spPr>
          <a:xfrm>
            <a:off x="186271" y="2475096"/>
            <a:ext cx="3438064" cy="457200"/>
          </a:xfrm>
          <a:prstGeom prst="rect">
            <a:avLst/>
          </a:prstGeom>
        </p:spPr>
        <p:txBody>
          <a:bodyPr lIns="0" tIns="0" rIns="0" bIns="0" rtlCol="0" anchor="t">
            <a:spAutoFit/>
          </a:bodyPr>
          <a:lstStyle/>
          <a:p>
            <a:pPr algn="l">
              <a:lnSpc>
                <a:spcPts val="3600"/>
              </a:lnSpc>
            </a:pPr>
            <a:r>
              <a:rPr lang="en-US" sz="3000" b="1">
                <a:solidFill>
                  <a:srgbClr val="000000"/>
                </a:solidFill>
                <a:latin typeface="Canva Sans Bold"/>
                <a:ea typeface="Canva Sans Bold"/>
                <a:cs typeface="Canva Sans Bold"/>
                <a:sym typeface="Canva Sans Bold"/>
              </a:rPr>
              <a:t>Encoder model:</a:t>
            </a:r>
            <a:r>
              <a:rPr lang="en-US" sz="3000">
                <a:solidFill>
                  <a:srgbClr val="000000"/>
                </a:solidFill>
                <a:latin typeface="Canva Sans"/>
                <a:ea typeface="Canva Sans"/>
                <a:cs typeface="Canva Sans"/>
                <a:sym typeface="Canva Sans"/>
              </a:rPr>
              <a:t> </a:t>
            </a:r>
          </a:p>
        </p:txBody>
      </p:sp>
      <p:sp>
        <p:nvSpPr>
          <p:cNvPr id="9" name="TextBox 9"/>
          <p:cNvSpPr txBox="1"/>
          <p:nvPr/>
        </p:nvSpPr>
        <p:spPr>
          <a:xfrm>
            <a:off x="189314" y="3885068"/>
            <a:ext cx="1106085" cy="465384"/>
          </a:xfrm>
          <a:prstGeom prst="rect">
            <a:avLst/>
          </a:prstGeom>
        </p:spPr>
        <p:txBody>
          <a:bodyPr wrap="square" lIns="0" tIns="0" rIns="0" bIns="0" rtlCol="0" anchor="t">
            <a:spAutoFit/>
          </a:bodyPr>
          <a:lstStyle/>
          <a:p>
            <a:pPr algn="ctr">
              <a:lnSpc>
                <a:spcPts val="4024"/>
              </a:lnSpc>
              <a:spcBef>
                <a:spcPct val="0"/>
              </a:spcBef>
            </a:pPr>
            <a:r>
              <a:rPr lang="en-US" sz="2499" b="1">
                <a:solidFill>
                  <a:srgbClr val="000000"/>
                </a:solidFill>
                <a:latin typeface="Canva Sans Bold"/>
                <a:ea typeface="Canva Sans Bold"/>
                <a:cs typeface="Canva Sans Bold"/>
                <a:sym typeface="Canva Sans Bold"/>
              </a:rPr>
              <a:t>Linear​</a:t>
            </a:r>
          </a:p>
        </p:txBody>
      </p:sp>
      <p:sp>
        <p:nvSpPr>
          <p:cNvPr id="10" name="TextBox 10"/>
          <p:cNvSpPr txBox="1"/>
          <p:nvPr/>
        </p:nvSpPr>
        <p:spPr>
          <a:xfrm>
            <a:off x="189315" y="4364492"/>
            <a:ext cx="5431465" cy="1485900"/>
          </a:xfrm>
          <a:prstGeom prst="rect">
            <a:avLst/>
          </a:prstGeom>
        </p:spPr>
        <p:txBody>
          <a:bodyPr lIns="0" tIns="0" rIns="0" bIns="0" rtlCol="0" anchor="t">
            <a:spAutoFit/>
          </a:bodyPr>
          <a:lstStyle/>
          <a:p>
            <a:pPr marL="539749" lvl="1" indent="-269875" algn="l">
              <a:lnSpc>
                <a:spcPts val="2999"/>
              </a:lnSpc>
              <a:buFont typeface="Arial"/>
              <a:buChar char="•"/>
            </a:pPr>
            <a:r>
              <a:rPr lang="en-US" sz="2499">
                <a:solidFill>
                  <a:srgbClr val="000000"/>
                </a:solidFill>
                <a:latin typeface="Canva Sans"/>
                <a:ea typeface="Canva Sans"/>
                <a:cs typeface="Canva Sans"/>
                <a:sym typeface="Canva Sans"/>
              </a:rPr>
              <a:t>Simplest baseline encoder ​ </a:t>
            </a:r>
          </a:p>
          <a:p>
            <a:pPr marL="539749" lvl="1" indent="-269875" algn="l">
              <a:lnSpc>
                <a:spcPts val="2999"/>
              </a:lnSpc>
              <a:buFont typeface="Arial"/>
              <a:buChar char="•"/>
            </a:pPr>
            <a:r>
              <a:rPr lang="en-US" sz="2499">
                <a:solidFill>
                  <a:srgbClr val="000000"/>
                </a:solidFill>
                <a:latin typeface="Canva Sans"/>
                <a:ea typeface="Canva Sans"/>
                <a:cs typeface="Canva Sans"/>
                <a:sym typeface="Canva Sans"/>
              </a:rPr>
              <a:t>Direct mapping from sequence features ​</a:t>
            </a:r>
          </a:p>
          <a:p>
            <a:pPr marL="539749" lvl="1" indent="-269875" algn="l">
              <a:lnSpc>
                <a:spcPts val="2999"/>
              </a:lnSpc>
              <a:buFont typeface="Arial"/>
              <a:buChar char="•"/>
            </a:pPr>
            <a:r>
              <a:rPr lang="en-US" sz="2499">
                <a:solidFill>
                  <a:srgbClr val="000000"/>
                </a:solidFill>
                <a:latin typeface="Canva Sans"/>
                <a:ea typeface="Canva Sans"/>
                <a:cs typeface="Canva Sans"/>
                <a:sym typeface="Canva Sans"/>
              </a:rPr>
              <a:t>Fast and lightweight</a:t>
            </a:r>
          </a:p>
        </p:txBody>
      </p:sp>
      <p:sp>
        <p:nvSpPr>
          <p:cNvPr id="11" name="TextBox 11"/>
          <p:cNvSpPr txBox="1"/>
          <p:nvPr/>
        </p:nvSpPr>
        <p:spPr>
          <a:xfrm>
            <a:off x="6163173" y="3886654"/>
            <a:ext cx="4891396" cy="479425"/>
          </a:xfrm>
          <a:prstGeom prst="rect">
            <a:avLst/>
          </a:prstGeom>
        </p:spPr>
        <p:txBody>
          <a:bodyPr lIns="0" tIns="0" rIns="0" bIns="0" rtlCol="0" anchor="t">
            <a:spAutoFit/>
          </a:bodyPr>
          <a:lstStyle/>
          <a:p>
            <a:pPr algn="ctr">
              <a:lnSpc>
                <a:spcPts val="4024"/>
              </a:lnSpc>
              <a:spcBef>
                <a:spcPct val="0"/>
              </a:spcBef>
            </a:pPr>
            <a:r>
              <a:rPr lang="en-US" sz="2499" b="1">
                <a:solidFill>
                  <a:srgbClr val="000000"/>
                </a:solidFill>
                <a:latin typeface="Canva Sans Bold"/>
                <a:ea typeface="Canva Sans Bold"/>
                <a:cs typeface="Canva Sans Bold"/>
                <a:sym typeface="Canva Sans Bold"/>
              </a:rPr>
              <a:t>Convolutional Neural Network ​</a:t>
            </a:r>
          </a:p>
        </p:txBody>
      </p:sp>
      <p:sp>
        <p:nvSpPr>
          <p:cNvPr id="12" name="TextBox 12"/>
          <p:cNvSpPr txBox="1"/>
          <p:nvPr/>
        </p:nvSpPr>
        <p:spPr>
          <a:xfrm>
            <a:off x="6163173" y="4366079"/>
            <a:ext cx="5758961" cy="1485900"/>
          </a:xfrm>
          <a:prstGeom prst="rect">
            <a:avLst/>
          </a:prstGeom>
        </p:spPr>
        <p:txBody>
          <a:bodyPr lIns="0" tIns="0" rIns="0" bIns="0" rtlCol="0" anchor="t">
            <a:spAutoFit/>
          </a:bodyPr>
          <a:lstStyle/>
          <a:p>
            <a:pPr marL="539749" lvl="1" indent="-269875" algn="l">
              <a:lnSpc>
                <a:spcPts val="2999"/>
              </a:lnSpc>
              <a:buFont typeface="Arial"/>
              <a:buChar char="•"/>
            </a:pPr>
            <a:r>
              <a:rPr lang="en-US" sz="2499">
                <a:solidFill>
                  <a:srgbClr val="000000"/>
                </a:solidFill>
                <a:latin typeface="Canva Sans"/>
                <a:ea typeface="Canva Sans"/>
                <a:cs typeface="Canva Sans"/>
                <a:sym typeface="Canva Sans"/>
              </a:rPr>
              <a:t>Uses 1D convolutions along the sequence ​</a:t>
            </a:r>
          </a:p>
          <a:p>
            <a:pPr marL="539749" lvl="1" indent="-269875" algn="l">
              <a:lnSpc>
                <a:spcPts val="2999"/>
              </a:lnSpc>
              <a:buFont typeface="Arial"/>
              <a:buChar char="•"/>
            </a:pPr>
            <a:r>
              <a:rPr lang="en-US" sz="2499">
                <a:solidFill>
                  <a:srgbClr val="000000"/>
                </a:solidFill>
                <a:latin typeface="Canva Sans"/>
                <a:ea typeface="Canva Sans"/>
                <a:cs typeface="Canva Sans"/>
                <a:sym typeface="Canva Sans"/>
              </a:rPr>
              <a:t>Captures local patterns and motifs</a:t>
            </a:r>
          </a:p>
        </p:txBody>
      </p:sp>
      <p:sp>
        <p:nvSpPr>
          <p:cNvPr id="13" name="TextBox 13"/>
          <p:cNvSpPr txBox="1"/>
          <p:nvPr/>
        </p:nvSpPr>
        <p:spPr>
          <a:xfrm>
            <a:off x="12284503" y="3886654"/>
            <a:ext cx="4488061" cy="479425"/>
          </a:xfrm>
          <a:prstGeom prst="rect">
            <a:avLst/>
          </a:prstGeom>
        </p:spPr>
        <p:txBody>
          <a:bodyPr lIns="0" tIns="0" rIns="0" bIns="0" rtlCol="0" anchor="t">
            <a:spAutoFit/>
          </a:bodyPr>
          <a:lstStyle/>
          <a:p>
            <a:pPr algn="ctr">
              <a:lnSpc>
                <a:spcPts val="4024"/>
              </a:lnSpc>
              <a:spcBef>
                <a:spcPct val="0"/>
              </a:spcBef>
            </a:pPr>
            <a:r>
              <a:rPr lang="en-US" sz="2499" b="1">
                <a:solidFill>
                  <a:srgbClr val="000000"/>
                </a:solidFill>
                <a:latin typeface="Canva Sans Bold"/>
                <a:ea typeface="Canva Sans Bold"/>
                <a:cs typeface="Canva Sans Bold"/>
                <a:sym typeface="Canva Sans Bold"/>
              </a:rPr>
              <a:t>Transformer (Self-Attention) </a:t>
            </a:r>
          </a:p>
        </p:txBody>
      </p:sp>
      <p:sp>
        <p:nvSpPr>
          <p:cNvPr id="14" name="TextBox 14"/>
          <p:cNvSpPr txBox="1"/>
          <p:nvPr/>
        </p:nvSpPr>
        <p:spPr>
          <a:xfrm>
            <a:off x="12284503" y="4366079"/>
            <a:ext cx="5814182" cy="1114425"/>
          </a:xfrm>
          <a:prstGeom prst="rect">
            <a:avLst/>
          </a:prstGeom>
        </p:spPr>
        <p:txBody>
          <a:bodyPr lIns="0" tIns="0" rIns="0" bIns="0" rtlCol="0" anchor="t">
            <a:spAutoFit/>
          </a:bodyPr>
          <a:lstStyle/>
          <a:p>
            <a:pPr marL="539749" lvl="1" indent="-269875" algn="l">
              <a:lnSpc>
                <a:spcPts val="2999"/>
              </a:lnSpc>
              <a:buFont typeface="Arial"/>
              <a:buChar char="•"/>
            </a:pPr>
            <a:r>
              <a:rPr lang="en-US" sz="2499">
                <a:solidFill>
                  <a:srgbClr val="000000"/>
                </a:solidFill>
                <a:latin typeface="Canva Sans"/>
                <a:ea typeface="Canva Sans"/>
                <a:cs typeface="Canva Sans"/>
                <a:sym typeface="Canva Sans"/>
              </a:rPr>
              <a:t>Based on attention mechanisms ​</a:t>
            </a:r>
          </a:p>
          <a:p>
            <a:pPr marL="539749" lvl="1" indent="-269875" algn="l">
              <a:lnSpc>
                <a:spcPts val="2999"/>
              </a:lnSpc>
              <a:buFont typeface="Arial"/>
              <a:buChar char="•"/>
            </a:pPr>
            <a:r>
              <a:rPr lang="en-US" sz="2499">
                <a:solidFill>
                  <a:srgbClr val="000000"/>
                </a:solidFill>
                <a:latin typeface="Canva Sans"/>
                <a:ea typeface="Canva Sans"/>
                <a:cs typeface="Canva Sans"/>
                <a:sym typeface="Canva Sans"/>
              </a:rPr>
              <a:t>Models long-range dependencies across the entire sequence</a:t>
            </a:r>
          </a:p>
        </p:txBody>
      </p:sp>
      <p:sp>
        <p:nvSpPr>
          <p:cNvPr id="15" name="TextBox 15"/>
          <p:cNvSpPr txBox="1"/>
          <p:nvPr/>
        </p:nvSpPr>
        <p:spPr>
          <a:xfrm>
            <a:off x="-23555" y="6087205"/>
            <a:ext cx="18335109" cy="821817"/>
          </a:xfrm>
          <a:prstGeom prst="rect">
            <a:avLst/>
          </a:prstGeom>
        </p:spPr>
        <p:txBody>
          <a:bodyPr lIns="0" tIns="0" rIns="0" bIns="0" rtlCol="0" anchor="t">
            <a:spAutoFit/>
          </a:bodyPr>
          <a:lstStyle/>
          <a:p>
            <a:pPr algn="ctr">
              <a:lnSpc>
                <a:spcPts val="3294"/>
              </a:lnSpc>
            </a:pPr>
            <a:r>
              <a:rPr lang="en-US" sz="2700">
                <a:solidFill>
                  <a:srgbClr val="000000"/>
                </a:solidFill>
                <a:latin typeface="Canva Sans"/>
                <a:ea typeface="Canva Sans"/>
                <a:cs typeface="Canva Sans"/>
                <a:sym typeface="Canva Sans"/>
              </a:rPr>
              <a:t>All three encoders output a fixed-size vector that is then projected onto the chosen geometric space (Euclidean / Cosine / Hyperbolic).</a:t>
            </a:r>
          </a:p>
        </p:txBody>
      </p:sp>
      <p:sp>
        <p:nvSpPr>
          <p:cNvPr id="16" name="TextBox 16"/>
          <p:cNvSpPr txBox="1"/>
          <p:nvPr/>
        </p:nvSpPr>
        <p:spPr>
          <a:xfrm>
            <a:off x="293285" y="7061214"/>
            <a:ext cx="2618259" cy="567690"/>
          </a:xfrm>
          <a:prstGeom prst="rect">
            <a:avLst/>
          </a:prstGeom>
        </p:spPr>
        <p:txBody>
          <a:bodyPr lIns="0" tIns="0" rIns="0" bIns="0" rtlCol="0" anchor="t">
            <a:spAutoFit/>
          </a:bodyPr>
          <a:lstStyle/>
          <a:p>
            <a:pPr algn="ctr">
              <a:lnSpc>
                <a:spcPts val="4830"/>
              </a:lnSpc>
              <a:spcBef>
                <a:spcPct val="0"/>
              </a:spcBef>
            </a:pPr>
            <a:r>
              <a:rPr lang="en-US" sz="3000" b="1">
                <a:solidFill>
                  <a:srgbClr val="000000"/>
                </a:solidFill>
                <a:latin typeface="Canva Sans Bold"/>
                <a:ea typeface="Canva Sans Bold"/>
                <a:cs typeface="Canva Sans Bold"/>
                <a:sym typeface="Canva Sans Bold"/>
              </a:rPr>
              <a:t>Loss function:</a:t>
            </a:r>
          </a:p>
        </p:txBody>
      </p:sp>
      <p:sp>
        <p:nvSpPr>
          <p:cNvPr id="17" name="TextBox 17"/>
          <p:cNvSpPr txBox="1"/>
          <p:nvPr/>
        </p:nvSpPr>
        <p:spPr>
          <a:xfrm>
            <a:off x="697112" y="7628965"/>
            <a:ext cx="8172596" cy="2057400"/>
          </a:xfrm>
          <a:prstGeom prst="rect">
            <a:avLst/>
          </a:prstGeom>
        </p:spPr>
        <p:txBody>
          <a:bodyPr lIns="0" tIns="0" rIns="0" bIns="0" rtlCol="0" anchor="t">
            <a:spAutoFit/>
          </a:bodyPr>
          <a:lstStyle/>
          <a:p>
            <a:pPr algn="l">
              <a:lnSpc>
                <a:spcPts val="3240"/>
              </a:lnSpc>
            </a:pPr>
            <a:r>
              <a:rPr lang="en-US" sz="2700">
                <a:solidFill>
                  <a:srgbClr val="000000"/>
                </a:solidFill>
                <a:latin typeface="Canva Sans"/>
                <a:ea typeface="Canva Sans"/>
                <a:cs typeface="Canva Sans"/>
                <a:sym typeface="Canva Sans"/>
              </a:rPr>
              <a:t>The simplest way to train a NeuroSEED encoder is to directly minimise the mean square error (MSE) between the sequences’ ground truth distance and its approximation as the distance between the embeddings:​</a:t>
            </a:r>
          </a:p>
        </p:txBody>
      </p:sp>
      <p:sp>
        <p:nvSpPr>
          <p:cNvPr id="18" name="TextBox 18"/>
          <p:cNvSpPr txBox="1"/>
          <p:nvPr/>
        </p:nvSpPr>
        <p:spPr>
          <a:xfrm>
            <a:off x="10785976" y="9692493"/>
            <a:ext cx="6804912"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grpSp>
        <p:nvGrpSpPr>
          <p:cNvPr id="19" name="Group 19"/>
          <p:cNvGrpSpPr/>
          <p:nvPr/>
        </p:nvGrpSpPr>
        <p:grpSpPr>
          <a:xfrm>
            <a:off x="480039" y="3076413"/>
            <a:ext cx="17528634" cy="819150"/>
            <a:chOff x="0" y="0"/>
            <a:chExt cx="23371513" cy="1092200"/>
          </a:xfrm>
        </p:grpSpPr>
        <p:sp>
          <p:nvSpPr>
            <p:cNvPr id="20" name="TextBox 20"/>
            <p:cNvSpPr txBox="1"/>
            <p:nvPr/>
          </p:nvSpPr>
          <p:spPr>
            <a:xfrm>
              <a:off x="4515196" y="140251"/>
              <a:ext cx="186253" cy="405849"/>
            </a:xfrm>
            <a:prstGeom prst="rect">
              <a:avLst/>
            </a:prstGeom>
          </p:spPr>
          <p:txBody>
            <a:bodyPr lIns="0" tIns="0" rIns="0" bIns="0" rtlCol="0" anchor="t">
              <a:spAutoFit/>
            </a:bodyPr>
            <a:lstStyle/>
            <a:p>
              <a:pPr algn="ctr">
                <a:lnSpc>
                  <a:spcPts val="2737"/>
                </a:lnSpc>
                <a:spcBef>
                  <a:spcPct val="0"/>
                </a:spcBef>
              </a:pPr>
              <a:r>
                <a:rPr lang="en-US" sz="1700">
                  <a:solidFill>
                    <a:srgbClr val="000000"/>
                  </a:solidFill>
                  <a:latin typeface="Canva Sans"/>
                  <a:ea typeface="Canva Sans"/>
                  <a:cs typeface="Canva Sans"/>
                  <a:sym typeface="Canva Sans"/>
                </a:rPr>
                <a:t>θ</a:t>
              </a:r>
            </a:p>
          </p:txBody>
        </p:sp>
        <p:sp>
          <p:nvSpPr>
            <p:cNvPr id="21" name="TextBox 21"/>
            <p:cNvSpPr txBox="1"/>
            <p:nvPr/>
          </p:nvSpPr>
          <p:spPr>
            <a:xfrm>
              <a:off x="0" y="-9525"/>
              <a:ext cx="23371513" cy="1101725"/>
            </a:xfrm>
            <a:prstGeom prst="rect">
              <a:avLst/>
            </a:prstGeom>
          </p:spPr>
          <p:txBody>
            <a:bodyPr lIns="0" tIns="0" rIns="0" bIns="0" rtlCol="0" anchor="t">
              <a:spAutoFit/>
            </a:bodyPr>
            <a:lstStyle/>
            <a:p>
              <a:pPr algn="l">
                <a:lnSpc>
                  <a:spcPts val="3240"/>
                </a:lnSpc>
              </a:pPr>
              <a:r>
                <a:rPr lang="en-US" sz="2700">
                  <a:solidFill>
                    <a:srgbClr val="000000"/>
                  </a:solidFill>
                  <a:latin typeface="Canva Sans"/>
                  <a:ea typeface="Canva Sans"/>
                  <a:cs typeface="Canva Sans"/>
                  <a:sym typeface="Canva Sans"/>
                </a:rPr>
                <a:t>The encoder model f  maps sequences to points in the embedding space. A variety of models were tested as encoder functions.​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P spid="10" grpId="0"/>
      <p:bldP spid="11" grpId="0"/>
      <p:bldP spid="12" grpId="0"/>
      <p:bldP spid="13" grpId="0"/>
      <p:bldP spid="14" grpId="0"/>
      <p:bldP spid="15" grpId="0"/>
      <p:bldP spid="16"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999201" y="346710"/>
            <a:ext cx="4506999"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6" name="TextBox 6"/>
          <p:cNvSpPr txBox="1"/>
          <p:nvPr/>
        </p:nvSpPr>
        <p:spPr>
          <a:xfrm>
            <a:off x="0" y="1771643"/>
            <a:ext cx="7538059" cy="763270"/>
          </a:xfrm>
          <a:prstGeom prst="rect">
            <a:avLst/>
          </a:prstGeom>
        </p:spPr>
        <p:txBody>
          <a:bodyPr lIns="0" tIns="0" rIns="0" bIns="0" rtlCol="0" anchor="t">
            <a:spAutoFit/>
          </a:bodyPr>
          <a:lstStyle/>
          <a:p>
            <a:pPr algn="ctr">
              <a:lnSpc>
                <a:spcPts val="6439"/>
              </a:lnSpc>
              <a:spcBef>
                <a:spcPct val="0"/>
              </a:spcBef>
            </a:pPr>
            <a:r>
              <a:rPr lang="en-US" sz="3999" b="1">
                <a:solidFill>
                  <a:srgbClr val="000000"/>
                </a:solidFill>
                <a:latin typeface="Canva Sans Bold"/>
                <a:ea typeface="Canva Sans Bold"/>
                <a:cs typeface="Canva Sans Bold"/>
                <a:sym typeface="Canva Sans Bold"/>
              </a:rPr>
              <a:t>Training &amp; Evaluation Pipeline</a:t>
            </a:r>
          </a:p>
        </p:txBody>
      </p:sp>
      <p:sp>
        <p:nvSpPr>
          <p:cNvPr id="7" name="TextBox 7"/>
          <p:cNvSpPr txBox="1"/>
          <p:nvPr/>
        </p:nvSpPr>
        <p:spPr>
          <a:xfrm>
            <a:off x="667247" y="2534913"/>
            <a:ext cx="17362168" cy="914400"/>
          </a:xfrm>
          <a:prstGeom prst="rect">
            <a:avLst/>
          </a:prstGeom>
        </p:spPr>
        <p:txBody>
          <a:bodyPr lIns="0" tIns="0" rIns="0" bIns="0" rtlCol="0" anchor="t">
            <a:spAutoFit/>
          </a:bodyPr>
          <a:lstStyle/>
          <a:p>
            <a:pPr algn="l">
              <a:lnSpc>
                <a:spcPts val="3600"/>
              </a:lnSpc>
            </a:pPr>
            <a:r>
              <a:rPr lang="en-US" sz="3000">
                <a:solidFill>
                  <a:srgbClr val="000000"/>
                </a:solidFill>
                <a:latin typeface="Canva Sans"/>
                <a:ea typeface="Canva Sans"/>
                <a:cs typeface="Canva Sans"/>
                <a:sym typeface="Canva Sans"/>
              </a:rPr>
              <a:t>Once the encoder and geometry are chosen, NeuroSEED follows a simple end-to-end pipeline for training and fast inference.</a:t>
            </a:r>
          </a:p>
        </p:txBody>
      </p:sp>
      <p:sp>
        <p:nvSpPr>
          <p:cNvPr id="8" name="TextBox 8"/>
          <p:cNvSpPr txBox="1"/>
          <p:nvPr/>
        </p:nvSpPr>
        <p:spPr>
          <a:xfrm>
            <a:off x="1490" y="3646954"/>
            <a:ext cx="4769731" cy="560987"/>
          </a:xfrm>
          <a:prstGeom prst="rect">
            <a:avLst/>
          </a:prstGeom>
        </p:spPr>
        <p:txBody>
          <a:bodyPr wrap="square" lIns="0" tIns="0" rIns="0" bIns="0" rtlCol="0" anchor="t">
            <a:spAutoFit/>
          </a:bodyPr>
          <a:lstStyle/>
          <a:p>
            <a:pPr algn="ctr">
              <a:lnSpc>
                <a:spcPts val="4830"/>
              </a:lnSpc>
              <a:spcBef>
                <a:spcPct val="0"/>
              </a:spcBef>
            </a:pPr>
            <a:r>
              <a:rPr lang="en-US" sz="3000" b="1">
                <a:solidFill>
                  <a:srgbClr val="000000"/>
                </a:solidFill>
                <a:latin typeface="Canva Sans Bold"/>
                <a:ea typeface="Canva Sans Bold"/>
                <a:cs typeface="Canva Sans Bold"/>
                <a:sym typeface="Canva Sans Bold"/>
              </a:rPr>
              <a:t>Training Pipeline</a:t>
            </a:r>
          </a:p>
        </p:txBody>
      </p:sp>
      <p:sp>
        <p:nvSpPr>
          <p:cNvPr id="9" name="TextBox 9"/>
          <p:cNvSpPr txBox="1"/>
          <p:nvPr/>
        </p:nvSpPr>
        <p:spPr>
          <a:xfrm>
            <a:off x="667247" y="5035012"/>
            <a:ext cx="3485624" cy="7162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 Real or synthetic sequences​</a:t>
            </a:r>
          </a:p>
        </p:txBody>
      </p:sp>
      <p:sp>
        <p:nvSpPr>
          <p:cNvPr id="10" name="AutoShape 10"/>
          <p:cNvSpPr/>
          <p:nvPr/>
        </p:nvSpPr>
        <p:spPr>
          <a:xfrm>
            <a:off x="4572000" y="5116137"/>
            <a:ext cx="1143000"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1" name="TextBox 11"/>
          <p:cNvSpPr txBox="1"/>
          <p:nvPr/>
        </p:nvSpPr>
        <p:spPr>
          <a:xfrm>
            <a:off x="6273673" y="4976144"/>
            <a:ext cx="5052042" cy="7162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Maps each sequence to fixed-size vector (embedding)</a:t>
            </a:r>
          </a:p>
        </p:txBody>
      </p:sp>
      <p:sp>
        <p:nvSpPr>
          <p:cNvPr id="12" name="AutoShape 12"/>
          <p:cNvSpPr/>
          <p:nvPr/>
        </p:nvSpPr>
        <p:spPr>
          <a:xfrm>
            <a:off x="11715750" y="5032913"/>
            <a:ext cx="1143000"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3" name="TextBox 13"/>
          <p:cNvSpPr txBox="1"/>
          <p:nvPr/>
        </p:nvSpPr>
        <p:spPr>
          <a:xfrm>
            <a:off x="13536674" y="4976144"/>
            <a:ext cx="3879043" cy="7162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 Projects embeddings into chosen space​</a:t>
            </a:r>
          </a:p>
        </p:txBody>
      </p:sp>
      <p:sp>
        <p:nvSpPr>
          <p:cNvPr id="14" name="AutoShape 14"/>
          <p:cNvSpPr/>
          <p:nvPr/>
        </p:nvSpPr>
        <p:spPr>
          <a:xfrm>
            <a:off x="2376722" y="6173037"/>
            <a:ext cx="0" cy="785285"/>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5" name="TextBox 15"/>
          <p:cNvSpPr txBox="1"/>
          <p:nvPr/>
        </p:nvSpPr>
        <p:spPr>
          <a:xfrm>
            <a:off x="507748" y="7939300"/>
            <a:ext cx="4317438" cy="10591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Compute distances between all pairs in embedding space</a:t>
            </a:r>
          </a:p>
        </p:txBody>
      </p:sp>
      <p:sp>
        <p:nvSpPr>
          <p:cNvPr id="16" name="TextBox 16"/>
          <p:cNvSpPr txBox="1"/>
          <p:nvPr/>
        </p:nvSpPr>
        <p:spPr>
          <a:xfrm>
            <a:off x="6601563" y="7769090"/>
            <a:ext cx="4649865" cy="10591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MSE between true normalized edit distances and geometric distances</a:t>
            </a:r>
          </a:p>
        </p:txBody>
      </p:sp>
      <p:sp>
        <p:nvSpPr>
          <p:cNvPr id="17" name="TextBox 17"/>
          <p:cNvSpPr txBox="1"/>
          <p:nvPr/>
        </p:nvSpPr>
        <p:spPr>
          <a:xfrm>
            <a:off x="1399806" y="4467853"/>
            <a:ext cx="2380799" cy="502958"/>
          </a:xfrm>
          <a:prstGeom prst="rect">
            <a:avLst/>
          </a:prstGeom>
        </p:spPr>
        <p:txBody>
          <a:bodyPr wrap="square" lIns="0" tIns="0" rIns="0" bIns="0" rtlCol="0" anchor="t">
            <a:spAutoFit/>
          </a:bodyPr>
          <a:lstStyle/>
          <a:p>
            <a:pPr algn="ctr">
              <a:lnSpc>
                <a:spcPts val="4347"/>
              </a:lnSpc>
              <a:spcBef>
                <a:spcPct val="0"/>
              </a:spcBef>
            </a:pPr>
            <a:r>
              <a:rPr lang="en-US" sz="2700" b="1">
                <a:solidFill>
                  <a:srgbClr val="000000"/>
                </a:solidFill>
                <a:latin typeface="Canva Sans Bold"/>
                <a:ea typeface="Canva Sans Bold"/>
                <a:cs typeface="Canva Sans Bold"/>
                <a:sym typeface="Canva Sans Bold"/>
              </a:rPr>
              <a:t>Load Data:</a:t>
            </a:r>
          </a:p>
        </p:txBody>
      </p:sp>
      <p:sp>
        <p:nvSpPr>
          <p:cNvPr id="18" name="TextBox 18"/>
          <p:cNvSpPr txBox="1"/>
          <p:nvPr/>
        </p:nvSpPr>
        <p:spPr>
          <a:xfrm>
            <a:off x="8012542" y="4421408"/>
            <a:ext cx="1574304" cy="516636"/>
          </a:xfrm>
          <a:prstGeom prst="rect">
            <a:avLst/>
          </a:prstGeom>
        </p:spPr>
        <p:txBody>
          <a:bodyPr lIns="0" tIns="0" rIns="0" bIns="0" rtlCol="0" anchor="t">
            <a:spAutoFit/>
          </a:bodyPr>
          <a:lstStyle/>
          <a:p>
            <a:pPr algn="ctr">
              <a:lnSpc>
                <a:spcPts val="4347"/>
              </a:lnSpc>
              <a:spcBef>
                <a:spcPct val="0"/>
              </a:spcBef>
            </a:pPr>
            <a:r>
              <a:rPr lang="en-US" sz="2700" b="1">
                <a:solidFill>
                  <a:srgbClr val="000000"/>
                </a:solidFill>
                <a:latin typeface="Canva Sans Bold"/>
                <a:ea typeface="Canva Sans Bold"/>
                <a:cs typeface="Canva Sans Bold"/>
                <a:sym typeface="Canva Sans Bold"/>
              </a:rPr>
              <a:t>Encoder: </a:t>
            </a:r>
          </a:p>
        </p:txBody>
      </p:sp>
      <p:sp>
        <p:nvSpPr>
          <p:cNvPr id="19" name="TextBox 19"/>
          <p:cNvSpPr txBox="1"/>
          <p:nvPr/>
        </p:nvSpPr>
        <p:spPr>
          <a:xfrm>
            <a:off x="13679542" y="4471103"/>
            <a:ext cx="3966023" cy="502958"/>
          </a:xfrm>
          <a:prstGeom prst="rect">
            <a:avLst/>
          </a:prstGeom>
        </p:spPr>
        <p:txBody>
          <a:bodyPr wrap="square" lIns="0" tIns="0" rIns="0" bIns="0" rtlCol="0" anchor="t">
            <a:spAutoFit/>
          </a:bodyPr>
          <a:lstStyle/>
          <a:p>
            <a:pPr algn="ctr">
              <a:lnSpc>
                <a:spcPts val="4347"/>
              </a:lnSpc>
              <a:spcBef>
                <a:spcPct val="0"/>
              </a:spcBef>
            </a:pPr>
            <a:r>
              <a:rPr lang="en-US" sz="2700" b="1">
                <a:solidFill>
                  <a:srgbClr val="000000"/>
                </a:solidFill>
                <a:latin typeface="Canva Sans Bold"/>
                <a:ea typeface="Canva Sans Bold"/>
                <a:cs typeface="Canva Sans Bold"/>
                <a:sym typeface="Canva Sans Bold"/>
              </a:rPr>
              <a:t>Geometry Projection:</a:t>
            </a:r>
          </a:p>
        </p:txBody>
      </p:sp>
      <p:sp>
        <p:nvSpPr>
          <p:cNvPr id="20" name="TextBox 20"/>
          <p:cNvSpPr txBox="1"/>
          <p:nvPr/>
        </p:nvSpPr>
        <p:spPr>
          <a:xfrm>
            <a:off x="411480" y="7110722"/>
            <a:ext cx="4413705" cy="828675"/>
          </a:xfrm>
          <a:prstGeom prst="rect">
            <a:avLst/>
          </a:prstGeom>
        </p:spPr>
        <p:txBody>
          <a:bodyPr lIns="0" tIns="0" rIns="0" bIns="0" rtlCol="0" anchor="t">
            <a:spAutoFit/>
          </a:bodyPr>
          <a:lstStyle/>
          <a:p>
            <a:pPr algn="ctr">
              <a:lnSpc>
                <a:spcPts val="3240"/>
              </a:lnSpc>
            </a:pPr>
            <a:r>
              <a:rPr lang="en-US" sz="2700" b="1">
                <a:solidFill>
                  <a:srgbClr val="000000"/>
                </a:solidFill>
                <a:latin typeface="Canva Sans Bold"/>
                <a:ea typeface="Canva Sans Bold"/>
                <a:cs typeface="Canva Sans Bold"/>
                <a:sym typeface="Canva Sans Bold"/>
              </a:rPr>
              <a:t>Pairwise Geometric Distance: </a:t>
            </a:r>
          </a:p>
        </p:txBody>
      </p:sp>
      <p:sp>
        <p:nvSpPr>
          <p:cNvPr id="21" name="AutoShape 21"/>
          <p:cNvSpPr/>
          <p:nvPr/>
        </p:nvSpPr>
        <p:spPr>
          <a:xfrm>
            <a:off x="4698802" y="8134659"/>
            <a:ext cx="1143000"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22" name="TextBox 22"/>
          <p:cNvSpPr txBox="1"/>
          <p:nvPr/>
        </p:nvSpPr>
        <p:spPr>
          <a:xfrm>
            <a:off x="7312083" y="7214354"/>
            <a:ext cx="3228826" cy="516636"/>
          </a:xfrm>
          <a:prstGeom prst="rect">
            <a:avLst/>
          </a:prstGeom>
        </p:spPr>
        <p:txBody>
          <a:bodyPr lIns="0" tIns="0" rIns="0" bIns="0" rtlCol="0" anchor="t">
            <a:spAutoFit/>
          </a:bodyPr>
          <a:lstStyle/>
          <a:p>
            <a:pPr algn="ctr">
              <a:lnSpc>
                <a:spcPts val="4347"/>
              </a:lnSpc>
              <a:spcBef>
                <a:spcPct val="0"/>
              </a:spcBef>
            </a:pPr>
            <a:r>
              <a:rPr lang="en-US" sz="2700" b="1">
                <a:solidFill>
                  <a:srgbClr val="000000"/>
                </a:solidFill>
                <a:latin typeface="Canva Sans Bold"/>
                <a:ea typeface="Canva Sans Bold"/>
                <a:cs typeface="Canva Sans Bold"/>
                <a:sym typeface="Canva Sans Bold"/>
              </a:rPr>
              <a:t>Loss Computation: </a:t>
            </a:r>
          </a:p>
        </p:txBody>
      </p:sp>
      <p:sp>
        <p:nvSpPr>
          <p:cNvPr id="23" name="AutoShape 23"/>
          <p:cNvSpPr/>
          <p:nvPr/>
        </p:nvSpPr>
        <p:spPr>
          <a:xfrm>
            <a:off x="11842552" y="8167997"/>
            <a:ext cx="1143000"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24" name="TextBox 24"/>
          <p:cNvSpPr txBox="1"/>
          <p:nvPr/>
        </p:nvSpPr>
        <p:spPr>
          <a:xfrm>
            <a:off x="14424763" y="7214354"/>
            <a:ext cx="2356470" cy="516636"/>
          </a:xfrm>
          <a:prstGeom prst="rect">
            <a:avLst/>
          </a:prstGeom>
        </p:spPr>
        <p:txBody>
          <a:bodyPr lIns="0" tIns="0" rIns="0" bIns="0" rtlCol="0" anchor="t">
            <a:spAutoFit/>
          </a:bodyPr>
          <a:lstStyle/>
          <a:p>
            <a:pPr algn="ctr">
              <a:lnSpc>
                <a:spcPts val="4347"/>
              </a:lnSpc>
              <a:spcBef>
                <a:spcPct val="0"/>
              </a:spcBef>
            </a:pPr>
            <a:r>
              <a:rPr lang="en-US" sz="2700" b="1">
                <a:solidFill>
                  <a:srgbClr val="000000"/>
                </a:solidFill>
                <a:latin typeface="Canva Sans Bold"/>
                <a:ea typeface="Canva Sans Bold"/>
                <a:cs typeface="Canva Sans Bold"/>
                <a:sym typeface="Canva Sans Bold"/>
              </a:rPr>
              <a:t>Optimization: </a:t>
            </a:r>
          </a:p>
        </p:txBody>
      </p:sp>
      <p:sp>
        <p:nvSpPr>
          <p:cNvPr id="25" name="TextBox 25"/>
          <p:cNvSpPr txBox="1"/>
          <p:nvPr/>
        </p:nvSpPr>
        <p:spPr>
          <a:xfrm>
            <a:off x="13360580" y="7769090"/>
            <a:ext cx="4484835" cy="14020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Backprop + Adam optimizer. Update encoder weights (Early stopping on validation loss)​</a:t>
            </a:r>
          </a:p>
        </p:txBody>
      </p:sp>
      <p:sp>
        <p:nvSpPr>
          <p:cNvPr id="26" name="AutoShape 26"/>
          <p:cNvSpPr/>
          <p:nvPr/>
        </p:nvSpPr>
        <p:spPr>
          <a:xfrm>
            <a:off x="15476195" y="5713192"/>
            <a:ext cx="0" cy="470502"/>
          </a:xfrm>
          <a:prstGeom prst="line">
            <a:avLst/>
          </a:prstGeom>
          <a:ln w="66675" cap="flat">
            <a:solidFill>
              <a:srgbClr val="5E7B97"/>
            </a:solidFill>
            <a:prstDash val="solid"/>
            <a:headEnd type="none" w="sm" len="sm"/>
            <a:tailEnd type="none" w="sm" len="sm"/>
          </a:ln>
        </p:spPr>
        <p:txBody>
          <a:bodyPr/>
          <a:lstStyle/>
          <a:p>
            <a:endParaRPr lang="en-IN"/>
          </a:p>
        </p:txBody>
      </p:sp>
      <p:sp>
        <p:nvSpPr>
          <p:cNvPr id="27" name="AutoShape 27"/>
          <p:cNvSpPr/>
          <p:nvPr/>
        </p:nvSpPr>
        <p:spPr>
          <a:xfrm flipH="1" flipV="1">
            <a:off x="2341496" y="6173037"/>
            <a:ext cx="13168037" cy="0"/>
          </a:xfrm>
          <a:prstGeom prst="line">
            <a:avLst/>
          </a:prstGeom>
          <a:ln w="66675" cap="flat">
            <a:solidFill>
              <a:srgbClr val="5E7B97"/>
            </a:solidFill>
            <a:prstDash val="solid"/>
            <a:headEnd type="none" w="sm" len="sm"/>
            <a:tailEnd type="none" w="sm" len="sm"/>
          </a:ln>
        </p:spPr>
        <p:txBody>
          <a:bodyPr/>
          <a:lstStyle/>
          <a:p>
            <a:endParaRPr lang="en-IN"/>
          </a:p>
        </p:txBody>
      </p:sp>
      <p:sp>
        <p:nvSpPr>
          <p:cNvPr id="28" name="TextBox 28"/>
          <p:cNvSpPr txBox="1"/>
          <p:nvPr/>
        </p:nvSpPr>
        <p:spPr>
          <a:xfrm>
            <a:off x="10785976" y="9678035"/>
            <a:ext cx="6629741"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00"/>
                                        <p:tgtEl>
                                          <p:spTgt spid="1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500"/>
                                        <p:tgtEl>
                                          <p:spTgt spid="2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p:bldP spid="12" grpId="0" animBg="1"/>
      <p:bldP spid="13" grpId="0"/>
      <p:bldP spid="14" grpId="0" animBg="1"/>
      <p:bldP spid="15" grpId="0"/>
      <p:bldP spid="16" grpId="0"/>
      <p:bldP spid="17" grpId="0"/>
      <p:bldP spid="18" grpId="0"/>
      <p:bldP spid="19" grpId="0"/>
      <p:bldP spid="20" grpId="0"/>
      <p:bldP spid="21" grpId="0" animBg="1"/>
      <p:bldP spid="22" grpId="0"/>
      <p:bldP spid="23" grpId="0" animBg="1"/>
      <p:bldP spid="24" grpId="0"/>
      <p:bldP spid="25" grpId="0"/>
      <p:bldP spid="26"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999201" y="346710"/>
            <a:ext cx="4473080"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6" name="TextBox 6"/>
          <p:cNvSpPr txBox="1"/>
          <p:nvPr/>
        </p:nvSpPr>
        <p:spPr>
          <a:xfrm>
            <a:off x="0" y="1729737"/>
            <a:ext cx="7538059" cy="763270"/>
          </a:xfrm>
          <a:prstGeom prst="rect">
            <a:avLst/>
          </a:prstGeom>
        </p:spPr>
        <p:txBody>
          <a:bodyPr lIns="0" tIns="0" rIns="0" bIns="0" rtlCol="0" anchor="t">
            <a:spAutoFit/>
          </a:bodyPr>
          <a:lstStyle/>
          <a:p>
            <a:pPr algn="ctr">
              <a:lnSpc>
                <a:spcPts val="6439"/>
              </a:lnSpc>
              <a:spcBef>
                <a:spcPct val="0"/>
              </a:spcBef>
            </a:pPr>
            <a:r>
              <a:rPr lang="en-US" sz="3999" b="1">
                <a:solidFill>
                  <a:srgbClr val="000000"/>
                </a:solidFill>
                <a:latin typeface="Canva Sans Bold"/>
                <a:ea typeface="Canva Sans Bold"/>
                <a:cs typeface="Canva Sans Bold"/>
                <a:sym typeface="Canva Sans Bold"/>
              </a:rPr>
              <a:t>Training &amp; Evaluation Pipeline</a:t>
            </a:r>
          </a:p>
        </p:txBody>
      </p:sp>
      <p:sp>
        <p:nvSpPr>
          <p:cNvPr id="7" name="TextBox 7"/>
          <p:cNvSpPr txBox="1"/>
          <p:nvPr/>
        </p:nvSpPr>
        <p:spPr>
          <a:xfrm>
            <a:off x="400180" y="2781136"/>
            <a:ext cx="6381620" cy="514350"/>
          </a:xfrm>
          <a:prstGeom prst="rect">
            <a:avLst/>
          </a:prstGeom>
        </p:spPr>
        <p:txBody>
          <a:bodyPr wrap="square" lIns="0" tIns="0" rIns="0" bIns="0" rtlCol="0" anchor="t">
            <a:spAutoFit/>
          </a:bodyPr>
          <a:lstStyle/>
          <a:p>
            <a:pPr algn="ctr">
              <a:lnSpc>
                <a:spcPts val="4200"/>
              </a:lnSpc>
              <a:spcBef>
                <a:spcPct val="0"/>
              </a:spcBef>
            </a:pPr>
            <a:r>
              <a:rPr lang="en-US" sz="3000" b="1">
                <a:solidFill>
                  <a:srgbClr val="000000"/>
                </a:solidFill>
                <a:latin typeface="Canva Sans Bold"/>
                <a:ea typeface="Canva Sans Bold"/>
                <a:cs typeface="Canva Sans Bold"/>
                <a:sym typeface="Canva Sans Bold"/>
              </a:rPr>
              <a:t>Evaluation / Inference Pipeline</a:t>
            </a:r>
          </a:p>
        </p:txBody>
      </p:sp>
      <p:sp>
        <p:nvSpPr>
          <p:cNvPr id="8" name="TextBox 8"/>
          <p:cNvSpPr txBox="1"/>
          <p:nvPr/>
        </p:nvSpPr>
        <p:spPr>
          <a:xfrm>
            <a:off x="2136409" y="3583616"/>
            <a:ext cx="3979515" cy="464820"/>
          </a:xfrm>
          <a:prstGeom prst="rect">
            <a:avLst/>
          </a:prstGeom>
        </p:spPr>
        <p:txBody>
          <a:bodyPr lIns="0" tIns="0" rIns="0" bIns="0" rtlCol="0" anchor="t">
            <a:spAutoFit/>
          </a:bodyPr>
          <a:lstStyle/>
          <a:p>
            <a:pPr algn="ctr">
              <a:lnSpc>
                <a:spcPts val="3779"/>
              </a:lnSpc>
              <a:spcBef>
                <a:spcPct val="0"/>
              </a:spcBef>
            </a:pPr>
            <a:r>
              <a:rPr lang="en-US" sz="2700" b="1">
                <a:solidFill>
                  <a:srgbClr val="000000"/>
                </a:solidFill>
                <a:latin typeface="Canva Sans Bold"/>
                <a:ea typeface="Canva Sans Bold"/>
                <a:cs typeface="Canva Sans Bold"/>
                <a:sym typeface="Canva Sans Bold"/>
              </a:rPr>
              <a:t>Embed New Sequences ​</a:t>
            </a:r>
          </a:p>
        </p:txBody>
      </p:sp>
      <p:sp>
        <p:nvSpPr>
          <p:cNvPr id="9" name="TextBox 9"/>
          <p:cNvSpPr txBox="1"/>
          <p:nvPr/>
        </p:nvSpPr>
        <p:spPr>
          <a:xfrm>
            <a:off x="714275" y="3991286"/>
            <a:ext cx="6823784" cy="1417320"/>
          </a:xfrm>
          <a:prstGeom prst="rect">
            <a:avLst/>
          </a:prstGeom>
        </p:spPr>
        <p:txBody>
          <a:bodyPr lIns="0" tIns="0" rIns="0" bIns="0" rtlCol="0" anchor="t">
            <a:spAutoFit/>
          </a:bodyPr>
          <a:lstStyle/>
          <a:p>
            <a:pPr algn="ctr">
              <a:lnSpc>
                <a:spcPts val="3779"/>
              </a:lnSpc>
              <a:spcBef>
                <a:spcPct val="0"/>
              </a:spcBef>
            </a:pPr>
            <a:r>
              <a:rPr lang="en-US" sz="2700">
                <a:solidFill>
                  <a:srgbClr val="000000"/>
                </a:solidFill>
                <a:latin typeface="Canva Sans"/>
                <a:ea typeface="Canva Sans"/>
                <a:cs typeface="Canva Sans"/>
                <a:sym typeface="Canva Sans"/>
              </a:rPr>
              <a:t>Pass any sequence through the trained encoder + geometry projection (milliseconds)​</a:t>
            </a:r>
          </a:p>
        </p:txBody>
      </p:sp>
      <p:sp>
        <p:nvSpPr>
          <p:cNvPr id="10" name="AutoShape 10"/>
          <p:cNvSpPr/>
          <p:nvPr/>
        </p:nvSpPr>
        <p:spPr>
          <a:xfrm>
            <a:off x="8178734" y="4236817"/>
            <a:ext cx="1889689"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1" name="TextBox 11"/>
          <p:cNvSpPr txBox="1"/>
          <p:nvPr/>
        </p:nvSpPr>
        <p:spPr>
          <a:xfrm>
            <a:off x="11472281" y="3583616"/>
            <a:ext cx="4748436" cy="464820"/>
          </a:xfrm>
          <a:prstGeom prst="rect">
            <a:avLst/>
          </a:prstGeom>
        </p:spPr>
        <p:txBody>
          <a:bodyPr lIns="0" tIns="0" rIns="0" bIns="0" rtlCol="0" anchor="t">
            <a:spAutoFit/>
          </a:bodyPr>
          <a:lstStyle/>
          <a:p>
            <a:pPr algn="ctr">
              <a:lnSpc>
                <a:spcPts val="3779"/>
              </a:lnSpc>
              <a:spcBef>
                <a:spcPct val="0"/>
              </a:spcBef>
            </a:pPr>
            <a:r>
              <a:rPr lang="en-US" sz="2700" b="1">
                <a:solidFill>
                  <a:srgbClr val="000000"/>
                </a:solidFill>
                <a:latin typeface="Canva Sans Bold"/>
                <a:ea typeface="Canva Sans Bold"/>
                <a:cs typeface="Canva Sans Bold"/>
                <a:sym typeface="Canva Sans Bold"/>
              </a:rPr>
              <a:t>Fast Approximate Distances </a:t>
            </a:r>
          </a:p>
        </p:txBody>
      </p:sp>
      <p:sp>
        <p:nvSpPr>
          <p:cNvPr id="12" name="TextBox 12"/>
          <p:cNvSpPr txBox="1"/>
          <p:nvPr/>
        </p:nvSpPr>
        <p:spPr>
          <a:xfrm>
            <a:off x="10682785" y="3991286"/>
            <a:ext cx="6327429" cy="941070"/>
          </a:xfrm>
          <a:prstGeom prst="rect">
            <a:avLst/>
          </a:prstGeom>
        </p:spPr>
        <p:txBody>
          <a:bodyPr lIns="0" tIns="0" rIns="0" bIns="0" rtlCol="0" anchor="t">
            <a:spAutoFit/>
          </a:bodyPr>
          <a:lstStyle/>
          <a:p>
            <a:pPr algn="ctr">
              <a:lnSpc>
                <a:spcPts val="3779"/>
              </a:lnSpc>
              <a:spcBef>
                <a:spcPct val="0"/>
              </a:spcBef>
            </a:pPr>
            <a:r>
              <a:rPr lang="en-US" sz="2700">
                <a:solidFill>
                  <a:srgbClr val="000000"/>
                </a:solidFill>
                <a:latin typeface="Canva Sans"/>
                <a:ea typeface="Canva Sans"/>
                <a:cs typeface="Canva Sans"/>
                <a:sym typeface="Canva Sans"/>
              </a:rPr>
              <a:t>Compute pairwise distances directly in embedding space (no alignments!)</a:t>
            </a:r>
          </a:p>
        </p:txBody>
      </p:sp>
      <p:sp>
        <p:nvSpPr>
          <p:cNvPr id="13" name="AutoShape 13"/>
          <p:cNvSpPr/>
          <p:nvPr/>
        </p:nvSpPr>
        <p:spPr>
          <a:xfrm>
            <a:off x="9177262" y="5580974"/>
            <a:ext cx="0" cy="785285"/>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4" name="AutoShape 14"/>
          <p:cNvSpPr/>
          <p:nvPr/>
        </p:nvSpPr>
        <p:spPr>
          <a:xfrm>
            <a:off x="13813086" y="5099816"/>
            <a:ext cx="0" cy="470502"/>
          </a:xfrm>
          <a:prstGeom prst="line">
            <a:avLst/>
          </a:prstGeom>
          <a:ln w="66675" cap="flat">
            <a:solidFill>
              <a:srgbClr val="5E7B97"/>
            </a:solidFill>
            <a:prstDash val="solid"/>
            <a:headEnd type="none" w="sm" len="sm"/>
            <a:tailEnd type="none" w="sm" len="sm"/>
          </a:ln>
        </p:spPr>
        <p:txBody>
          <a:bodyPr/>
          <a:lstStyle/>
          <a:p>
            <a:endParaRPr lang="en-IN"/>
          </a:p>
        </p:txBody>
      </p:sp>
      <p:sp>
        <p:nvSpPr>
          <p:cNvPr id="15" name="AutoShape 15"/>
          <p:cNvSpPr/>
          <p:nvPr/>
        </p:nvSpPr>
        <p:spPr>
          <a:xfrm flipH="1" flipV="1">
            <a:off x="9143924" y="5570317"/>
            <a:ext cx="4702499" cy="10657"/>
          </a:xfrm>
          <a:prstGeom prst="line">
            <a:avLst/>
          </a:prstGeom>
          <a:ln w="66675" cap="flat">
            <a:solidFill>
              <a:srgbClr val="5E7B97"/>
            </a:solidFill>
            <a:prstDash val="solid"/>
            <a:headEnd type="none" w="sm" len="sm"/>
            <a:tailEnd type="none" w="sm" len="sm"/>
          </a:ln>
        </p:spPr>
        <p:txBody>
          <a:bodyPr/>
          <a:lstStyle/>
          <a:p>
            <a:endParaRPr lang="en-IN"/>
          </a:p>
        </p:txBody>
      </p:sp>
      <p:sp>
        <p:nvSpPr>
          <p:cNvPr id="16" name="TextBox 16"/>
          <p:cNvSpPr txBox="1"/>
          <p:nvPr/>
        </p:nvSpPr>
        <p:spPr>
          <a:xfrm>
            <a:off x="7621562" y="6463415"/>
            <a:ext cx="3444740" cy="454868"/>
          </a:xfrm>
          <a:prstGeom prst="rect">
            <a:avLst/>
          </a:prstGeom>
        </p:spPr>
        <p:txBody>
          <a:bodyPr wrap="square" lIns="0" tIns="0" rIns="0" bIns="0" rtlCol="0" anchor="t">
            <a:spAutoFit/>
          </a:bodyPr>
          <a:lstStyle/>
          <a:p>
            <a:pPr algn="ctr">
              <a:lnSpc>
                <a:spcPts val="3779"/>
              </a:lnSpc>
              <a:spcBef>
                <a:spcPct val="0"/>
              </a:spcBef>
            </a:pPr>
            <a:r>
              <a:rPr lang="en-US" sz="2700" b="1">
                <a:solidFill>
                  <a:srgbClr val="000000"/>
                </a:solidFill>
                <a:latin typeface="Canva Sans Bold"/>
                <a:ea typeface="Canva Sans Bold"/>
                <a:cs typeface="Canva Sans Bold"/>
                <a:sym typeface="Canva Sans Bold"/>
              </a:rPr>
              <a:t>Downstream Tasks</a:t>
            </a:r>
          </a:p>
        </p:txBody>
      </p:sp>
      <p:sp>
        <p:nvSpPr>
          <p:cNvPr id="17" name="TextBox 17"/>
          <p:cNvSpPr txBox="1"/>
          <p:nvPr/>
        </p:nvSpPr>
        <p:spPr>
          <a:xfrm>
            <a:off x="2225735" y="8194532"/>
            <a:ext cx="3548832" cy="7162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Steiner String Approximation</a:t>
            </a:r>
          </a:p>
        </p:txBody>
      </p:sp>
      <p:sp>
        <p:nvSpPr>
          <p:cNvPr id="18" name="TextBox 18"/>
          <p:cNvSpPr txBox="1"/>
          <p:nvPr/>
        </p:nvSpPr>
        <p:spPr>
          <a:xfrm>
            <a:off x="7289864" y="8133572"/>
            <a:ext cx="3776439" cy="464820"/>
          </a:xfrm>
          <a:prstGeom prst="rect">
            <a:avLst/>
          </a:prstGeom>
        </p:spPr>
        <p:txBody>
          <a:bodyPr lIns="0" tIns="0" rIns="0" bIns="0" rtlCol="0" anchor="t">
            <a:spAutoFit/>
          </a:bodyPr>
          <a:lstStyle/>
          <a:p>
            <a:pPr algn="ctr">
              <a:lnSpc>
                <a:spcPts val="3779"/>
              </a:lnSpc>
              <a:spcBef>
                <a:spcPct val="0"/>
              </a:spcBef>
            </a:pPr>
            <a:r>
              <a:rPr lang="en-US" sz="2700">
                <a:solidFill>
                  <a:srgbClr val="000000"/>
                </a:solidFill>
                <a:latin typeface="Canva Sans"/>
                <a:ea typeface="Canva Sans"/>
                <a:cs typeface="Canva Sans"/>
                <a:sym typeface="Canva Sans"/>
              </a:rPr>
              <a:t>Closest-string retrieval</a:t>
            </a:r>
          </a:p>
        </p:txBody>
      </p:sp>
      <p:sp>
        <p:nvSpPr>
          <p:cNvPr id="19" name="TextBox 19"/>
          <p:cNvSpPr txBox="1"/>
          <p:nvPr/>
        </p:nvSpPr>
        <p:spPr>
          <a:xfrm>
            <a:off x="12580778" y="8194532"/>
            <a:ext cx="4428614" cy="716280"/>
          </a:xfrm>
          <a:prstGeom prst="rect">
            <a:avLst/>
          </a:prstGeom>
        </p:spPr>
        <p:txBody>
          <a:bodyPr lIns="0" tIns="0" rIns="0" bIns="0" rtlCol="0" anchor="t">
            <a:spAutoFit/>
          </a:bodyPr>
          <a:lstStyle/>
          <a:p>
            <a:pPr algn="ctr">
              <a:lnSpc>
                <a:spcPts val="2700"/>
              </a:lnSpc>
            </a:pPr>
            <a:r>
              <a:rPr lang="en-US" sz="2700">
                <a:solidFill>
                  <a:srgbClr val="000000"/>
                </a:solidFill>
                <a:latin typeface="Canva Sans"/>
                <a:ea typeface="Canva Sans"/>
                <a:cs typeface="Canva Sans"/>
                <a:sym typeface="Canva Sans"/>
              </a:rPr>
              <a:t>Hierarchical clustering / MSA guide-tree</a:t>
            </a:r>
          </a:p>
        </p:txBody>
      </p:sp>
      <p:sp>
        <p:nvSpPr>
          <p:cNvPr id="20" name="AutoShape 20"/>
          <p:cNvSpPr/>
          <p:nvPr/>
        </p:nvSpPr>
        <p:spPr>
          <a:xfrm flipH="1">
            <a:off x="4000151" y="7371147"/>
            <a:ext cx="10795755" cy="0"/>
          </a:xfrm>
          <a:prstGeom prst="line">
            <a:avLst/>
          </a:prstGeom>
          <a:ln w="66675" cap="flat">
            <a:solidFill>
              <a:srgbClr val="5E7B97"/>
            </a:solidFill>
            <a:prstDash val="solid"/>
            <a:headEnd type="none" w="sm" len="sm"/>
            <a:tailEnd type="none" w="sm" len="sm"/>
          </a:ln>
        </p:spPr>
        <p:txBody>
          <a:bodyPr/>
          <a:lstStyle/>
          <a:p>
            <a:endParaRPr lang="en-IN"/>
          </a:p>
        </p:txBody>
      </p:sp>
      <p:sp>
        <p:nvSpPr>
          <p:cNvPr id="21" name="AutoShape 21"/>
          <p:cNvSpPr/>
          <p:nvPr/>
        </p:nvSpPr>
        <p:spPr>
          <a:xfrm>
            <a:off x="4033489" y="7371147"/>
            <a:ext cx="0" cy="785285"/>
          </a:xfrm>
          <a:prstGeom prst="line">
            <a:avLst/>
          </a:prstGeom>
          <a:ln w="66675" cap="flat">
            <a:solidFill>
              <a:srgbClr val="5E7B97"/>
            </a:solidFill>
            <a:prstDash val="solid"/>
            <a:headEnd type="none" w="sm" len="sm"/>
            <a:tailEnd type="triangle" w="lg" len="med"/>
          </a:ln>
        </p:spPr>
        <p:txBody>
          <a:bodyPr/>
          <a:lstStyle/>
          <a:p>
            <a:endParaRPr lang="en-IN"/>
          </a:p>
        </p:txBody>
      </p:sp>
      <p:sp>
        <p:nvSpPr>
          <p:cNvPr id="22" name="AutoShape 22"/>
          <p:cNvSpPr/>
          <p:nvPr/>
        </p:nvSpPr>
        <p:spPr>
          <a:xfrm flipH="1">
            <a:off x="9144000" y="6928235"/>
            <a:ext cx="0" cy="1228198"/>
          </a:xfrm>
          <a:prstGeom prst="line">
            <a:avLst/>
          </a:prstGeom>
          <a:ln w="66675" cap="flat">
            <a:solidFill>
              <a:srgbClr val="5E7B97"/>
            </a:solidFill>
            <a:prstDash val="solid"/>
            <a:headEnd type="none" w="sm" len="sm"/>
            <a:tailEnd type="triangle" w="lg" len="med"/>
          </a:ln>
        </p:spPr>
        <p:txBody>
          <a:bodyPr/>
          <a:lstStyle/>
          <a:p>
            <a:endParaRPr lang="en-IN"/>
          </a:p>
        </p:txBody>
      </p:sp>
      <p:sp>
        <p:nvSpPr>
          <p:cNvPr id="23" name="AutoShape 23"/>
          <p:cNvSpPr/>
          <p:nvPr/>
        </p:nvSpPr>
        <p:spPr>
          <a:xfrm>
            <a:off x="14761748" y="7371147"/>
            <a:ext cx="0" cy="785285"/>
          </a:xfrm>
          <a:prstGeom prst="line">
            <a:avLst/>
          </a:prstGeom>
          <a:ln w="66675" cap="flat">
            <a:solidFill>
              <a:srgbClr val="5E7B97"/>
            </a:solidFill>
            <a:prstDash val="solid"/>
            <a:headEnd type="none" w="sm" len="sm"/>
            <a:tailEnd type="triangle" w="lg" len="med"/>
          </a:ln>
        </p:spPr>
        <p:txBody>
          <a:bodyPr/>
          <a:lstStyle/>
          <a:p>
            <a:endParaRPr lang="en-IN"/>
          </a:p>
        </p:txBody>
      </p:sp>
      <p:sp>
        <p:nvSpPr>
          <p:cNvPr id="24" name="TextBox 24"/>
          <p:cNvSpPr txBox="1"/>
          <p:nvPr/>
        </p:nvSpPr>
        <p:spPr>
          <a:xfrm>
            <a:off x="10785976" y="9678035"/>
            <a:ext cx="6587624"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p:bldP spid="12" grpId="0"/>
      <p:bldP spid="13" grpId="0" animBg="1"/>
      <p:bldP spid="14" grpId="0" animBg="1"/>
      <p:bldP spid="15" grpId="0" animBg="1"/>
      <p:bldP spid="16" grpId="0"/>
      <p:bldP spid="17" grpId="0"/>
      <p:bldP spid="18" grpId="0"/>
      <p:bldP spid="19" grpId="0"/>
      <p:bldP spid="20" grpId="0" animBg="1"/>
      <p:bldP spid="21"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999201" y="346710"/>
            <a:ext cx="4430799" cy="1135380"/>
          </a:xfrm>
          <a:prstGeom prst="rect">
            <a:avLst/>
          </a:prstGeom>
        </p:spPr>
        <p:txBody>
          <a:bodyPr wrap="square" lIns="0" tIns="0" rIns="0" bIns="0" rtlCol="0" anchor="t">
            <a:spAutoFit/>
          </a:bodyPr>
          <a:lstStyle/>
          <a:p>
            <a:pPr algn="ctr">
              <a:lnSpc>
                <a:spcPts val="9660"/>
              </a:lnSpc>
              <a:spcBef>
                <a:spcPct val="0"/>
              </a:spcBef>
            </a:pPr>
            <a:r>
              <a:rPr lang="en-US" sz="6000" b="1" err="1">
                <a:solidFill>
                  <a:srgbClr val="FDF6EC"/>
                </a:solidFill>
                <a:latin typeface="Canva Sans Bold"/>
                <a:ea typeface="Canva Sans Bold"/>
                <a:cs typeface="Canva Sans Bold"/>
                <a:sym typeface="Canva Sans Bold"/>
              </a:rPr>
              <a:t>NeuroSEED</a:t>
            </a:r>
            <a:r>
              <a:rPr lang="en-US" sz="6000" b="1">
                <a:solidFill>
                  <a:srgbClr val="FDF6EC"/>
                </a:solidFill>
                <a:latin typeface="Canva Sans Bold"/>
                <a:ea typeface="Canva Sans Bold"/>
                <a:cs typeface="Canva Sans Bold"/>
                <a:sym typeface="Canva Sans Bold"/>
              </a:rPr>
              <a:t>​</a:t>
            </a:r>
          </a:p>
        </p:txBody>
      </p:sp>
      <p:sp>
        <p:nvSpPr>
          <p:cNvPr id="6" name="TextBox 6"/>
          <p:cNvSpPr txBox="1"/>
          <p:nvPr/>
        </p:nvSpPr>
        <p:spPr>
          <a:xfrm>
            <a:off x="0" y="1729737"/>
            <a:ext cx="4940585" cy="763270"/>
          </a:xfrm>
          <a:prstGeom prst="rect">
            <a:avLst/>
          </a:prstGeom>
        </p:spPr>
        <p:txBody>
          <a:bodyPr lIns="0" tIns="0" rIns="0" bIns="0" rtlCol="0" anchor="t">
            <a:spAutoFit/>
          </a:bodyPr>
          <a:lstStyle/>
          <a:p>
            <a:pPr algn="ctr">
              <a:lnSpc>
                <a:spcPts val="6439"/>
              </a:lnSpc>
              <a:spcBef>
                <a:spcPct val="0"/>
              </a:spcBef>
            </a:pPr>
            <a:r>
              <a:rPr lang="en-US" sz="3999" b="1">
                <a:solidFill>
                  <a:srgbClr val="000000"/>
                </a:solidFill>
                <a:latin typeface="Canva Sans Bold"/>
                <a:ea typeface="Canva Sans Bold"/>
                <a:cs typeface="Canva Sans Bold"/>
                <a:sym typeface="Canva Sans Bold"/>
              </a:rPr>
              <a:t>Run-Time Analysis</a:t>
            </a:r>
          </a:p>
        </p:txBody>
      </p:sp>
      <p:sp>
        <p:nvSpPr>
          <p:cNvPr id="7" name="TextBox 7"/>
          <p:cNvSpPr txBox="1"/>
          <p:nvPr/>
        </p:nvSpPr>
        <p:spPr>
          <a:xfrm>
            <a:off x="386974" y="2493007"/>
            <a:ext cx="6612226" cy="567690"/>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For N sequences of length M each </a:t>
            </a:r>
          </a:p>
        </p:txBody>
      </p:sp>
      <p:sp>
        <p:nvSpPr>
          <p:cNvPr id="8" name="TextBox 8"/>
          <p:cNvSpPr txBox="1"/>
          <p:nvPr/>
        </p:nvSpPr>
        <p:spPr>
          <a:xfrm>
            <a:off x="382657" y="3060698"/>
            <a:ext cx="10521417" cy="560987"/>
          </a:xfrm>
          <a:prstGeom prst="rect">
            <a:avLst/>
          </a:prstGeom>
        </p:spPr>
        <p:txBody>
          <a:bodyPr wrap="square" lIns="0" tIns="0" rIns="0" bIns="0" rtlCol="0" anchor="t">
            <a:spAutoFit/>
          </a:bodyPr>
          <a:lstStyle/>
          <a:p>
            <a:pPr algn="ctr">
              <a:lnSpc>
                <a:spcPts val="4830"/>
              </a:lnSpc>
              <a:spcBef>
                <a:spcPct val="0"/>
              </a:spcBef>
            </a:pPr>
            <a:r>
              <a:rPr lang="en-US" sz="3000" b="1">
                <a:solidFill>
                  <a:srgbClr val="000000"/>
                </a:solidFill>
                <a:latin typeface="Canva Sans Bold"/>
                <a:ea typeface="Canva Sans Bold"/>
                <a:cs typeface="Canva Sans Bold"/>
                <a:sym typeface="Canva Sans Bold"/>
              </a:rPr>
              <a:t>Classical Alignment based Algorithms: </a:t>
            </a:r>
            <a:r>
              <a:rPr lang="en-US" sz="3000">
                <a:solidFill>
                  <a:srgbClr val="000000"/>
                </a:solidFill>
                <a:latin typeface="Canva Sans"/>
                <a:ea typeface="Canva Sans"/>
                <a:cs typeface="Canva Sans"/>
                <a:sym typeface="Canva Sans"/>
              </a:rPr>
              <a:t>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.M</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a:t>
            </a:r>
          </a:p>
        </p:txBody>
      </p:sp>
      <p:sp>
        <p:nvSpPr>
          <p:cNvPr id="9" name="TextBox 9"/>
          <p:cNvSpPr txBox="1"/>
          <p:nvPr/>
        </p:nvSpPr>
        <p:spPr>
          <a:xfrm>
            <a:off x="382655" y="3628387"/>
            <a:ext cx="14063483" cy="567690"/>
          </a:xfrm>
          <a:prstGeom prst="rect">
            <a:avLst/>
          </a:prstGeom>
        </p:spPr>
        <p:txBody>
          <a:bodyPr wrap="square" lIns="0" tIns="0" rIns="0" bIns="0" rtlCol="0" anchor="t">
            <a:spAutoFit/>
          </a:bodyPr>
          <a:lstStyle/>
          <a:p>
            <a:pPr algn="ctr">
              <a:lnSpc>
                <a:spcPts val="4830"/>
              </a:lnSpc>
              <a:spcBef>
                <a:spcPct val="0"/>
              </a:spcBef>
            </a:pPr>
            <a:r>
              <a:rPr lang="en-US" sz="3000" b="1">
                <a:solidFill>
                  <a:srgbClr val="000000"/>
                </a:solidFill>
                <a:latin typeface="Canva Sans Bold"/>
                <a:ea typeface="Canva Sans Bold"/>
                <a:cs typeface="Canva Sans Bold"/>
                <a:sym typeface="Canva Sans Bold"/>
              </a:rPr>
              <a:t>Fastest algorithm for computing distance matrix: </a:t>
            </a:r>
            <a:r>
              <a:rPr lang="en-US" sz="3000">
                <a:solidFill>
                  <a:srgbClr val="000000"/>
                </a:solidFill>
                <a:latin typeface="Canva Sans"/>
                <a:ea typeface="Canva Sans"/>
                <a:cs typeface="Canva Sans"/>
                <a:sym typeface="Canva Sans"/>
              </a:rPr>
              <a:t>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 M</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a:t>
            </a:r>
            <a:r>
              <a:rPr lang="en-US" sz="3000" err="1">
                <a:solidFill>
                  <a:srgbClr val="000000"/>
                </a:solidFill>
                <a:latin typeface="Canva Sans"/>
                <a:ea typeface="Canva Sans"/>
                <a:cs typeface="Canva Sans"/>
                <a:sym typeface="Canva Sans"/>
              </a:rPr>
              <a:t>logM</a:t>
            </a:r>
            <a:r>
              <a:rPr lang="en-US" sz="3000">
                <a:solidFill>
                  <a:srgbClr val="000000"/>
                </a:solidFill>
                <a:latin typeface="Canva Sans"/>
                <a:ea typeface="Canva Sans"/>
                <a:cs typeface="Canva Sans"/>
                <a:sym typeface="Canva Sans"/>
              </a:rPr>
              <a:t>)</a:t>
            </a:r>
          </a:p>
        </p:txBody>
      </p:sp>
      <p:sp>
        <p:nvSpPr>
          <p:cNvPr id="10" name="TextBox 10"/>
          <p:cNvSpPr txBox="1"/>
          <p:nvPr/>
        </p:nvSpPr>
        <p:spPr>
          <a:xfrm>
            <a:off x="206444" y="4802505"/>
            <a:ext cx="4527697" cy="567690"/>
          </a:xfrm>
          <a:prstGeom prst="rect">
            <a:avLst/>
          </a:prstGeom>
        </p:spPr>
        <p:txBody>
          <a:bodyPr lIns="0" tIns="0" rIns="0" bIns="0" rtlCol="0" anchor="t">
            <a:spAutoFit/>
          </a:bodyPr>
          <a:lstStyle/>
          <a:p>
            <a:pPr algn="ctr">
              <a:lnSpc>
                <a:spcPts val="4830"/>
              </a:lnSpc>
              <a:spcBef>
                <a:spcPct val="0"/>
              </a:spcBef>
            </a:pPr>
            <a:r>
              <a:rPr lang="en-US" sz="3000" b="1" err="1">
                <a:solidFill>
                  <a:srgbClr val="000000"/>
                </a:solidFill>
                <a:latin typeface="Canva Sans Bold"/>
                <a:ea typeface="Canva Sans Bold"/>
                <a:cs typeface="Canva Sans Bold"/>
                <a:sym typeface="Canva Sans Bold"/>
              </a:rPr>
              <a:t>NeuroSEED</a:t>
            </a:r>
            <a:r>
              <a:rPr lang="en-US" sz="3000" b="1">
                <a:solidFill>
                  <a:srgbClr val="000000"/>
                </a:solidFill>
                <a:latin typeface="Canva Sans Bold"/>
                <a:ea typeface="Canva Sans Bold"/>
                <a:cs typeface="Canva Sans Bold"/>
                <a:sym typeface="Canva Sans Bold"/>
              </a:rPr>
              <a:t> Heuristics</a:t>
            </a:r>
          </a:p>
        </p:txBody>
      </p:sp>
      <p:sp>
        <p:nvSpPr>
          <p:cNvPr id="11" name="TextBox 11"/>
          <p:cNvSpPr txBox="1"/>
          <p:nvPr/>
        </p:nvSpPr>
        <p:spPr>
          <a:xfrm>
            <a:off x="386974" y="5255895"/>
            <a:ext cx="16770664" cy="567690"/>
          </a:xfrm>
          <a:prstGeom prst="rect">
            <a:avLst/>
          </a:prstGeom>
        </p:spPr>
        <p:txBody>
          <a:bodyPr lIns="0" tIns="0" rIns="0" bIns="0" rtlCol="0" anchor="t">
            <a:spAutoFit/>
          </a:bodyPr>
          <a:lstStyle/>
          <a:p>
            <a:pPr algn="ctr">
              <a:lnSpc>
                <a:spcPts val="4830"/>
              </a:lnSpc>
              <a:spcBef>
                <a:spcPct val="0"/>
              </a:spcBef>
            </a:pPr>
            <a:r>
              <a:rPr lang="en-US" sz="3000">
                <a:solidFill>
                  <a:srgbClr val="000000"/>
                </a:solidFill>
                <a:latin typeface="Canva Sans"/>
                <a:ea typeface="Canva Sans"/>
                <a:cs typeface="Canva Sans"/>
                <a:sym typeface="Canva Sans"/>
              </a:rPr>
              <a:t>Assuming constant embedding size and a model linear with respect to the sequence length</a:t>
            </a:r>
          </a:p>
        </p:txBody>
      </p:sp>
      <p:sp>
        <p:nvSpPr>
          <p:cNvPr id="12" name="TextBox 12"/>
          <p:cNvSpPr txBox="1"/>
          <p:nvPr/>
        </p:nvSpPr>
        <p:spPr>
          <a:xfrm>
            <a:off x="1028700" y="5823585"/>
            <a:ext cx="11215670"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Time taken to embed a sequence in geometric space ⟶ O(M)</a:t>
            </a:r>
          </a:p>
        </p:txBody>
      </p:sp>
      <p:sp>
        <p:nvSpPr>
          <p:cNvPr id="13" name="TextBox 13"/>
          <p:cNvSpPr txBox="1"/>
          <p:nvPr/>
        </p:nvSpPr>
        <p:spPr>
          <a:xfrm>
            <a:off x="1028700" y="6391275"/>
            <a:ext cx="11549999"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Time taken to embed N sequence in geometric space ⟶ O(NM)</a:t>
            </a:r>
          </a:p>
        </p:txBody>
      </p:sp>
      <p:sp>
        <p:nvSpPr>
          <p:cNvPr id="14" name="TextBox 14"/>
          <p:cNvSpPr txBox="1"/>
          <p:nvPr/>
        </p:nvSpPr>
        <p:spPr>
          <a:xfrm>
            <a:off x="1028700" y="6958965"/>
            <a:ext cx="16000954" cy="5676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Time taken to compute distances between two embeddings in geometric space ⟶ O(1)</a:t>
            </a:r>
          </a:p>
        </p:txBody>
      </p:sp>
      <p:sp>
        <p:nvSpPr>
          <p:cNvPr id="15" name="TextBox 15"/>
          <p:cNvSpPr txBox="1"/>
          <p:nvPr/>
        </p:nvSpPr>
        <p:spPr>
          <a:xfrm>
            <a:off x="1028700" y="7698105"/>
            <a:ext cx="15434564" cy="781050"/>
          </a:xfrm>
          <a:prstGeom prst="rect">
            <a:avLst/>
          </a:prstGeom>
        </p:spPr>
        <p:txBody>
          <a:bodyPr lIns="0" tIns="0" rIns="0" bIns="0" rtlCol="0" anchor="t">
            <a:spAutoFit/>
          </a:bodyPr>
          <a:lstStyle/>
          <a:p>
            <a:pPr algn="l">
              <a:lnSpc>
                <a:spcPts val="3000"/>
              </a:lnSpc>
            </a:pPr>
            <a:r>
              <a:rPr lang="en-US" sz="3000">
                <a:solidFill>
                  <a:srgbClr val="000000"/>
                </a:solidFill>
                <a:latin typeface="Canva Sans"/>
                <a:ea typeface="Canva Sans"/>
                <a:cs typeface="Canva Sans"/>
                <a:sym typeface="Canva Sans"/>
              </a:rPr>
              <a:t>Time taken to compute pairwise distances between all embeddings in geometric space ⟶ 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a:t>
            </a:r>
          </a:p>
        </p:txBody>
      </p:sp>
      <p:sp>
        <p:nvSpPr>
          <p:cNvPr id="16" name="TextBox 16"/>
          <p:cNvSpPr txBox="1"/>
          <p:nvPr/>
        </p:nvSpPr>
        <p:spPr>
          <a:xfrm>
            <a:off x="1055024" y="8896350"/>
            <a:ext cx="15434564" cy="400050"/>
          </a:xfrm>
          <a:prstGeom prst="rect">
            <a:avLst/>
          </a:prstGeom>
        </p:spPr>
        <p:txBody>
          <a:bodyPr lIns="0" tIns="0" rIns="0" bIns="0" rtlCol="0" anchor="t">
            <a:spAutoFit/>
          </a:bodyPr>
          <a:lstStyle/>
          <a:p>
            <a:pPr algn="l">
              <a:lnSpc>
                <a:spcPts val="3000"/>
              </a:lnSpc>
            </a:pPr>
            <a:r>
              <a:rPr lang="en-US" sz="3000">
                <a:solidFill>
                  <a:srgbClr val="000000"/>
                </a:solidFill>
                <a:latin typeface="Canva Sans"/>
                <a:ea typeface="Canva Sans"/>
                <a:cs typeface="Canva Sans"/>
                <a:sym typeface="Canva Sans"/>
              </a:rPr>
              <a:t>Total computational complexity ⟶ 0(NM+N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 O(N(M+N))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023676" y="2315683"/>
            <a:ext cx="5775691" cy="6733545"/>
            <a:chOff x="0" y="0"/>
            <a:chExt cx="7700921" cy="8978060"/>
          </a:xfrm>
        </p:grpSpPr>
        <p:sp>
          <p:nvSpPr>
            <p:cNvPr id="6" name="Freeform 6"/>
            <p:cNvSpPr/>
            <p:nvPr/>
          </p:nvSpPr>
          <p:spPr>
            <a:xfrm>
              <a:off x="347555" y="420110"/>
              <a:ext cx="3695864" cy="7199130"/>
            </a:xfrm>
            <a:custGeom>
              <a:avLst/>
              <a:gdLst/>
              <a:ahLst/>
              <a:cxnLst/>
              <a:rect l="l" t="t" r="r" b="b"/>
              <a:pathLst>
                <a:path w="3695864" h="7199130">
                  <a:moveTo>
                    <a:pt x="0" y="0"/>
                  </a:moveTo>
                  <a:lnTo>
                    <a:pt x="3695864" y="0"/>
                  </a:lnTo>
                  <a:lnTo>
                    <a:pt x="3695864" y="7199130"/>
                  </a:lnTo>
                  <a:lnTo>
                    <a:pt x="0" y="7199130"/>
                  </a:lnTo>
                  <a:lnTo>
                    <a:pt x="0" y="0"/>
                  </a:lnTo>
                  <a:close/>
                </a:path>
              </a:pathLst>
            </a:custGeom>
            <a:blipFill>
              <a:blip r:embed="rId2"/>
              <a:stretch>
                <a:fillRect l="-480" t="-2885" r="-480"/>
              </a:stretch>
            </a:blipFill>
          </p:spPr>
          <p:txBody>
            <a:bodyPr/>
            <a:lstStyle/>
            <a:p>
              <a:endParaRPr lang="en-IN"/>
            </a:p>
          </p:txBody>
        </p:sp>
        <p:sp>
          <p:nvSpPr>
            <p:cNvPr id="7" name="Freeform 7"/>
            <p:cNvSpPr/>
            <p:nvPr/>
          </p:nvSpPr>
          <p:spPr>
            <a:xfrm>
              <a:off x="4043419" y="420110"/>
              <a:ext cx="3331821" cy="7158489"/>
            </a:xfrm>
            <a:custGeom>
              <a:avLst/>
              <a:gdLst/>
              <a:ahLst/>
              <a:cxnLst/>
              <a:rect l="l" t="t" r="r" b="b"/>
              <a:pathLst>
                <a:path w="3331821" h="7158489">
                  <a:moveTo>
                    <a:pt x="0" y="0"/>
                  </a:moveTo>
                  <a:lnTo>
                    <a:pt x="3331821" y="0"/>
                  </a:lnTo>
                  <a:lnTo>
                    <a:pt x="3331821" y="7158490"/>
                  </a:lnTo>
                  <a:lnTo>
                    <a:pt x="0" y="7158490"/>
                  </a:lnTo>
                  <a:lnTo>
                    <a:pt x="0" y="0"/>
                  </a:lnTo>
                  <a:close/>
                </a:path>
              </a:pathLst>
            </a:custGeom>
            <a:blipFill>
              <a:blip r:embed="rId3"/>
              <a:stretch>
                <a:fillRect t="-7432" b="-476"/>
              </a:stretch>
            </a:blipFill>
          </p:spPr>
          <p:txBody>
            <a:bodyPr/>
            <a:lstStyle/>
            <a:p>
              <a:endParaRPr lang="en-IN"/>
            </a:p>
          </p:txBody>
        </p:sp>
        <p:grpSp>
          <p:nvGrpSpPr>
            <p:cNvPr id="8" name="Group 8"/>
            <p:cNvGrpSpPr/>
            <p:nvPr/>
          </p:nvGrpSpPr>
          <p:grpSpPr>
            <a:xfrm>
              <a:off x="0" y="0"/>
              <a:ext cx="7700921" cy="8978060"/>
              <a:chOff x="0" y="0"/>
              <a:chExt cx="1521170" cy="1773444"/>
            </a:xfrm>
          </p:grpSpPr>
          <p:sp>
            <p:nvSpPr>
              <p:cNvPr id="9" name="Freeform 9"/>
              <p:cNvSpPr/>
              <p:nvPr/>
            </p:nvSpPr>
            <p:spPr>
              <a:xfrm>
                <a:off x="0" y="0"/>
                <a:ext cx="1521170" cy="1773444"/>
              </a:xfrm>
              <a:custGeom>
                <a:avLst/>
                <a:gdLst/>
                <a:ahLst/>
                <a:cxnLst/>
                <a:rect l="l" t="t" r="r" b="b"/>
                <a:pathLst>
                  <a:path w="1521170" h="1773444">
                    <a:moveTo>
                      <a:pt x="50936" y="0"/>
                    </a:moveTo>
                    <a:lnTo>
                      <a:pt x="1470233" y="0"/>
                    </a:lnTo>
                    <a:cubicBezTo>
                      <a:pt x="1498365" y="0"/>
                      <a:pt x="1521170" y="22805"/>
                      <a:pt x="1521170" y="50936"/>
                    </a:cubicBezTo>
                    <a:lnTo>
                      <a:pt x="1521170" y="1722507"/>
                    </a:lnTo>
                    <a:cubicBezTo>
                      <a:pt x="1521170" y="1750639"/>
                      <a:pt x="1498365" y="1773444"/>
                      <a:pt x="1470233" y="1773444"/>
                    </a:cubicBezTo>
                    <a:lnTo>
                      <a:pt x="50936" y="1773444"/>
                    </a:lnTo>
                    <a:cubicBezTo>
                      <a:pt x="22805" y="1773444"/>
                      <a:pt x="0" y="1750639"/>
                      <a:pt x="0" y="1722507"/>
                    </a:cubicBezTo>
                    <a:lnTo>
                      <a:pt x="0" y="50936"/>
                    </a:lnTo>
                    <a:cubicBezTo>
                      <a:pt x="0" y="22805"/>
                      <a:pt x="22805" y="0"/>
                      <a:pt x="50936" y="0"/>
                    </a:cubicBezTo>
                    <a:close/>
                  </a:path>
                </a:pathLst>
              </a:custGeom>
              <a:ln w="38100" cap="rnd">
                <a:solidFill>
                  <a:srgbClr val="5E7B97"/>
                </a:solidFill>
                <a:prstDash val="solid"/>
                <a:round/>
              </a:ln>
            </p:spPr>
            <p:txBody>
              <a:bodyPr/>
              <a:lstStyle/>
              <a:p>
                <a:endParaRPr lang="en-IN"/>
              </a:p>
            </p:txBody>
          </p:sp>
          <p:sp>
            <p:nvSpPr>
              <p:cNvPr id="10" name="TextBox 10"/>
              <p:cNvSpPr txBox="1"/>
              <p:nvPr/>
            </p:nvSpPr>
            <p:spPr>
              <a:xfrm>
                <a:off x="0" y="-38100"/>
                <a:ext cx="1521170" cy="1811544"/>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557433" y="7533515"/>
              <a:ext cx="6586054" cy="1013671"/>
            </a:xfrm>
            <a:prstGeom prst="rect">
              <a:avLst/>
            </a:prstGeom>
          </p:spPr>
          <p:txBody>
            <a:bodyPr lIns="0" tIns="0" rIns="0" bIns="0" rtlCol="0" anchor="t">
              <a:spAutoFit/>
            </a:bodyPr>
            <a:lstStyle/>
            <a:p>
              <a:pPr algn="l">
                <a:lnSpc>
                  <a:spcPts val="3220"/>
                </a:lnSpc>
                <a:spcBef>
                  <a:spcPct val="0"/>
                </a:spcBef>
              </a:pPr>
              <a:r>
                <a:rPr lang="en-US" sz="2000">
                  <a:solidFill>
                    <a:srgbClr val="000000"/>
                  </a:solidFill>
                  <a:latin typeface="Canva Sans"/>
                  <a:ea typeface="Canva Sans"/>
                  <a:cs typeface="Canva Sans"/>
                  <a:sym typeface="Canva Sans"/>
                </a:rPr>
                <a:t>% increase in Dasgupta’s cost compared to clustering on ground truth distance</a:t>
              </a:r>
            </a:p>
          </p:txBody>
        </p:sp>
      </p:grpSp>
      <p:sp>
        <p:nvSpPr>
          <p:cNvPr id="13" name="TextBox 13"/>
          <p:cNvSpPr txBox="1"/>
          <p:nvPr/>
        </p:nvSpPr>
        <p:spPr>
          <a:xfrm>
            <a:off x="23447" y="1937858"/>
            <a:ext cx="6033754"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Hierarchical Clustering</a:t>
            </a:r>
          </a:p>
        </p:txBody>
      </p:sp>
      <p:sp>
        <p:nvSpPr>
          <p:cNvPr id="14" name="TextBox 14"/>
          <p:cNvSpPr txBox="1"/>
          <p:nvPr/>
        </p:nvSpPr>
        <p:spPr>
          <a:xfrm>
            <a:off x="282893" y="2503008"/>
            <a:ext cx="11447128" cy="11772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Agglomerative clustering can be run on approximate distance matrix constructed from NeuroSEED embeddings</a:t>
            </a:r>
          </a:p>
        </p:txBody>
      </p:sp>
      <p:sp>
        <p:nvSpPr>
          <p:cNvPr id="15" name="TextBox 15"/>
          <p:cNvSpPr txBox="1"/>
          <p:nvPr/>
        </p:nvSpPr>
        <p:spPr>
          <a:xfrm>
            <a:off x="706540" y="4427060"/>
            <a:ext cx="11023481" cy="2396490"/>
          </a:xfrm>
          <a:prstGeom prst="rect">
            <a:avLst/>
          </a:prstGeom>
        </p:spPr>
        <p:txBody>
          <a:bodyPr lIns="0" tIns="0" rIns="0" bIns="0" rtlCol="0" anchor="t">
            <a:spAutoFit/>
          </a:bodyPr>
          <a:lstStyle/>
          <a:p>
            <a:pPr marL="647700" lvl="1" indent="-323850">
              <a:lnSpc>
                <a:spcPts val="4830"/>
              </a:lnSpc>
              <a:buFont typeface="Arial"/>
              <a:buChar char="•"/>
            </a:pPr>
            <a:r>
              <a:rPr lang="en-US" sz="3000">
                <a:solidFill>
                  <a:srgbClr val="000000"/>
                </a:solidFill>
                <a:latin typeface="Canva Sans"/>
                <a:ea typeface="Canva Sans"/>
                <a:cs typeface="Canva Sans"/>
                <a:sym typeface="Canva Sans"/>
              </a:rPr>
              <a:t>Time complexity  to generate the pairwise distance matrix reduces from 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M</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)/log M) to O(N(M +N))</a:t>
            </a:r>
          </a:p>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Clustering itself may be accelerated by geometric </a:t>
            </a:r>
            <a:r>
              <a:rPr lang="en-US" sz="3000" err="1">
                <a:solidFill>
                  <a:srgbClr val="000000"/>
                </a:solidFill>
                <a:latin typeface="Canva Sans"/>
                <a:ea typeface="Canva Sans"/>
                <a:cs typeface="Canva Sans"/>
                <a:sym typeface="Canva Sans"/>
              </a:rPr>
              <a:t>optimisations</a:t>
            </a:r>
            <a:r>
              <a:rPr lang="en-US" sz="3000">
                <a:solidFill>
                  <a:srgbClr val="000000"/>
                </a:solidFill>
                <a:latin typeface="Canva Sans"/>
                <a:ea typeface="Canva Sans"/>
                <a:cs typeface="Canva Sans"/>
                <a:sym typeface="Canva Sans"/>
              </a:rPr>
              <a:t> such as locality sensitive hashing</a:t>
            </a:r>
            <a:endParaRPr lang="en-US" sz="3000">
              <a:solidFill>
                <a:srgbClr val="000000"/>
              </a:solidFill>
              <a:latin typeface="Canva Sans"/>
              <a:ea typeface="Canva Sans"/>
              <a:cs typeface="Canva Sans"/>
            </a:endParaRPr>
          </a:p>
        </p:txBody>
      </p:sp>
      <p:sp>
        <p:nvSpPr>
          <p:cNvPr id="16" name="TextBox 16"/>
          <p:cNvSpPr txBox="1"/>
          <p:nvPr/>
        </p:nvSpPr>
        <p:spPr>
          <a:xfrm>
            <a:off x="282893" y="3851748"/>
            <a:ext cx="2757431" cy="5969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Canva Sans Bold"/>
                <a:ea typeface="Canva Sans Bold"/>
                <a:cs typeface="Canva Sans Bold"/>
                <a:sym typeface="Canva Sans Bold"/>
              </a:rPr>
              <a:t>Advantages</a:t>
            </a:r>
          </a:p>
        </p:txBody>
      </p:sp>
      <p:sp>
        <p:nvSpPr>
          <p:cNvPr id="17" name="TextBox 17"/>
          <p:cNvSpPr txBox="1"/>
          <p:nvPr/>
        </p:nvSpPr>
        <p:spPr>
          <a:xfrm>
            <a:off x="282893" y="7081363"/>
            <a:ext cx="3014607" cy="5969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Canva Sans Bold"/>
                <a:ea typeface="Canva Sans Bold"/>
                <a:cs typeface="Canva Sans Bold"/>
                <a:sym typeface="Canva Sans Bold"/>
              </a:rPr>
              <a:t>Observations</a:t>
            </a:r>
          </a:p>
        </p:txBody>
      </p:sp>
      <p:sp>
        <p:nvSpPr>
          <p:cNvPr id="18" name="TextBox 18"/>
          <p:cNvSpPr txBox="1"/>
          <p:nvPr/>
        </p:nvSpPr>
        <p:spPr>
          <a:xfrm>
            <a:off x="1028700" y="7563963"/>
            <a:ext cx="10701321" cy="1786890"/>
          </a:xfrm>
          <a:prstGeom prst="rect">
            <a:avLst/>
          </a:prstGeom>
        </p:spPr>
        <p:txBody>
          <a:bodyPr lIns="0" tIns="0" rIns="0" bIns="0" rtlCol="0" anchor="t">
            <a:spAutoFit/>
          </a:bodyPr>
          <a:lstStyle/>
          <a:p>
            <a:pPr algn="l">
              <a:lnSpc>
                <a:spcPts val="4830"/>
              </a:lnSpc>
            </a:pPr>
            <a:r>
              <a:rPr lang="en-US" sz="3000">
                <a:solidFill>
                  <a:srgbClr val="000000"/>
                </a:solidFill>
                <a:latin typeface="Canva Sans"/>
                <a:ea typeface="Canva Sans"/>
                <a:cs typeface="Canva Sans"/>
                <a:sym typeface="Canva Sans"/>
              </a:rPr>
              <a:t>On a set of 10K unseen sequences from the Qiita dataset, time taken to construct the tree is reduced from more than 30 minutes to less than one</a:t>
            </a:r>
          </a:p>
        </p:txBody>
      </p:sp>
      <p:sp>
        <p:nvSpPr>
          <p:cNvPr id="19" name="TextBox 19"/>
          <p:cNvSpPr txBox="1"/>
          <p:nvPr/>
        </p:nvSpPr>
        <p:spPr>
          <a:xfrm>
            <a:off x="10785976" y="9678035"/>
            <a:ext cx="6663824"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
        <p:nvSpPr>
          <p:cNvPr id="23" name="TextBox 8">
            <a:extLst>
              <a:ext uri="{FF2B5EF4-FFF2-40B4-BE49-F238E27FC236}">
                <a16:creationId xmlns:a16="http://schemas.microsoft.com/office/drawing/2014/main" id="{2C7E4D6F-498A-F478-69D0-3AC5FB2FF886}"/>
              </a:ext>
            </a:extLst>
          </p:cNvPr>
          <p:cNvSpPr txBox="1"/>
          <p:nvPr/>
        </p:nvSpPr>
        <p:spPr>
          <a:xfrm>
            <a:off x="2211994" y="445365"/>
            <a:ext cx="14628205"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APPLICATIONS IN BIOINFORMATICS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428659" y="2861542"/>
            <a:ext cx="4933512" cy="3990039"/>
            <a:chOff x="0" y="0"/>
            <a:chExt cx="6578015" cy="5320052"/>
          </a:xfrm>
        </p:grpSpPr>
        <p:sp>
          <p:nvSpPr>
            <p:cNvPr id="6" name="Freeform 6"/>
            <p:cNvSpPr/>
            <p:nvPr/>
          </p:nvSpPr>
          <p:spPr>
            <a:xfrm>
              <a:off x="0" y="0"/>
              <a:ext cx="3292893" cy="5295367"/>
            </a:xfrm>
            <a:custGeom>
              <a:avLst/>
              <a:gdLst/>
              <a:ahLst/>
              <a:cxnLst/>
              <a:rect l="l" t="t" r="r" b="b"/>
              <a:pathLst>
                <a:path w="3292893" h="5295367">
                  <a:moveTo>
                    <a:pt x="0" y="0"/>
                  </a:moveTo>
                  <a:lnTo>
                    <a:pt x="3292893" y="0"/>
                  </a:lnTo>
                  <a:lnTo>
                    <a:pt x="3292893" y="5295367"/>
                  </a:lnTo>
                  <a:lnTo>
                    <a:pt x="0" y="5295367"/>
                  </a:lnTo>
                  <a:lnTo>
                    <a:pt x="0" y="0"/>
                  </a:lnTo>
                  <a:close/>
                </a:path>
              </a:pathLst>
            </a:custGeom>
            <a:blipFill>
              <a:blip r:embed="rId2"/>
              <a:stretch>
                <a:fillRect l="-6699" t="-2603" b="-5378"/>
              </a:stretch>
            </a:blipFill>
          </p:spPr>
          <p:txBody>
            <a:bodyPr/>
            <a:lstStyle/>
            <a:p>
              <a:endParaRPr lang="en-IN"/>
            </a:p>
          </p:txBody>
        </p:sp>
        <p:sp>
          <p:nvSpPr>
            <p:cNvPr id="7" name="Freeform 7"/>
            <p:cNvSpPr/>
            <p:nvPr/>
          </p:nvSpPr>
          <p:spPr>
            <a:xfrm>
              <a:off x="3292893" y="24685"/>
              <a:ext cx="3285123" cy="5295367"/>
            </a:xfrm>
            <a:custGeom>
              <a:avLst/>
              <a:gdLst/>
              <a:ahLst/>
              <a:cxnLst/>
              <a:rect l="l" t="t" r="r" b="b"/>
              <a:pathLst>
                <a:path w="3285123" h="5295367">
                  <a:moveTo>
                    <a:pt x="0" y="0"/>
                  </a:moveTo>
                  <a:lnTo>
                    <a:pt x="3285122" y="0"/>
                  </a:lnTo>
                  <a:lnTo>
                    <a:pt x="3285122" y="5295367"/>
                  </a:lnTo>
                  <a:lnTo>
                    <a:pt x="0" y="5295367"/>
                  </a:lnTo>
                  <a:lnTo>
                    <a:pt x="0" y="0"/>
                  </a:lnTo>
                  <a:close/>
                </a:path>
              </a:pathLst>
            </a:custGeom>
            <a:blipFill>
              <a:blip r:embed="rId3"/>
              <a:stretch>
                <a:fillRect l="-576" t="-1568" r="-576"/>
              </a:stretch>
            </a:blipFill>
          </p:spPr>
          <p:txBody>
            <a:bodyPr/>
            <a:lstStyle/>
            <a:p>
              <a:endParaRPr lang="en-IN"/>
            </a:p>
          </p:txBody>
        </p:sp>
      </p:grpSp>
      <p:sp>
        <p:nvSpPr>
          <p:cNvPr id="8" name="TextBox 8"/>
          <p:cNvSpPr txBox="1"/>
          <p:nvPr/>
        </p:nvSpPr>
        <p:spPr>
          <a:xfrm>
            <a:off x="2211994" y="445365"/>
            <a:ext cx="14628205"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APPLICATIONS IN BIOINFORMATICS</a:t>
            </a:r>
          </a:p>
        </p:txBody>
      </p:sp>
      <p:sp>
        <p:nvSpPr>
          <p:cNvPr id="9" name="TextBox 9"/>
          <p:cNvSpPr txBox="1"/>
          <p:nvPr/>
        </p:nvSpPr>
        <p:spPr>
          <a:xfrm>
            <a:off x="23447" y="1937858"/>
            <a:ext cx="8039724"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Multiple Sequences Alignment</a:t>
            </a:r>
          </a:p>
        </p:txBody>
      </p:sp>
      <p:sp>
        <p:nvSpPr>
          <p:cNvPr id="10" name="TextBox 10"/>
          <p:cNvSpPr txBox="1"/>
          <p:nvPr/>
        </p:nvSpPr>
        <p:spPr>
          <a:xfrm>
            <a:off x="282893" y="2503008"/>
            <a:ext cx="11447128" cy="17868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Guide tree construction can be done using the approximate distance matrix constructed from NeuroSEED embeddings followed by progressive alignment</a:t>
            </a:r>
          </a:p>
        </p:txBody>
      </p:sp>
      <p:sp>
        <p:nvSpPr>
          <p:cNvPr id="11" name="TextBox 11"/>
          <p:cNvSpPr txBox="1"/>
          <p:nvPr/>
        </p:nvSpPr>
        <p:spPr>
          <a:xfrm>
            <a:off x="282893" y="4546600"/>
            <a:ext cx="2551691" cy="5969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Canva Sans Bold"/>
                <a:ea typeface="Canva Sans Bold"/>
                <a:cs typeface="Canva Sans Bold"/>
                <a:sym typeface="Canva Sans Bold"/>
              </a:rPr>
              <a:t>Advantage</a:t>
            </a:r>
          </a:p>
        </p:txBody>
      </p:sp>
      <p:sp>
        <p:nvSpPr>
          <p:cNvPr id="12" name="TextBox 12"/>
          <p:cNvSpPr txBox="1"/>
          <p:nvPr/>
        </p:nvSpPr>
        <p:spPr>
          <a:xfrm>
            <a:off x="848677" y="5029200"/>
            <a:ext cx="10701321" cy="1177290"/>
          </a:xfrm>
          <a:prstGeom prst="rect">
            <a:avLst/>
          </a:prstGeom>
        </p:spPr>
        <p:txBody>
          <a:bodyPr lIns="0" tIns="0" rIns="0" bIns="0" rtlCol="0" anchor="t">
            <a:spAutoFit/>
          </a:bodyPr>
          <a:lstStyle/>
          <a:p>
            <a:pPr marL="647700" lvl="1" indent="-323850" algn="l">
              <a:lnSpc>
                <a:spcPts val="4830"/>
              </a:lnSpc>
              <a:buFont typeface="Arial"/>
              <a:buChar char="•"/>
            </a:pPr>
            <a:r>
              <a:rPr lang="en-US" sz="3000">
                <a:solidFill>
                  <a:srgbClr val="000000"/>
                </a:solidFill>
                <a:latin typeface="Canva Sans"/>
                <a:ea typeface="Canva Sans"/>
                <a:cs typeface="Canva Sans"/>
                <a:sym typeface="Canva Sans"/>
              </a:rPr>
              <a:t>Time complexity  to generate the pairwise distance matrix reduces from O((N</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 . M</a:t>
            </a:r>
            <a:r>
              <a:rPr lang="en-US" sz="3000" baseline="30000">
                <a:solidFill>
                  <a:srgbClr val="000000"/>
                </a:solidFill>
                <a:latin typeface="Canva Sans"/>
                <a:ea typeface="Canva Sans"/>
                <a:cs typeface="Canva Sans"/>
                <a:sym typeface="Canva Sans"/>
              </a:rPr>
              <a:t>2</a:t>
            </a:r>
            <a:r>
              <a:rPr lang="en-US" sz="3000">
                <a:solidFill>
                  <a:srgbClr val="000000"/>
                </a:solidFill>
                <a:latin typeface="Canva Sans"/>
                <a:ea typeface="Canva Sans"/>
                <a:cs typeface="Canva Sans"/>
                <a:sym typeface="Canva Sans"/>
              </a:rPr>
              <a:t>)/log M) to O(N(M +N))</a:t>
            </a:r>
          </a:p>
        </p:txBody>
      </p:sp>
      <p:sp>
        <p:nvSpPr>
          <p:cNvPr id="13" name="TextBox 13"/>
          <p:cNvSpPr txBox="1"/>
          <p:nvPr/>
        </p:nvSpPr>
        <p:spPr>
          <a:xfrm>
            <a:off x="282893" y="6654165"/>
            <a:ext cx="3014607" cy="5969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Canva Sans Bold"/>
                <a:ea typeface="Canva Sans Bold"/>
                <a:cs typeface="Canva Sans Bold"/>
                <a:sym typeface="Canva Sans Bold"/>
              </a:rPr>
              <a:t>Observations</a:t>
            </a:r>
          </a:p>
        </p:txBody>
      </p:sp>
      <p:sp>
        <p:nvSpPr>
          <p:cNvPr id="14" name="TextBox 14"/>
          <p:cNvSpPr txBox="1"/>
          <p:nvPr/>
        </p:nvSpPr>
        <p:spPr>
          <a:xfrm>
            <a:off x="1028700" y="7136765"/>
            <a:ext cx="10701321" cy="2396490"/>
          </a:xfrm>
          <a:prstGeom prst="rect">
            <a:avLst/>
          </a:prstGeom>
        </p:spPr>
        <p:txBody>
          <a:bodyPr lIns="0" tIns="0" rIns="0" bIns="0" rtlCol="0" anchor="t">
            <a:spAutoFit/>
          </a:bodyPr>
          <a:lstStyle/>
          <a:p>
            <a:pPr algn="l">
              <a:lnSpc>
                <a:spcPts val="4830"/>
              </a:lnSpc>
            </a:pPr>
            <a:r>
              <a:rPr lang="en-US" sz="3000">
                <a:solidFill>
                  <a:srgbClr val="000000"/>
                </a:solidFill>
                <a:latin typeface="Canva Sans"/>
                <a:ea typeface="Canva Sans"/>
                <a:cs typeface="Canva Sans"/>
                <a:sym typeface="Canva Sans"/>
              </a:rPr>
              <a:t>On a set of 1200 sequences from the RT988 dataset, alignment score obtained using NeuroSEED heuristics were not statistically different from those obatined using ground truth distances</a:t>
            </a:r>
          </a:p>
        </p:txBody>
      </p:sp>
      <p:grpSp>
        <p:nvGrpSpPr>
          <p:cNvPr id="15" name="Group 15"/>
          <p:cNvGrpSpPr/>
          <p:nvPr/>
        </p:nvGrpSpPr>
        <p:grpSpPr>
          <a:xfrm>
            <a:off x="12203699" y="2635169"/>
            <a:ext cx="5364210" cy="6079652"/>
            <a:chOff x="0" y="0"/>
            <a:chExt cx="1412796" cy="1601225"/>
          </a:xfrm>
        </p:grpSpPr>
        <p:sp>
          <p:nvSpPr>
            <p:cNvPr id="16" name="Freeform 16"/>
            <p:cNvSpPr/>
            <p:nvPr/>
          </p:nvSpPr>
          <p:spPr>
            <a:xfrm>
              <a:off x="0" y="0"/>
              <a:ext cx="1412796" cy="1601225"/>
            </a:xfrm>
            <a:custGeom>
              <a:avLst/>
              <a:gdLst/>
              <a:ahLst/>
              <a:cxnLst/>
              <a:rect l="l" t="t" r="r" b="b"/>
              <a:pathLst>
                <a:path w="1412796" h="1601225">
                  <a:moveTo>
                    <a:pt x="47627" y="0"/>
                  </a:moveTo>
                  <a:lnTo>
                    <a:pt x="1365169" y="0"/>
                  </a:lnTo>
                  <a:cubicBezTo>
                    <a:pt x="1391472" y="0"/>
                    <a:pt x="1412796" y="21324"/>
                    <a:pt x="1412796" y="47627"/>
                  </a:cubicBezTo>
                  <a:lnTo>
                    <a:pt x="1412796" y="1553598"/>
                  </a:lnTo>
                  <a:cubicBezTo>
                    <a:pt x="1412796" y="1566229"/>
                    <a:pt x="1407778" y="1578344"/>
                    <a:pt x="1398846" y="1587275"/>
                  </a:cubicBezTo>
                  <a:cubicBezTo>
                    <a:pt x="1389914" y="1596207"/>
                    <a:pt x="1377800" y="1601225"/>
                    <a:pt x="1365169" y="1601225"/>
                  </a:cubicBezTo>
                  <a:lnTo>
                    <a:pt x="47627" y="1601225"/>
                  </a:lnTo>
                  <a:cubicBezTo>
                    <a:pt x="34996" y="1601225"/>
                    <a:pt x="22882" y="1596207"/>
                    <a:pt x="13950" y="1587275"/>
                  </a:cubicBezTo>
                  <a:cubicBezTo>
                    <a:pt x="5018" y="1578344"/>
                    <a:pt x="0" y="1566229"/>
                    <a:pt x="0" y="1553598"/>
                  </a:cubicBezTo>
                  <a:lnTo>
                    <a:pt x="0" y="47627"/>
                  </a:lnTo>
                  <a:cubicBezTo>
                    <a:pt x="0" y="34996"/>
                    <a:pt x="5018" y="22882"/>
                    <a:pt x="13950" y="13950"/>
                  </a:cubicBezTo>
                  <a:cubicBezTo>
                    <a:pt x="22882" y="5018"/>
                    <a:pt x="34996" y="0"/>
                    <a:pt x="47627" y="0"/>
                  </a:cubicBezTo>
                  <a:close/>
                </a:path>
              </a:pathLst>
            </a:custGeom>
            <a:ln w="38100" cap="rnd">
              <a:solidFill>
                <a:srgbClr val="5E7B97"/>
              </a:solidFill>
              <a:prstDash val="solid"/>
              <a:round/>
            </a:ln>
          </p:spPr>
          <p:txBody>
            <a:bodyPr/>
            <a:lstStyle/>
            <a:p>
              <a:endParaRPr lang="en-IN"/>
            </a:p>
          </p:txBody>
        </p:sp>
        <p:sp>
          <p:nvSpPr>
            <p:cNvPr id="17" name="TextBox 17"/>
            <p:cNvSpPr txBox="1"/>
            <p:nvPr/>
          </p:nvSpPr>
          <p:spPr>
            <a:xfrm>
              <a:off x="0" y="-38100"/>
              <a:ext cx="1412796" cy="1639325"/>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12428659" y="6858081"/>
            <a:ext cx="4939541" cy="1581785"/>
          </a:xfrm>
          <a:prstGeom prst="rect">
            <a:avLst/>
          </a:prstGeom>
        </p:spPr>
        <p:txBody>
          <a:bodyPr lIns="0" tIns="0" rIns="0" bIns="0" rtlCol="0" anchor="t">
            <a:spAutoFit/>
          </a:bodyPr>
          <a:lstStyle/>
          <a:p>
            <a:pPr algn="l">
              <a:lnSpc>
                <a:spcPts val="3220"/>
              </a:lnSpc>
              <a:spcBef>
                <a:spcPct val="0"/>
              </a:spcBef>
            </a:pPr>
            <a:r>
              <a:rPr lang="en-US" sz="2000">
                <a:solidFill>
                  <a:srgbClr val="000000"/>
                </a:solidFill>
                <a:latin typeface="Canva Sans"/>
                <a:ea typeface="Canva Sans"/>
                <a:cs typeface="Canva Sans"/>
                <a:sym typeface="Canva Sans"/>
              </a:rPr>
              <a:t>Improvement in alignment cost (lower the better) when using NeuroSEED heuristics over alignments obtained using ground truth distances</a:t>
            </a:r>
          </a:p>
        </p:txBody>
      </p:sp>
      <p:sp>
        <p:nvSpPr>
          <p:cNvPr id="19" name="TextBox 19"/>
          <p:cNvSpPr txBox="1"/>
          <p:nvPr/>
        </p:nvSpPr>
        <p:spPr>
          <a:xfrm>
            <a:off x="10785976" y="9678035"/>
            <a:ext cx="6781933"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211994" y="445365"/>
            <a:ext cx="14856805"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APPLICATIONS IN BIOINFORMATICS</a:t>
            </a:r>
          </a:p>
        </p:txBody>
      </p:sp>
      <p:sp>
        <p:nvSpPr>
          <p:cNvPr id="6" name="TextBox 6"/>
          <p:cNvSpPr txBox="1"/>
          <p:nvPr/>
        </p:nvSpPr>
        <p:spPr>
          <a:xfrm>
            <a:off x="213947" y="1897037"/>
            <a:ext cx="6625258"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Finding the Steiner String</a:t>
            </a:r>
          </a:p>
        </p:txBody>
      </p:sp>
      <p:sp>
        <p:nvSpPr>
          <p:cNvPr id="7" name="TextBox 7"/>
          <p:cNvSpPr txBox="1"/>
          <p:nvPr/>
        </p:nvSpPr>
        <p:spPr>
          <a:xfrm>
            <a:off x="629910" y="2798283"/>
            <a:ext cx="16629390" cy="10477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Canva Sans Bold"/>
                <a:ea typeface="Canva Sans Bold"/>
                <a:cs typeface="Canva Sans Bold"/>
                <a:sym typeface="Canva Sans Bold"/>
              </a:rPr>
              <a:t>Definition:</a:t>
            </a:r>
            <a:r>
              <a:rPr lang="en-US" sz="3000">
                <a:solidFill>
                  <a:srgbClr val="000000"/>
                </a:solidFill>
                <a:latin typeface="Canva Sans"/>
                <a:ea typeface="Canva Sans"/>
                <a:cs typeface="Canva Sans"/>
                <a:sym typeface="Canva Sans"/>
              </a:rPr>
              <a:t> Given a set of strings S and another string S’ (need not belong to S) the consensus error of the string S’ relative to S is </a:t>
            </a:r>
          </a:p>
        </p:txBody>
      </p:sp>
      <p:grpSp>
        <p:nvGrpSpPr>
          <p:cNvPr id="8" name="Group 8"/>
          <p:cNvGrpSpPr/>
          <p:nvPr/>
        </p:nvGrpSpPr>
        <p:grpSpPr>
          <a:xfrm>
            <a:off x="7148742" y="4041296"/>
            <a:ext cx="3270424" cy="669314"/>
            <a:chOff x="0" y="-57150"/>
            <a:chExt cx="4360565" cy="892419"/>
          </a:xfrm>
        </p:grpSpPr>
        <p:sp>
          <p:nvSpPr>
            <p:cNvPr id="9" name="TextBox 9"/>
            <p:cNvSpPr txBox="1"/>
            <p:nvPr/>
          </p:nvSpPr>
          <p:spPr>
            <a:xfrm>
              <a:off x="0" y="-57150"/>
              <a:ext cx="4360565" cy="666750"/>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anva Sans"/>
                  <a:ea typeface="Canva Sans"/>
                  <a:cs typeface="Canva Sans"/>
                  <a:sym typeface="Canva Sans"/>
                </a:rPr>
                <a:t>E(S’) = Σ  D(S’ , Si ) </a:t>
              </a:r>
            </a:p>
          </p:txBody>
        </p:sp>
        <p:sp>
          <p:nvSpPr>
            <p:cNvPr id="10" name="TextBox 10"/>
            <p:cNvSpPr txBox="1"/>
            <p:nvPr/>
          </p:nvSpPr>
          <p:spPr>
            <a:xfrm>
              <a:off x="1498253" y="451061"/>
              <a:ext cx="755691" cy="384208"/>
            </a:xfrm>
            <a:prstGeom prst="rect">
              <a:avLst/>
            </a:prstGeom>
          </p:spPr>
          <p:txBody>
            <a:bodyPr wrap="square" lIns="0" tIns="0" rIns="0" bIns="0" rtlCol="0" anchor="t">
              <a:spAutoFit/>
            </a:bodyPr>
            <a:lstStyle/>
            <a:p>
              <a:pPr algn="ctr">
                <a:lnSpc>
                  <a:spcPts val="2380"/>
                </a:lnSpc>
                <a:spcBef>
                  <a:spcPct val="0"/>
                </a:spcBef>
              </a:pPr>
              <a:r>
                <a:rPr lang="en-US" sz="1700">
                  <a:solidFill>
                    <a:srgbClr val="000000"/>
                  </a:solidFill>
                  <a:latin typeface="Canva Sans"/>
                  <a:ea typeface="Canva Sans"/>
                  <a:cs typeface="Canva Sans"/>
                  <a:sym typeface="Canva Sans"/>
                </a:rPr>
                <a:t>Si ϵ S</a:t>
              </a:r>
            </a:p>
          </p:txBody>
        </p:sp>
      </p:grpSp>
      <p:sp>
        <p:nvSpPr>
          <p:cNvPr id="11" name="TextBox 11"/>
          <p:cNvSpPr txBox="1"/>
          <p:nvPr/>
        </p:nvSpPr>
        <p:spPr>
          <a:xfrm>
            <a:off x="629910" y="4876955"/>
            <a:ext cx="16629390" cy="10477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Canva Sans Bold"/>
                <a:ea typeface="Canva Sans Bold"/>
                <a:cs typeface="Canva Sans Bold"/>
                <a:sym typeface="Canva Sans Bold"/>
              </a:rPr>
              <a:t>Definition:</a:t>
            </a:r>
            <a:r>
              <a:rPr lang="en-US" sz="3000">
                <a:solidFill>
                  <a:srgbClr val="000000"/>
                </a:solidFill>
                <a:latin typeface="Canva Sans"/>
                <a:ea typeface="Canva Sans"/>
                <a:cs typeface="Canva Sans"/>
                <a:sym typeface="Canva Sans"/>
              </a:rPr>
              <a:t> Given a set of strings S, an optimal Steiner string S* for S is a string that </a:t>
            </a:r>
            <a:r>
              <a:rPr lang="en-US" sz="3000" err="1">
                <a:solidFill>
                  <a:srgbClr val="000000"/>
                </a:solidFill>
                <a:latin typeface="Canva Sans"/>
                <a:ea typeface="Canva Sans"/>
                <a:cs typeface="Canva Sans"/>
                <a:sym typeface="Canva Sans"/>
              </a:rPr>
              <a:t>minimises</a:t>
            </a:r>
            <a:r>
              <a:rPr lang="en-US" sz="3000">
                <a:solidFill>
                  <a:srgbClr val="000000"/>
                </a:solidFill>
                <a:latin typeface="Canva Sans"/>
                <a:ea typeface="Canva Sans"/>
                <a:cs typeface="Canva Sans"/>
                <a:sym typeface="Canva Sans"/>
              </a:rPr>
              <a:t> E(S*) over all possible strings</a:t>
            </a:r>
          </a:p>
        </p:txBody>
      </p:sp>
      <p:sp>
        <p:nvSpPr>
          <p:cNvPr id="12" name="TextBox 12"/>
          <p:cNvSpPr txBox="1"/>
          <p:nvPr/>
        </p:nvSpPr>
        <p:spPr>
          <a:xfrm>
            <a:off x="629910" y="6243793"/>
            <a:ext cx="16629390" cy="15811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Canva Sans Bold"/>
                <a:ea typeface="Canva Sans Bold"/>
                <a:cs typeface="Canva Sans Bold"/>
                <a:sym typeface="Canva Sans Bold"/>
              </a:rPr>
              <a:t>Definition:</a:t>
            </a:r>
            <a:r>
              <a:rPr lang="en-US" sz="3000">
                <a:solidFill>
                  <a:srgbClr val="000000"/>
                </a:solidFill>
                <a:latin typeface="Canva Sans"/>
                <a:ea typeface="Canva Sans"/>
                <a:cs typeface="Canva Sans"/>
                <a:sym typeface="Canva Sans"/>
              </a:rPr>
              <a:t> Given a multiple alignment M of a set of strings S, the consensus character of column </a:t>
            </a:r>
            <a:r>
              <a:rPr lang="en-US" sz="3000" err="1">
                <a:solidFill>
                  <a:srgbClr val="000000"/>
                </a:solidFill>
                <a:latin typeface="Canva Sans"/>
                <a:ea typeface="Canva Sans"/>
                <a:cs typeface="Canva Sans"/>
                <a:sym typeface="Canva Sans"/>
              </a:rPr>
              <a:t>i</a:t>
            </a:r>
            <a:r>
              <a:rPr lang="en-US" sz="3000">
                <a:solidFill>
                  <a:srgbClr val="000000"/>
                </a:solidFill>
                <a:latin typeface="Canva Sans"/>
                <a:ea typeface="Canva Sans"/>
                <a:cs typeface="Canva Sans"/>
                <a:sym typeface="Canva Sans"/>
              </a:rPr>
              <a:t> of M is the character that minimizes the summed distance to it from all the characters in column </a:t>
            </a:r>
            <a:r>
              <a:rPr lang="en-US" sz="3000" err="1">
                <a:solidFill>
                  <a:srgbClr val="000000"/>
                </a:solidFill>
                <a:latin typeface="Canva Sans"/>
                <a:ea typeface="Canva Sans"/>
                <a:cs typeface="Canva Sans"/>
                <a:sym typeface="Canva Sans"/>
              </a:rPr>
              <a:t>i</a:t>
            </a:r>
            <a:r>
              <a:rPr lang="en-US" sz="3000">
                <a:solidFill>
                  <a:srgbClr val="000000"/>
                </a:solidFill>
                <a:latin typeface="Canva Sans"/>
                <a:ea typeface="Canva Sans"/>
                <a:cs typeface="Canva Sans"/>
                <a:sym typeface="Canva Sans"/>
              </a:rPr>
              <a:t>. Let d(</a:t>
            </a:r>
            <a:r>
              <a:rPr lang="en-US" sz="3000" err="1">
                <a:solidFill>
                  <a:srgbClr val="000000"/>
                </a:solidFill>
                <a:latin typeface="Canva Sans"/>
                <a:ea typeface="Canva Sans"/>
                <a:cs typeface="Canva Sans"/>
                <a:sym typeface="Canva Sans"/>
              </a:rPr>
              <a:t>i</a:t>
            </a:r>
            <a:r>
              <a:rPr lang="en-US" sz="3000">
                <a:solidFill>
                  <a:srgbClr val="000000"/>
                </a:solidFill>
                <a:latin typeface="Canva Sans"/>
                <a:ea typeface="Canva Sans"/>
                <a:cs typeface="Canva Sans"/>
                <a:sym typeface="Canva Sans"/>
              </a:rPr>
              <a:t>) denote that minimum sum in column </a:t>
            </a:r>
            <a:r>
              <a:rPr lang="en-US" sz="3000" err="1">
                <a:solidFill>
                  <a:srgbClr val="000000"/>
                </a:solidFill>
                <a:latin typeface="Canva Sans"/>
                <a:ea typeface="Canva Sans"/>
                <a:cs typeface="Canva Sans"/>
                <a:sym typeface="Canva Sans"/>
              </a:rPr>
              <a:t>i</a:t>
            </a:r>
            <a:r>
              <a:rPr lang="en-US" sz="3000">
                <a:solidFill>
                  <a:srgbClr val="000000"/>
                </a:solidFill>
                <a:latin typeface="Canva Sans"/>
                <a:ea typeface="Canva Sans"/>
                <a:cs typeface="Canva Sans"/>
                <a:sym typeface="Canva Sans"/>
              </a:rPr>
              <a:t>.</a:t>
            </a:r>
          </a:p>
        </p:txBody>
      </p:sp>
      <p:sp>
        <p:nvSpPr>
          <p:cNvPr id="13" name="TextBox 13"/>
          <p:cNvSpPr txBox="1"/>
          <p:nvPr/>
        </p:nvSpPr>
        <p:spPr>
          <a:xfrm>
            <a:off x="629910" y="8144030"/>
            <a:ext cx="16629390" cy="1047750"/>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Canva Sans Bold"/>
                <a:ea typeface="Canva Sans Bold"/>
                <a:cs typeface="Canva Sans Bold"/>
                <a:sym typeface="Canva Sans Bold"/>
              </a:rPr>
              <a:t>Definition:</a:t>
            </a:r>
            <a:r>
              <a:rPr lang="en-US" sz="3000">
                <a:solidFill>
                  <a:srgbClr val="000000"/>
                </a:solidFill>
                <a:latin typeface="Canva Sans"/>
                <a:ea typeface="Canva Sans"/>
                <a:cs typeface="Canva Sans"/>
                <a:sym typeface="Canva Sans"/>
              </a:rPr>
              <a:t> The consensus string S</a:t>
            </a:r>
            <a:r>
              <a:rPr lang="en-US" sz="3000" baseline="-25000">
                <a:solidFill>
                  <a:srgbClr val="000000"/>
                </a:solidFill>
                <a:latin typeface="Canva Sans"/>
                <a:ea typeface="Canva Sans"/>
                <a:cs typeface="Canva Sans"/>
                <a:sym typeface="Canva Sans"/>
              </a:rPr>
              <a:t>M</a:t>
            </a:r>
            <a:r>
              <a:rPr lang="en-US" sz="3000">
                <a:solidFill>
                  <a:srgbClr val="000000"/>
                </a:solidFill>
                <a:latin typeface="Canva Sans"/>
                <a:ea typeface="Canva Sans"/>
                <a:cs typeface="Canva Sans"/>
                <a:sym typeface="Canva Sans"/>
              </a:rPr>
              <a:t> derived from alignment M is the concatenation of the consensus characters for each column of M</a:t>
            </a:r>
          </a:p>
        </p:txBody>
      </p:sp>
      <p:sp>
        <p:nvSpPr>
          <p:cNvPr id="14" name="TextBox 14"/>
          <p:cNvSpPr txBox="1"/>
          <p:nvPr/>
        </p:nvSpPr>
        <p:spPr>
          <a:xfrm>
            <a:off x="11640183" y="9678035"/>
            <a:ext cx="5686394" cy="257175"/>
          </a:xfrm>
          <a:prstGeom prst="rect">
            <a:avLst/>
          </a:prstGeom>
        </p:spPr>
        <p:txBody>
          <a:bodyPr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Chapter 14, Gusfield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2413940" y="2014058"/>
            <a:ext cx="5231123" cy="7183357"/>
          </a:xfrm>
          <a:custGeom>
            <a:avLst/>
            <a:gdLst/>
            <a:ahLst/>
            <a:cxnLst/>
            <a:rect l="l" t="t" r="r" b="b"/>
            <a:pathLst>
              <a:path w="5231123" h="7183357">
                <a:moveTo>
                  <a:pt x="0" y="0"/>
                </a:moveTo>
                <a:lnTo>
                  <a:pt x="5231123" y="0"/>
                </a:lnTo>
                <a:lnTo>
                  <a:pt x="5231123" y="7183357"/>
                </a:lnTo>
                <a:lnTo>
                  <a:pt x="0" y="7183357"/>
                </a:lnTo>
                <a:lnTo>
                  <a:pt x="0" y="0"/>
                </a:lnTo>
                <a:close/>
              </a:path>
            </a:pathLst>
          </a:custGeom>
          <a:blipFill>
            <a:blip r:embed="rId3"/>
            <a:stretch>
              <a:fillRect/>
            </a:stretch>
          </a:blipFill>
          <a:ln w="19050" cap="sq">
            <a:solidFill>
              <a:srgbClr val="000000"/>
            </a:solidFill>
            <a:prstDash val="solid"/>
            <a:miter/>
          </a:ln>
        </p:spPr>
        <p:txBody>
          <a:bodyPr/>
          <a:lstStyle/>
          <a:p>
            <a:endParaRPr lang="en-IN"/>
          </a:p>
        </p:txBody>
      </p:sp>
      <p:sp>
        <p:nvSpPr>
          <p:cNvPr id="6" name="TextBox 6"/>
          <p:cNvSpPr txBox="1"/>
          <p:nvPr/>
        </p:nvSpPr>
        <p:spPr>
          <a:xfrm>
            <a:off x="2211994" y="445365"/>
            <a:ext cx="14704405"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APPLICATIONS IN BIOINFORMATICS</a:t>
            </a:r>
          </a:p>
        </p:txBody>
      </p:sp>
      <p:sp>
        <p:nvSpPr>
          <p:cNvPr id="7" name="TextBox 7"/>
          <p:cNvSpPr txBox="1"/>
          <p:nvPr/>
        </p:nvSpPr>
        <p:spPr>
          <a:xfrm>
            <a:off x="23447" y="1937858"/>
            <a:ext cx="6625258"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Finding the Steiner String</a:t>
            </a:r>
          </a:p>
        </p:txBody>
      </p:sp>
      <p:sp>
        <p:nvSpPr>
          <p:cNvPr id="8" name="TextBox 8"/>
          <p:cNvSpPr txBox="1"/>
          <p:nvPr/>
        </p:nvSpPr>
        <p:spPr>
          <a:xfrm>
            <a:off x="629910" y="2798283"/>
            <a:ext cx="11074396" cy="2040890"/>
          </a:xfrm>
          <a:prstGeom prst="rect">
            <a:avLst/>
          </a:prstGeom>
        </p:spPr>
        <p:txBody>
          <a:bodyPr lIns="0" tIns="0" rIns="0" bIns="0" rtlCol="0" anchor="t">
            <a:spAutoFit/>
          </a:bodyPr>
          <a:lstStyle/>
          <a:p>
            <a:pPr algn="l">
              <a:lnSpc>
                <a:spcPts val="4060"/>
              </a:lnSpc>
              <a:spcBef>
                <a:spcPct val="0"/>
              </a:spcBef>
            </a:pPr>
            <a:r>
              <a:rPr lang="en-US" sz="2900">
                <a:solidFill>
                  <a:srgbClr val="000000"/>
                </a:solidFill>
                <a:latin typeface="Canva Sans"/>
                <a:ea typeface="Canva Sans"/>
                <a:cs typeface="Canva Sans"/>
                <a:sym typeface="Canva Sans"/>
              </a:rPr>
              <a:t>For a scoring system that assigns a distance of 0 for matches and 1 for mistmatches, the consensus string is a concatenation of the most common character at each column of M</a:t>
            </a:r>
          </a:p>
        </p:txBody>
      </p:sp>
      <p:sp>
        <p:nvSpPr>
          <p:cNvPr id="9" name="TextBox 9"/>
          <p:cNvSpPr txBox="1"/>
          <p:nvPr/>
        </p:nvSpPr>
        <p:spPr>
          <a:xfrm>
            <a:off x="11640183" y="9678035"/>
            <a:ext cx="5686394" cy="523875"/>
          </a:xfrm>
          <a:prstGeom prst="rect">
            <a:avLst/>
          </a:prstGeom>
        </p:spPr>
        <p:txBody>
          <a:bodyPr lIns="0" tIns="0" rIns="0" bIns="0" rtlCol="0" anchor="t">
            <a:spAutoFit/>
          </a:bodyPr>
          <a:lstStyle/>
          <a:p>
            <a:pPr algn="r">
              <a:lnSpc>
                <a:spcPts val="2100"/>
              </a:lnSpc>
            </a:pPr>
            <a:r>
              <a:rPr lang="en-US" sz="1500" b="1">
                <a:solidFill>
                  <a:srgbClr val="000000"/>
                </a:solidFill>
                <a:latin typeface="Canva Sans Bold"/>
                <a:ea typeface="Canva Sans Bold"/>
                <a:cs typeface="Canva Sans Bold"/>
                <a:sym typeface="Canva Sans Bold"/>
              </a:rPr>
              <a:t>Chapter 14, Gusfield</a:t>
            </a:r>
          </a:p>
          <a:p>
            <a:pPr algn="r">
              <a:lnSpc>
                <a:spcPts val="2100"/>
              </a:lnSpc>
              <a:spcBef>
                <a:spcPct val="0"/>
              </a:spcBef>
            </a:pPr>
            <a:r>
              <a:rPr lang="en-US" sz="1500" b="1">
                <a:solidFill>
                  <a:srgbClr val="000000"/>
                </a:solidFill>
                <a:latin typeface="Canva Sans Bold"/>
                <a:ea typeface="Canva Sans Bold"/>
                <a:cs typeface="Canva Sans Bold"/>
                <a:sym typeface="Canva Sans Bold"/>
              </a:rPr>
              <a:t>Consensus String. Rosalind.info</a:t>
            </a:r>
          </a:p>
        </p:txBody>
      </p:sp>
      <p:sp>
        <p:nvSpPr>
          <p:cNvPr id="10" name="TextBox 10"/>
          <p:cNvSpPr txBox="1"/>
          <p:nvPr/>
        </p:nvSpPr>
        <p:spPr>
          <a:xfrm>
            <a:off x="356673" y="5086350"/>
            <a:ext cx="11620871" cy="514350"/>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Canva Sans Bold"/>
                <a:ea typeface="Canva Sans Bold"/>
                <a:cs typeface="Canva Sans Bold"/>
                <a:sym typeface="Canva Sans Bold"/>
              </a:rPr>
              <a:t>Relation between the Steiner String and the Consensus String</a:t>
            </a:r>
          </a:p>
        </p:txBody>
      </p:sp>
      <p:sp>
        <p:nvSpPr>
          <p:cNvPr id="11" name="TextBox 11"/>
          <p:cNvSpPr txBox="1"/>
          <p:nvPr/>
        </p:nvSpPr>
        <p:spPr>
          <a:xfrm>
            <a:off x="515153" y="5706110"/>
            <a:ext cx="11788607" cy="4812151"/>
          </a:xfrm>
          <a:prstGeom prst="rect">
            <a:avLst/>
          </a:prstGeom>
        </p:spPr>
        <p:txBody>
          <a:bodyPr wrap="square" lIns="0" tIns="0" rIns="0" bIns="0" rtlCol="0" anchor="t">
            <a:spAutoFit/>
          </a:bodyPr>
          <a:lstStyle/>
          <a:p>
            <a:pPr marL="647700" lvl="1" indent="-323850" algn="l">
              <a:lnSpc>
                <a:spcPts val="4200"/>
              </a:lnSpc>
              <a:buFont typeface="Arial"/>
              <a:buChar char="•"/>
            </a:pPr>
            <a:r>
              <a:rPr lang="en-US" sz="3000">
                <a:solidFill>
                  <a:srgbClr val="000000"/>
                </a:solidFill>
                <a:latin typeface="Canva Sans"/>
                <a:ea typeface="Canva Sans"/>
                <a:cs typeface="Canva Sans"/>
                <a:sym typeface="Canva Sans"/>
              </a:rPr>
              <a:t>For a given set of sequences, a multiple alignment of the sequences (not unique!) may be represented by its consensus string S</a:t>
            </a:r>
            <a:r>
              <a:rPr lang="en-US" sz="3000" baseline="-25000">
                <a:solidFill>
                  <a:srgbClr val="000000"/>
                </a:solidFill>
                <a:latin typeface="Canva Sans"/>
                <a:ea typeface="Canva Sans"/>
                <a:cs typeface="Canva Sans"/>
                <a:sym typeface="Canva Sans"/>
              </a:rPr>
              <a:t>M</a:t>
            </a:r>
          </a:p>
          <a:p>
            <a:pPr marL="647700" lvl="1" indent="-323850" algn="l">
              <a:lnSpc>
                <a:spcPts val="4200"/>
              </a:lnSpc>
              <a:buFont typeface="Arial"/>
              <a:buChar char="•"/>
            </a:pPr>
            <a:r>
              <a:rPr lang="en-US" sz="3000">
                <a:solidFill>
                  <a:srgbClr val="000000"/>
                </a:solidFill>
                <a:latin typeface="Canva Sans"/>
                <a:ea typeface="Canva Sans"/>
                <a:cs typeface="Canva Sans"/>
                <a:sym typeface="Canva Sans"/>
              </a:rPr>
              <a:t>The goodness of a multiple alignment can be measured by how well S</a:t>
            </a:r>
            <a:r>
              <a:rPr lang="en-US" sz="3000" baseline="-25000">
                <a:solidFill>
                  <a:srgbClr val="000000"/>
                </a:solidFill>
                <a:latin typeface="Canva Sans"/>
                <a:ea typeface="Canva Sans"/>
                <a:cs typeface="Canva Sans"/>
                <a:sym typeface="Canva Sans"/>
              </a:rPr>
              <a:t>M</a:t>
            </a:r>
            <a:r>
              <a:rPr lang="en-US" sz="3000">
                <a:solidFill>
                  <a:srgbClr val="000000"/>
                </a:solidFill>
                <a:latin typeface="Canva Sans"/>
                <a:ea typeface="Canva Sans"/>
                <a:cs typeface="Canva Sans"/>
                <a:sym typeface="Canva Sans"/>
              </a:rPr>
              <a:t> behaves as a Steiner string for the set of sequences</a:t>
            </a:r>
          </a:p>
          <a:p>
            <a:pPr marL="647700" lvl="1" indent="-323850" algn="l">
              <a:lnSpc>
                <a:spcPts val="4200"/>
              </a:lnSpc>
              <a:buFont typeface="Arial"/>
              <a:buChar char="•"/>
            </a:pPr>
            <a:r>
              <a:rPr lang="en-US" sz="3000">
                <a:solidFill>
                  <a:srgbClr val="000000"/>
                </a:solidFill>
                <a:latin typeface="Canva Sans"/>
                <a:ea typeface="Canva Sans"/>
                <a:cs typeface="Canva Sans"/>
                <a:sym typeface="Canva Sans"/>
              </a:rPr>
              <a:t>Removal of gaps from an </a:t>
            </a:r>
            <a:r>
              <a:rPr lang="en-US" sz="3000" b="1">
                <a:solidFill>
                  <a:srgbClr val="000000"/>
                </a:solidFill>
                <a:latin typeface="Canva Sans Bold"/>
                <a:ea typeface="Canva Sans Bold"/>
                <a:cs typeface="Canva Sans Bold"/>
                <a:sym typeface="Canva Sans Bold"/>
              </a:rPr>
              <a:t>optimum consensus sequence</a:t>
            </a:r>
            <a:r>
              <a:rPr lang="en-US" sz="3000">
                <a:solidFill>
                  <a:srgbClr val="000000"/>
                </a:solidFill>
                <a:latin typeface="Canva Sans"/>
                <a:ea typeface="Canva Sans"/>
                <a:cs typeface="Canva Sans"/>
                <a:sym typeface="Canva Sans"/>
              </a:rPr>
              <a:t> (for an optimum MSA) results in the Steiner string</a:t>
            </a:r>
          </a:p>
          <a:p>
            <a:pPr algn="l">
              <a:lnSpc>
                <a:spcPts val="4200"/>
              </a:lnSpc>
              <a:spcBef>
                <a:spcPct val="0"/>
              </a:spcBef>
            </a:pPr>
            <a:endParaRPr lang="en-US" sz="3000">
              <a:solidFill>
                <a:srgbClr val="000000"/>
              </a:solidFill>
              <a:latin typeface="Canva Sans"/>
              <a:ea typeface="Canva Sans"/>
              <a:cs typeface="Canva Sans"/>
              <a:sym typeface="Canv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3447" y="1937858"/>
            <a:ext cx="6625258"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Finding the Steiner String</a:t>
            </a:r>
          </a:p>
        </p:txBody>
      </p:sp>
      <p:sp>
        <p:nvSpPr>
          <p:cNvPr id="6" name="AutoShape 6"/>
          <p:cNvSpPr/>
          <p:nvPr/>
        </p:nvSpPr>
        <p:spPr>
          <a:xfrm>
            <a:off x="6880163" y="2349020"/>
            <a:ext cx="1502734" cy="0"/>
          </a:xfrm>
          <a:prstGeom prst="line">
            <a:avLst/>
          </a:prstGeom>
          <a:ln w="66675" cap="flat">
            <a:solidFill>
              <a:srgbClr val="5E7B97"/>
            </a:solidFill>
            <a:prstDash val="solid"/>
            <a:headEnd type="none" w="sm" len="sm"/>
            <a:tailEnd type="triangle" w="lg" len="med"/>
          </a:ln>
        </p:spPr>
        <p:txBody>
          <a:bodyPr/>
          <a:lstStyle/>
          <a:p>
            <a:endParaRPr lang="en-IN"/>
          </a:p>
        </p:txBody>
      </p:sp>
      <p:grpSp>
        <p:nvGrpSpPr>
          <p:cNvPr id="7" name="Group 7"/>
          <p:cNvGrpSpPr/>
          <p:nvPr/>
        </p:nvGrpSpPr>
        <p:grpSpPr>
          <a:xfrm>
            <a:off x="2971094" y="1899048"/>
            <a:ext cx="3677611" cy="833269"/>
            <a:chOff x="0" y="0"/>
            <a:chExt cx="968589" cy="219462"/>
          </a:xfrm>
        </p:grpSpPr>
        <p:sp>
          <p:nvSpPr>
            <p:cNvPr id="8" name="Freeform 8"/>
            <p:cNvSpPr/>
            <p:nvPr/>
          </p:nvSpPr>
          <p:spPr>
            <a:xfrm>
              <a:off x="0" y="0"/>
              <a:ext cx="968589" cy="219462"/>
            </a:xfrm>
            <a:custGeom>
              <a:avLst/>
              <a:gdLst/>
              <a:ahLst/>
              <a:cxnLst/>
              <a:rect l="l" t="t" r="r" b="b"/>
              <a:pathLst>
                <a:path w="968589" h="219462">
                  <a:moveTo>
                    <a:pt x="69470" y="0"/>
                  </a:moveTo>
                  <a:lnTo>
                    <a:pt x="899119" y="0"/>
                  </a:lnTo>
                  <a:cubicBezTo>
                    <a:pt x="937486" y="0"/>
                    <a:pt x="968589" y="31103"/>
                    <a:pt x="968589" y="69470"/>
                  </a:cubicBezTo>
                  <a:lnTo>
                    <a:pt x="968589" y="149992"/>
                  </a:lnTo>
                  <a:cubicBezTo>
                    <a:pt x="968589" y="188359"/>
                    <a:pt x="937486" y="219462"/>
                    <a:pt x="899119" y="219462"/>
                  </a:cubicBezTo>
                  <a:lnTo>
                    <a:pt x="69470" y="219462"/>
                  </a:lnTo>
                  <a:cubicBezTo>
                    <a:pt x="31103" y="219462"/>
                    <a:pt x="0" y="188359"/>
                    <a:pt x="0" y="149992"/>
                  </a:cubicBezTo>
                  <a:lnTo>
                    <a:pt x="0" y="69470"/>
                  </a:lnTo>
                  <a:cubicBezTo>
                    <a:pt x="0" y="31103"/>
                    <a:pt x="31103" y="0"/>
                    <a:pt x="69470" y="0"/>
                  </a:cubicBezTo>
                  <a:close/>
                </a:path>
              </a:pathLst>
            </a:custGeom>
            <a:ln w="38100" cap="rnd">
              <a:solidFill>
                <a:srgbClr val="5E7B97"/>
              </a:solidFill>
              <a:prstDash val="solid"/>
              <a:round/>
            </a:ln>
          </p:spPr>
          <p:txBody>
            <a:bodyPr/>
            <a:lstStyle/>
            <a:p>
              <a:endParaRPr lang="en-IN"/>
            </a:p>
          </p:txBody>
        </p:sp>
        <p:sp>
          <p:nvSpPr>
            <p:cNvPr id="9" name="TextBox 9"/>
            <p:cNvSpPr txBox="1"/>
            <p:nvPr/>
          </p:nvSpPr>
          <p:spPr>
            <a:xfrm>
              <a:off x="0" y="-38100"/>
              <a:ext cx="968589" cy="257562"/>
            </a:xfrm>
            <a:prstGeom prst="rect">
              <a:avLst/>
            </a:prstGeom>
          </p:spPr>
          <p:txBody>
            <a:bodyPr lIns="50800" tIns="50800" rIns="50800" bIns="50800" rtlCol="0" anchor="ctr"/>
            <a:lstStyle/>
            <a:p>
              <a:pPr algn="ctr">
                <a:lnSpc>
                  <a:spcPts val="2659"/>
                </a:lnSpc>
                <a:spcBef>
                  <a:spcPct val="0"/>
                </a:spcBef>
              </a:pPr>
              <a:endParaRPr/>
            </a:p>
          </p:txBody>
        </p:sp>
      </p:grpSp>
      <p:sp>
        <p:nvSpPr>
          <p:cNvPr id="10" name="AutoShape 10"/>
          <p:cNvSpPr/>
          <p:nvPr/>
        </p:nvSpPr>
        <p:spPr>
          <a:xfrm>
            <a:off x="2573443" y="2982136"/>
            <a:ext cx="0" cy="475834"/>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1" name="AutoShape 11"/>
          <p:cNvSpPr/>
          <p:nvPr/>
        </p:nvSpPr>
        <p:spPr>
          <a:xfrm flipH="1" flipV="1">
            <a:off x="211246" y="2889480"/>
            <a:ext cx="6437459" cy="0"/>
          </a:xfrm>
          <a:prstGeom prst="line">
            <a:avLst/>
          </a:prstGeom>
          <a:ln w="66675" cap="flat">
            <a:solidFill>
              <a:srgbClr val="5E7B97"/>
            </a:solidFill>
            <a:prstDash val="solid"/>
            <a:headEnd type="none" w="sm" len="sm"/>
            <a:tailEnd type="none" w="sm" len="sm"/>
          </a:ln>
        </p:spPr>
        <p:txBody>
          <a:bodyPr/>
          <a:lstStyle/>
          <a:p>
            <a:endParaRPr lang="en-IN"/>
          </a:p>
        </p:txBody>
      </p:sp>
      <p:sp>
        <p:nvSpPr>
          <p:cNvPr id="12" name="AutoShape 12"/>
          <p:cNvSpPr/>
          <p:nvPr/>
        </p:nvSpPr>
        <p:spPr>
          <a:xfrm>
            <a:off x="5064222" y="3743720"/>
            <a:ext cx="2562390"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3" name="Freeform 13"/>
          <p:cNvSpPr/>
          <p:nvPr/>
        </p:nvSpPr>
        <p:spPr>
          <a:xfrm>
            <a:off x="211246" y="4621685"/>
            <a:ext cx="9471414" cy="4297654"/>
          </a:xfrm>
          <a:custGeom>
            <a:avLst/>
            <a:gdLst/>
            <a:ahLst/>
            <a:cxnLst/>
            <a:rect l="l" t="t" r="r" b="b"/>
            <a:pathLst>
              <a:path w="9471414" h="4297654">
                <a:moveTo>
                  <a:pt x="0" y="0"/>
                </a:moveTo>
                <a:lnTo>
                  <a:pt x="9471414" y="0"/>
                </a:lnTo>
                <a:lnTo>
                  <a:pt x="9471414" y="4297655"/>
                </a:lnTo>
                <a:lnTo>
                  <a:pt x="0" y="4297655"/>
                </a:lnTo>
                <a:lnTo>
                  <a:pt x="0" y="0"/>
                </a:lnTo>
                <a:close/>
              </a:path>
            </a:pathLst>
          </a:custGeom>
          <a:blipFill>
            <a:blip r:embed="rId2"/>
            <a:stretch>
              <a:fillRect/>
            </a:stretch>
          </a:blipFill>
          <a:ln w="19050" cap="sq">
            <a:solidFill>
              <a:srgbClr val="000000"/>
            </a:solidFill>
            <a:prstDash val="solid"/>
            <a:miter/>
          </a:ln>
        </p:spPr>
        <p:txBody>
          <a:bodyPr/>
          <a:lstStyle/>
          <a:p>
            <a:endParaRPr lang="en-IN"/>
          </a:p>
        </p:txBody>
      </p:sp>
      <p:sp>
        <p:nvSpPr>
          <p:cNvPr id="14" name="Freeform 14"/>
          <p:cNvSpPr/>
          <p:nvPr/>
        </p:nvSpPr>
        <p:spPr>
          <a:xfrm>
            <a:off x="10983528" y="4635541"/>
            <a:ext cx="5999174" cy="1015919"/>
          </a:xfrm>
          <a:custGeom>
            <a:avLst/>
            <a:gdLst/>
            <a:ahLst/>
            <a:cxnLst/>
            <a:rect l="l" t="t" r="r" b="b"/>
            <a:pathLst>
              <a:path w="5999174" h="1015919">
                <a:moveTo>
                  <a:pt x="0" y="0"/>
                </a:moveTo>
                <a:lnTo>
                  <a:pt x="5999174" y="0"/>
                </a:lnTo>
                <a:lnTo>
                  <a:pt x="5999174" y="1015918"/>
                </a:lnTo>
                <a:lnTo>
                  <a:pt x="0" y="1015918"/>
                </a:lnTo>
                <a:lnTo>
                  <a:pt x="0" y="0"/>
                </a:lnTo>
                <a:close/>
              </a:path>
            </a:pathLst>
          </a:custGeom>
          <a:blipFill>
            <a:blip r:embed="rId3"/>
            <a:stretch>
              <a:fillRect/>
            </a:stretch>
          </a:blipFill>
          <a:ln w="19050" cap="sq">
            <a:solidFill>
              <a:srgbClr val="000000"/>
            </a:solidFill>
            <a:prstDash val="solid"/>
            <a:miter/>
          </a:ln>
        </p:spPr>
        <p:txBody>
          <a:bodyPr/>
          <a:lstStyle/>
          <a:p>
            <a:endParaRPr lang="en-IN"/>
          </a:p>
        </p:txBody>
      </p:sp>
      <p:sp>
        <p:nvSpPr>
          <p:cNvPr id="15" name="Freeform 15"/>
          <p:cNvSpPr/>
          <p:nvPr/>
        </p:nvSpPr>
        <p:spPr>
          <a:xfrm>
            <a:off x="10013586" y="5947434"/>
            <a:ext cx="7939058" cy="823078"/>
          </a:xfrm>
          <a:custGeom>
            <a:avLst/>
            <a:gdLst/>
            <a:ahLst/>
            <a:cxnLst/>
            <a:rect l="l" t="t" r="r" b="b"/>
            <a:pathLst>
              <a:path w="7939058" h="823078">
                <a:moveTo>
                  <a:pt x="0" y="0"/>
                </a:moveTo>
                <a:lnTo>
                  <a:pt x="7939058" y="0"/>
                </a:lnTo>
                <a:lnTo>
                  <a:pt x="7939058" y="823078"/>
                </a:lnTo>
                <a:lnTo>
                  <a:pt x="0" y="823078"/>
                </a:lnTo>
                <a:lnTo>
                  <a:pt x="0" y="0"/>
                </a:lnTo>
                <a:close/>
              </a:path>
            </a:pathLst>
          </a:custGeom>
          <a:blipFill>
            <a:blip r:embed="rId4"/>
            <a:stretch>
              <a:fillRect/>
            </a:stretch>
          </a:blipFill>
          <a:ln w="19050" cap="sq">
            <a:solidFill>
              <a:srgbClr val="000000"/>
            </a:solidFill>
            <a:prstDash val="solid"/>
            <a:miter/>
          </a:ln>
        </p:spPr>
        <p:txBody>
          <a:bodyPr/>
          <a:lstStyle/>
          <a:p>
            <a:endParaRPr lang="en-IN"/>
          </a:p>
        </p:txBody>
      </p:sp>
      <p:sp>
        <p:nvSpPr>
          <p:cNvPr id="16" name="Freeform 16"/>
          <p:cNvSpPr/>
          <p:nvPr/>
        </p:nvSpPr>
        <p:spPr>
          <a:xfrm>
            <a:off x="9889586" y="7113412"/>
            <a:ext cx="8187057" cy="972213"/>
          </a:xfrm>
          <a:custGeom>
            <a:avLst/>
            <a:gdLst/>
            <a:ahLst/>
            <a:cxnLst/>
            <a:rect l="l" t="t" r="r" b="b"/>
            <a:pathLst>
              <a:path w="8187057" h="972213">
                <a:moveTo>
                  <a:pt x="0" y="0"/>
                </a:moveTo>
                <a:lnTo>
                  <a:pt x="8187057" y="0"/>
                </a:lnTo>
                <a:lnTo>
                  <a:pt x="8187057" y="972214"/>
                </a:lnTo>
                <a:lnTo>
                  <a:pt x="0" y="972214"/>
                </a:lnTo>
                <a:lnTo>
                  <a:pt x="0" y="0"/>
                </a:lnTo>
                <a:close/>
              </a:path>
            </a:pathLst>
          </a:custGeom>
          <a:blipFill>
            <a:blip r:embed="rId5"/>
            <a:stretch>
              <a:fillRect/>
            </a:stretch>
          </a:blipFill>
          <a:ln w="19050" cap="sq">
            <a:solidFill>
              <a:srgbClr val="000000"/>
            </a:solidFill>
            <a:prstDash val="solid"/>
            <a:miter/>
          </a:ln>
        </p:spPr>
        <p:txBody>
          <a:bodyPr/>
          <a:lstStyle/>
          <a:p>
            <a:endParaRPr lang="en-IN"/>
          </a:p>
        </p:txBody>
      </p:sp>
      <p:sp>
        <p:nvSpPr>
          <p:cNvPr id="17" name="TextBox 17"/>
          <p:cNvSpPr txBox="1"/>
          <p:nvPr/>
        </p:nvSpPr>
        <p:spPr>
          <a:xfrm>
            <a:off x="2211994" y="445365"/>
            <a:ext cx="14770707"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APPLICATIONS IN BIOINFORMATICS</a:t>
            </a:r>
          </a:p>
        </p:txBody>
      </p:sp>
      <p:sp>
        <p:nvSpPr>
          <p:cNvPr id="18" name="TextBox 18"/>
          <p:cNvSpPr txBox="1"/>
          <p:nvPr/>
        </p:nvSpPr>
        <p:spPr>
          <a:xfrm>
            <a:off x="8847644" y="2063270"/>
            <a:ext cx="6627488"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Canva Sans"/>
                <a:ea typeface="Canva Sans"/>
                <a:cs typeface="Canva Sans"/>
                <a:sym typeface="Canva Sans"/>
              </a:rPr>
              <a:t>A standard for goodness of an MSA</a:t>
            </a:r>
          </a:p>
        </p:txBody>
      </p:sp>
      <p:sp>
        <p:nvSpPr>
          <p:cNvPr id="19" name="TextBox 19"/>
          <p:cNvSpPr txBox="1"/>
          <p:nvPr/>
        </p:nvSpPr>
        <p:spPr>
          <a:xfrm>
            <a:off x="211246" y="3457970"/>
            <a:ext cx="4852977"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Canva Sans"/>
                <a:ea typeface="Canva Sans"/>
                <a:cs typeface="Canva Sans"/>
                <a:sym typeface="Canva Sans"/>
              </a:rPr>
              <a:t>An NP-complete problem</a:t>
            </a:r>
          </a:p>
        </p:txBody>
      </p:sp>
      <p:sp>
        <p:nvSpPr>
          <p:cNvPr id="20" name="TextBox 20"/>
          <p:cNvSpPr txBox="1"/>
          <p:nvPr/>
        </p:nvSpPr>
        <p:spPr>
          <a:xfrm>
            <a:off x="8198286" y="3082445"/>
            <a:ext cx="9878357" cy="1177290"/>
          </a:xfrm>
          <a:prstGeom prst="rect">
            <a:avLst/>
          </a:prstGeom>
        </p:spPr>
        <p:txBody>
          <a:bodyPr lIns="0" tIns="0" rIns="0" bIns="0" rtlCol="0" anchor="t">
            <a:spAutoFit/>
          </a:bodyPr>
          <a:lstStyle/>
          <a:p>
            <a:pPr algn="l">
              <a:lnSpc>
                <a:spcPts val="4830"/>
              </a:lnSpc>
              <a:spcBef>
                <a:spcPct val="0"/>
              </a:spcBef>
            </a:pPr>
            <a:r>
              <a:rPr lang="en-US" sz="3000">
                <a:solidFill>
                  <a:srgbClr val="000000"/>
                </a:solidFill>
                <a:latin typeface="Canva Sans"/>
                <a:ea typeface="Canva Sans"/>
                <a:cs typeface="Canva Sans"/>
                <a:sym typeface="Canva Sans"/>
              </a:rPr>
              <a:t>An autoencoder may be trained to map sequences to a from a continuous space while preserving distance</a:t>
            </a:r>
          </a:p>
        </p:txBody>
      </p:sp>
      <p:sp>
        <p:nvSpPr>
          <p:cNvPr id="21" name="TextBox 21"/>
          <p:cNvSpPr txBox="1"/>
          <p:nvPr/>
        </p:nvSpPr>
        <p:spPr>
          <a:xfrm>
            <a:off x="5060004" y="3170467"/>
            <a:ext cx="2512678" cy="952500"/>
          </a:xfrm>
          <a:prstGeom prst="rect">
            <a:avLst/>
          </a:prstGeom>
        </p:spPr>
        <p:txBody>
          <a:bodyPr lIns="0" tIns="0" rIns="0" bIns="0" rtlCol="0" anchor="t">
            <a:spAutoFit/>
          </a:bodyPr>
          <a:lstStyle/>
          <a:p>
            <a:pPr algn="ctr">
              <a:lnSpc>
                <a:spcPts val="3900"/>
              </a:lnSpc>
            </a:pPr>
            <a:r>
              <a:rPr lang="en-US" sz="2000">
                <a:solidFill>
                  <a:srgbClr val="000000"/>
                </a:solidFill>
                <a:latin typeface="Canva Sans"/>
                <a:ea typeface="Canva Sans"/>
                <a:cs typeface="Canva Sans"/>
                <a:sym typeface="Canva Sans"/>
              </a:rPr>
              <a:t>Employ </a:t>
            </a:r>
            <a:r>
              <a:rPr lang="en-US" sz="2000" err="1">
                <a:solidFill>
                  <a:srgbClr val="000000"/>
                </a:solidFill>
                <a:latin typeface="Canva Sans"/>
                <a:ea typeface="Canva Sans"/>
                <a:cs typeface="Canva Sans"/>
                <a:sym typeface="Canva Sans"/>
              </a:rPr>
              <a:t>NeuroSEED</a:t>
            </a:r>
            <a:r>
              <a:rPr lang="en-US" sz="2000">
                <a:solidFill>
                  <a:srgbClr val="000000"/>
                </a:solidFill>
                <a:latin typeface="Canva Sans"/>
                <a:ea typeface="Canva Sans"/>
                <a:cs typeface="Canva Sans"/>
                <a:sym typeface="Canva Sans"/>
              </a:rPr>
              <a:t> heuristics</a:t>
            </a:r>
          </a:p>
        </p:txBody>
      </p:sp>
      <p:sp>
        <p:nvSpPr>
          <p:cNvPr id="22" name="TextBox 22"/>
          <p:cNvSpPr txBox="1"/>
          <p:nvPr/>
        </p:nvSpPr>
        <p:spPr>
          <a:xfrm>
            <a:off x="10638476" y="8404990"/>
            <a:ext cx="6689278" cy="514350"/>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Canva Sans"/>
                <a:ea typeface="Canva Sans"/>
                <a:cs typeface="Canva Sans"/>
                <a:sym typeface="Canva Sans"/>
              </a:rPr>
              <a:t>H(c, c’ )= c.log(1-c’) +(1-c).log(1-c’)</a:t>
            </a:r>
          </a:p>
        </p:txBody>
      </p:sp>
      <p:sp>
        <p:nvSpPr>
          <p:cNvPr id="23" name="TextBox 23"/>
          <p:cNvSpPr txBox="1"/>
          <p:nvPr/>
        </p:nvSpPr>
        <p:spPr>
          <a:xfrm>
            <a:off x="11547164" y="9068025"/>
            <a:ext cx="5161268" cy="374013"/>
          </a:xfrm>
          <a:prstGeom prst="rect">
            <a:avLst/>
          </a:prstGeom>
        </p:spPr>
        <p:txBody>
          <a:bodyPr wrap="square" lIns="0" tIns="0" rIns="0" bIns="0" rtlCol="0" anchor="t">
            <a:spAutoFit/>
          </a:bodyPr>
          <a:lstStyle/>
          <a:p>
            <a:pPr algn="ctr">
              <a:lnSpc>
                <a:spcPts val="3220"/>
              </a:lnSpc>
              <a:spcBef>
                <a:spcPct val="0"/>
              </a:spcBef>
            </a:pPr>
            <a:r>
              <a:rPr lang="en-US" sz="2000">
                <a:solidFill>
                  <a:srgbClr val="000000"/>
                </a:solidFill>
                <a:latin typeface="Canva Sans"/>
                <a:ea typeface="Canva Sans"/>
                <a:cs typeface="Canva Sans"/>
                <a:sym typeface="Canva Sans"/>
              </a:rPr>
              <a:t>mean element-wise cross-entropy loss</a:t>
            </a:r>
            <a:endParaRPr lang="en-US" sz="2000">
              <a:latin typeface="Canva Sans"/>
            </a:endParaRPr>
          </a:p>
        </p:txBody>
      </p:sp>
      <p:sp>
        <p:nvSpPr>
          <p:cNvPr id="24" name="AutoShape 24"/>
          <p:cNvSpPr/>
          <p:nvPr/>
        </p:nvSpPr>
        <p:spPr>
          <a:xfrm>
            <a:off x="10013586" y="9262240"/>
            <a:ext cx="1412438"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25" name="AutoShape 25"/>
          <p:cNvSpPr/>
          <p:nvPr/>
        </p:nvSpPr>
        <p:spPr>
          <a:xfrm flipH="1" flipV="1">
            <a:off x="10013586" y="8673933"/>
            <a:ext cx="777826" cy="0"/>
          </a:xfrm>
          <a:prstGeom prst="line">
            <a:avLst/>
          </a:prstGeom>
          <a:ln w="66675" cap="flat">
            <a:solidFill>
              <a:srgbClr val="5E7B97"/>
            </a:solidFill>
            <a:prstDash val="solid"/>
            <a:headEnd type="none" w="sm" len="sm"/>
            <a:tailEnd type="none" w="sm" len="sm"/>
          </a:ln>
        </p:spPr>
        <p:txBody>
          <a:bodyPr/>
          <a:lstStyle/>
          <a:p>
            <a:endParaRPr lang="en-IN"/>
          </a:p>
        </p:txBody>
      </p:sp>
      <p:sp>
        <p:nvSpPr>
          <p:cNvPr id="26" name="AutoShape 26"/>
          <p:cNvSpPr/>
          <p:nvPr/>
        </p:nvSpPr>
        <p:spPr>
          <a:xfrm flipV="1">
            <a:off x="10046923" y="8673933"/>
            <a:ext cx="0" cy="621645"/>
          </a:xfrm>
          <a:prstGeom prst="line">
            <a:avLst/>
          </a:prstGeom>
          <a:ln w="66675" cap="flat">
            <a:solidFill>
              <a:srgbClr val="5E7B97"/>
            </a:solidFill>
            <a:prstDash val="solid"/>
            <a:headEnd type="none" w="sm" len="sm"/>
            <a:tailEnd type="none" w="sm" len="sm"/>
          </a:ln>
        </p:spPr>
        <p:txBody>
          <a:bodyPr/>
          <a:lstStyle/>
          <a:p>
            <a:endParaRPr lang="en-IN"/>
          </a:p>
        </p:txBody>
      </p:sp>
      <p:sp>
        <p:nvSpPr>
          <p:cNvPr id="27" name="TextBox 27"/>
          <p:cNvSpPr txBox="1"/>
          <p:nvPr/>
        </p:nvSpPr>
        <p:spPr>
          <a:xfrm>
            <a:off x="10787153" y="9777731"/>
            <a:ext cx="6689278" cy="251607"/>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animBg="1"/>
      <p:bldP spid="11" grpId="0" animBg="1"/>
      <p:bldP spid="12" grpId="0" animBg="1"/>
      <p:bldP spid="13" grpId="0" animBg="1"/>
      <p:bldP spid="14" grpId="0" animBg="1"/>
      <p:bldP spid="15" grpId="0" animBg="1"/>
      <p:bldP spid="16" grpId="0" animBg="1"/>
      <p:bldP spid="18" grpId="0"/>
      <p:bldP spid="19" grpId="0"/>
      <p:bldP spid="20" grpId="0"/>
      <p:bldP spid="21" grpId="0"/>
      <p:bldP spid="22" grpId="0"/>
      <p:bldP spid="23" grpId="0"/>
      <p:bldP spid="24" grpId="0" animBg="1"/>
      <p:bldP spid="25" grpId="0" animBg="1"/>
      <p:bldP spid="2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427137" y="139498"/>
            <a:ext cx="20394020" cy="1636272"/>
            <a:chOff x="0" y="-38100"/>
            <a:chExt cx="5371264" cy="4309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0" y="1804508"/>
            <a:ext cx="6625258"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Canva Sans Bold"/>
                <a:ea typeface="Canva Sans Bold"/>
                <a:cs typeface="Canva Sans Bold"/>
                <a:sym typeface="Canva Sans Bold"/>
              </a:rPr>
              <a:t>Finding the Steiner String</a:t>
            </a:r>
          </a:p>
        </p:txBody>
      </p:sp>
      <p:sp>
        <p:nvSpPr>
          <p:cNvPr id="6" name="TextBox 6"/>
          <p:cNvSpPr txBox="1"/>
          <p:nvPr/>
        </p:nvSpPr>
        <p:spPr>
          <a:xfrm>
            <a:off x="1646068" y="444704"/>
            <a:ext cx="15115759" cy="1052371"/>
          </a:xfrm>
          <a:prstGeom prst="rect">
            <a:avLst/>
          </a:prstGeom>
        </p:spPr>
        <p:txBody>
          <a:bodyPr wrap="square" lIns="0" tIns="0" rIns="0" bIns="0" rtlCol="0" anchor="t">
            <a:spAutoFit/>
          </a:bodyPr>
          <a:lstStyle/>
          <a:p>
            <a:pPr algn="ctr">
              <a:lnSpc>
                <a:spcPts val="8670"/>
              </a:lnSpc>
              <a:spcBef>
                <a:spcPct val="0"/>
              </a:spcBef>
            </a:pPr>
            <a:r>
              <a:rPr lang="en-US" sz="6193" b="1">
                <a:solidFill>
                  <a:srgbClr val="FDF6EC"/>
                </a:solidFill>
                <a:latin typeface="Canva Sans Bold"/>
                <a:ea typeface="Canva Sans Bold"/>
                <a:cs typeface="Canva Sans Bold"/>
                <a:sym typeface="Canva Sans Bold"/>
              </a:rPr>
              <a:t>APPLICATIONS IN BIOINFORMATICS</a:t>
            </a:r>
          </a:p>
        </p:txBody>
      </p:sp>
      <p:sp>
        <p:nvSpPr>
          <p:cNvPr id="7" name="TextBox 7"/>
          <p:cNvSpPr txBox="1"/>
          <p:nvPr/>
        </p:nvSpPr>
        <p:spPr>
          <a:xfrm>
            <a:off x="298022" y="2536186"/>
            <a:ext cx="3014607" cy="59690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Canva Sans Bold"/>
                <a:ea typeface="Canva Sans Bold"/>
                <a:cs typeface="Canva Sans Bold"/>
                <a:sym typeface="Canva Sans Bold"/>
              </a:rPr>
              <a:t>Observations</a:t>
            </a:r>
          </a:p>
        </p:txBody>
      </p:sp>
      <p:sp>
        <p:nvSpPr>
          <p:cNvPr id="8" name="TextBox 8"/>
          <p:cNvSpPr txBox="1"/>
          <p:nvPr/>
        </p:nvSpPr>
        <p:spPr>
          <a:xfrm>
            <a:off x="1028700" y="3085461"/>
            <a:ext cx="16179160" cy="868058"/>
          </a:xfrm>
          <a:prstGeom prst="rect">
            <a:avLst/>
          </a:prstGeom>
        </p:spPr>
        <p:txBody>
          <a:bodyPr lIns="0" tIns="0" rIns="0" bIns="0" rtlCol="0" anchor="t">
            <a:spAutoFit/>
          </a:bodyPr>
          <a:lstStyle/>
          <a:p>
            <a:pPr>
              <a:lnSpc>
                <a:spcPts val="3499"/>
              </a:lnSpc>
              <a:spcBef>
                <a:spcPct val="0"/>
              </a:spcBef>
            </a:pPr>
            <a:r>
              <a:rPr lang="en-US" sz="2450">
                <a:solidFill>
                  <a:srgbClr val="000000"/>
                </a:solidFill>
                <a:latin typeface="Canva Sans"/>
                <a:ea typeface="Canva Sans"/>
                <a:cs typeface="Canva Sans"/>
                <a:sym typeface="Canva Sans"/>
              </a:rPr>
              <a:t>The computational complexity for set S of N strings of size M is reduced from O(N</a:t>
            </a:r>
            <a:r>
              <a:rPr lang="en-US" sz="2450" baseline="30000">
                <a:solidFill>
                  <a:srgbClr val="000000"/>
                </a:solidFill>
                <a:latin typeface="Canva Sans"/>
                <a:ea typeface="Canva Sans"/>
                <a:cs typeface="Canva Sans"/>
                <a:sym typeface="Canva Sans"/>
              </a:rPr>
              <a:t>2</a:t>
            </a:r>
            <a:r>
              <a:rPr lang="en-US" sz="2450">
                <a:solidFill>
                  <a:srgbClr val="000000"/>
                </a:solidFill>
                <a:latin typeface="Canva Sans"/>
                <a:ea typeface="Canva Sans"/>
                <a:cs typeface="Canva Sans"/>
                <a:sym typeface="Canva Sans"/>
              </a:rPr>
              <a:t>M</a:t>
            </a:r>
            <a:r>
              <a:rPr lang="en-US" sz="2450" baseline="30000">
                <a:solidFill>
                  <a:srgbClr val="000000"/>
                </a:solidFill>
                <a:latin typeface="Canva Sans"/>
                <a:ea typeface="Canva Sans"/>
                <a:cs typeface="Canva Sans"/>
                <a:sym typeface="Canva Sans"/>
              </a:rPr>
              <a:t>2</a:t>
            </a:r>
            <a:r>
              <a:rPr lang="en-US" sz="2450">
                <a:solidFill>
                  <a:srgbClr val="000000"/>
                </a:solidFill>
                <a:latin typeface="Canva Sans"/>
                <a:ea typeface="Canva Sans"/>
                <a:cs typeface="Canva Sans"/>
                <a:sym typeface="Canva Sans"/>
              </a:rPr>
              <a:t>/</a:t>
            </a:r>
            <a:r>
              <a:rPr lang="en-US" sz="2450" err="1">
                <a:solidFill>
                  <a:srgbClr val="000000"/>
                </a:solidFill>
                <a:latin typeface="Canva Sans"/>
                <a:ea typeface="Canva Sans"/>
                <a:cs typeface="Canva Sans"/>
                <a:sym typeface="Canva Sans"/>
              </a:rPr>
              <a:t>logM</a:t>
            </a:r>
            <a:r>
              <a:rPr lang="en-US" sz="2450">
                <a:solidFill>
                  <a:srgbClr val="000000"/>
                </a:solidFill>
                <a:latin typeface="Canva Sans"/>
                <a:ea typeface="Canva Sans"/>
                <a:cs typeface="Canva Sans"/>
                <a:sym typeface="Canva Sans"/>
              </a:rPr>
              <a:t>) for the </a:t>
            </a:r>
            <a:r>
              <a:rPr lang="en-US" sz="2450" err="1">
                <a:solidFill>
                  <a:srgbClr val="000000"/>
                </a:solidFill>
                <a:latin typeface="Canva Sans"/>
                <a:ea typeface="Canva Sans"/>
                <a:cs typeface="Canva Sans"/>
                <a:sym typeface="Canva Sans"/>
              </a:rPr>
              <a:t>centre</a:t>
            </a:r>
            <a:r>
              <a:rPr lang="en-US" sz="2450">
                <a:solidFill>
                  <a:srgbClr val="000000"/>
                </a:solidFill>
                <a:latin typeface="Canva Sans"/>
                <a:ea typeface="Canva Sans"/>
                <a:cs typeface="Canva Sans"/>
                <a:sym typeface="Canva Sans"/>
              </a:rPr>
              <a:t> string and O(N</a:t>
            </a:r>
            <a:r>
              <a:rPr lang="en-US" sz="2450" baseline="30000">
                <a:solidFill>
                  <a:srgbClr val="000000"/>
                </a:solidFill>
                <a:latin typeface="Canva Sans"/>
                <a:ea typeface="Canva Sans"/>
                <a:cs typeface="Canva Sans"/>
                <a:sym typeface="Canva Sans"/>
              </a:rPr>
              <a:t>2</a:t>
            </a:r>
            <a:r>
              <a:rPr lang="en-US" sz="2450">
                <a:solidFill>
                  <a:srgbClr val="000000"/>
                </a:solidFill>
                <a:latin typeface="Canva Sans"/>
                <a:ea typeface="Canva Sans"/>
                <a:cs typeface="Canva Sans"/>
                <a:sym typeface="Canva Sans"/>
              </a:rPr>
              <a:t>M) for previously devised greedy heuristics to O(NM) for the proposed method.</a:t>
            </a:r>
            <a:endParaRPr lang="en-US"/>
          </a:p>
        </p:txBody>
      </p:sp>
      <p:grpSp>
        <p:nvGrpSpPr>
          <p:cNvPr id="9" name="Group 9"/>
          <p:cNvGrpSpPr/>
          <p:nvPr/>
        </p:nvGrpSpPr>
        <p:grpSpPr>
          <a:xfrm>
            <a:off x="1805325" y="5271391"/>
            <a:ext cx="14488012" cy="3784722"/>
            <a:chOff x="0" y="0"/>
            <a:chExt cx="19994486" cy="5452012"/>
          </a:xfrm>
        </p:grpSpPr>
        <p:sp>
          <p:nvSpPr>
            <p:cNvPr id="10" name="Freeform 10"/>
            <p:cNvSpPr/>
            <p:nvPr/>
          </p:nvSpPr>
          <p:spPr>
            <a:xfrm>
              <a:off x="407456" y="254000"/>
              <a:ext cx="5476894" cy="4143893"/>
            </a:xfrm>
            <a:custGeom>
              <a:avLst/>
              <a:gdLst/>
              <a:ahLst/>
              <a:cxnLst/>
              <a:rect l="l" t="t" r="r" b="b"/>
              <a:pathLst>
                <a:path w="5476894" h="4143893">
                  <a:moveTo>
                    <a:pt x="0" y="0"/>
                  </a:moveTo>
                  <a:lnTo>
                    <a:pt x="5476894" y="0"/>
                  </a:lnTo>
                  <a:lnTo>
                    <a:pt x="5476894" y="4143893"/>
                  </a:lnTo>
                  <a:lnTo>
                    <a:pt x="0" y="4143893"/>
                  </a:lnTo>
                  <a:lnTo>
                    <a:pt x="0" y="0"/>
                  </a:lnTo>
                  <a:close/>
                </a:path>
              </a:pathLst>
            </a:custGeom>
            <a:blipFill>
              <a:blip r:embed="rId2"/>
              <a:stretch>
                <a:fillRect/>
              </a:stretch>
            </a:blipFill>
          </p:spPr>
          <p:txBody>
            <a:bodyPr/>
            <a:lstStyle/>
            <a:p>
              <a:endParaRPr lang="en-IN"/>
            </a:p>
          </p:txBody>
        </p:sp>
        <p:sp>
          <p:nvSpPr>
            <p:cNvPr id="11" name="Freeform 11"/>
            <p:cNvSpPr/>
            <p:nvPr/>
          </p:nvSpPr>
          <p:spPr>
            <a:xfrm>
              <a:off x="6225355" y="883855"/>
              <a:ext cx="13323367" cy="3514038"/>
            </a:xfrm>
            <a:custGeom>
              <a:avLst/>
              <a:gdLst/>
              <a:ahLst/>
              <a:cxnLst/>
              <a:rect l="l" t="t" r="r" b="b"/>
              <a:pathLst>
                <a:path w="13323367" h="3514038">
                  <a:moveTo>
                    <a:pt x="0" y="0"/>
                  </a:moveTo>
                  <a:lnTo>
                    <a:pt x="13323367" y="0"/>
                  </a:lnTo>
                  <a:lnTo>
                    <a:pt x="13323367" y="3514038"/>
                  </a:lnTo>
                  <a:lnTo>
                    <a:pt x="0" y="3514038"/>
                  </a:lnTo>
                  <a:lnTo>
                    <a:pt x="0" y="0"/>
                  </a:lnTo>
                  <a:close/>
                </a:path>
              </a:pathLst>
            </a:custGeom>
            <a:blipFill>
              <a:blip r:embed="rId3"/>
              <a:stretch>
                <a:fillRect/>
              </a:stretch>
            </a:blipFill>
          </p:spPr>
          <p:txBody>
            <a:bodyPr/>
            <a:lstStyle/>
            <a:p>
              <a:endParaRPr lang="en-IN"/>
            </a:p>
          </p:txBody>
        </p:sp>
        <p:sp>
          <p:nvSpPr>
            <p:cNvPr id="12" name="TextBox 12"/>
            <p:cNvSpPr txBox="1"/>
            <p:nvPr/>
          </p:nvSpPr>
          <p:spPr>
            <a:xfrm>
              <a:off x="5278415" y="4604268"/>
              <a:ext cx="9364943" cy="449792"/>
            </a:xfrm>
            <a:prstGeom prst="rect">
              <a:avLst/>
            </a:prstGeom>
          </p:spPr>
          <p:txBody>
            <a:bodyPr lIns="0" tIns="0" rIns="0" bIns="0" rtlCol="0" anchor="t">
              <a:spAutoFit/>
            </a:bodyPr>
            <a:lstStyle/>
            <a:p>
              <a:pPr algn="l">
                <a:lnSpc>
                  <a:spcPts val="2800"/>
                </a:lnSpc>
                <a:spcBef>
                  <a:spcPct val="0"/>
                </a:spcBef>
              </a:pPr>
              <a:r>
                <a:rPr lang="en-US" sz="2000">
                  <a:solidFill>
                    <a:srgbClr val="000000"/>
                  </a:solidFill>
                  <a:latin typeface="Canva Sans"/>
                  <a:ea typeface="Canva Sans"/>
                  <a:cs typeface="Canva Sans"/>
                  <a:sym typeface="Canva Sans"/>
                </a:rPr>
                <a:t>Average consensus errors of obtained Steiner string</a:t>
              </a:r>
            </a:p>
          </p:txBody>
        </p:sp>
        <p:grpSp>
          <p:nvGrpSpPr>
            <p:cNvPr id="13" name="Group 13"/>
            <p:cNvGrpSpPr/>
            <p:nvPr/>
          </p:nvGrpSpPr>
          <p:grpSpPr>
            <a:xfrm>
              <a:off x="0" y="0"/>
              <a:ext cx="19994486" cy="5452012"/>
              <a:chOff x="0" y="0"/>
              <a:chExt cx="3949528" cy="1076941"/>
            </a:xfrm>
          </p:grpSpPr>
          <p:sp>
            <p:nvSpPr>
              <p:cNvPr id="14" name="Freeform 14"/>
              <p:cNvSpPr/>
              <p:nvPr/>
            </p:nvSpPr>
            <p:spPr>
              <a:xfrm>
                <a:off x="0" y="0"/>
                <a:ext cx="3949528" cy="1076941"/>
              </a:xfrm>
              <a:custGeom>
                <a:avLst/>
                <a:gdLst/>
                <a:ahLst/>
                <a:cxnLst/>
                <a:rect l="l" t="t" r="r" b="b"/>
                <a:pathLst>
                  <a:path w="3949528" h="1076941">
                    <a:moveTo>
                      <a:pt x="17037" y="0"/>
                    </a:moveTo>
                    <a:lnTo>
                      <a:pt x="3932491" y="0"/>
                    </a:lnTo>
                    <a:cubicBezTo>
                      <a:pt x="3941900" y="0"/>
                      <a:pt x="3949528" y="7628"/>
                      <a:pt x="3949528" y="17037"/>
                    </a:cubicBezTo>
                    <a:lnTo>
                      <a:pt x="3949528" y="1059904"/>
                    </a:lnTo>
                    <a:cubicBezTo>
                      <a:pt x="3949528" y="1069313"/>
                      <a:pt x="3941900" y="1076941"/>
                      <a:pt x="3932491" y="1076941"/>
                    </a:cubicBezTo>
                    <a:lnTo>
                      <a:pt x="17037" y="1076941"/>
                    </a:lnTo>
                    <a:cubicBezTo>
                      <a:pt x="7628" y="1076941"/>
                      <a:pt x="0" y="1069313"/>
                      <a:pt x="0" y="1059904"/>
                    </a:cubicBezTo>
                    <a:lnTo>
                      <a:pt x="0" y="17037"/>
                    </a:lnTo>
                    <a:cubicBezTo>
                      <a:pt x="0" y="7628"/>
                      <a:pt x="7628" y="0"/>
                      <a:pt x="17037" y="0"/>
                    </a:cubicBezTo>
                    <a:close/>
                  </a:path>
                </a:pathLst>
              </a:custGeom>
              <a:ln w="38100" cap="rnd">
                <a:solidFill>
                  <a:srgbClr val="5E7B97"/>
                </a:solidFill>
                <a:prstDash val="solid"/>
                <a:round/>
              </a:ln>
            </p:spPr>
            <p:txBody>
              <a:bodyPr/>
              <a:lstStyle/>
              <a:p>
                <a:endParaRPr lang="en-IN"/>
              </a:p>
            </p:txBody>
          </p:sp>
          <p:sp>
            <p:nvSpPr>
              <p:cNvPr id="15" name="TextBox 15"/>
              <p:cNvSpPr txBox="1"/>
              <p:nvPr/>
            </p:nvSpPr>
            <p:spPr>
              <a:xfrm>
                <a:off x="0" y="-38100"/>
                <a:ext cx="3949528" cy="1115041"/>
              </a:xfrm>
              <a:prstGeom prst="rect">
                <a:avLst/>
              </a:prstGeom>
            </p:spPr>
            <p:txBody>
              <a:bodyPr lIns="50800" tIns="50800" rIns="50800" bIns="50800" rtlCol="0" anchor="ctr"/>
              <a:lstStyle/>
              <a:p>
                <a:pPr algn="ctr">
                  <a:lnSpc>
                    <a:spcPts val="2659"/>
                  </a:lnSpc>
                  <a:spcBef>
                    <a:spcPct val="0"/>
                  </a:spcBef>
                </a:pPr>
                <a:endParaRPr/>
              </a:p>
            </p:txBody>
          </p:sp>
        </p:grpSp>
      </p:grpSp>
      <p:sp>
        <p:nvSpPr>
          <p:cNvPr id="16" name="TextBox 16"/>
          <p:cNvSpPr txBox="1"/>
          <p:nvPr/>
        </p:nvSpPr>
        <p:spPr>
          <a:xfrm>
            <a:off x="10787153" y="9777730"/>
            <a:ext cx="6586447" cy="258564"/>
          </a:xfrm>
          <a:prstGeom prst="rect">
            <a:avLst/>
          </a:prstGeom>
        </p:spPr>
        <p:txBody>
          <a:bodyPr wrap="square" lIns="0" tIns="0" rIns="0" bIns="0" rtlCol="0" anchor="t">
            <a:spAutoFit/>
          </a:bodyPr>
          <a:lstStyle/>
          <a:p>
            <a:pPr algn="r">
              <a:lnSpc>
                <a:spcPts val="2100"/>
              </a:lnSpc>
              <a:spcBef>
                <a:spcPct val="0"/>
              </a:spcBef>
            </a:pPr>
            <a:r>
              <a:rPr lang="en-US" sz="1500" b="1">
                <a:solidFill>
                  <a:srgbClr val="000000"/>
                </a:solidFill>
                <a:latin typeface="Canva Sans Bold"/>
                <a:ea typeface="Canva Sans Bold"/>
                <a:cs typeface="Canva Sans Bold"/>
                <a:sym typeface="Canva Sans Bold"/>
              </a:rPr>
              <a:t>Corso, G. Neural Distance Embeddings for Biological Sequences (2021)</a:t>
            </a:r>
          </a:p>
        </p:txBody>
      </p:sp>
      <p:sp>
        <p:nvSpPr>
          <p:cNvPr id="17" name="AutoShape 17"/>
          <p:cNvSpPr/>
          <p:nvPr/>
        </p:nvSpPr>
        <p:spPr>
          <a:xfrm>
            <a:off x="9997546" y="3945886"/>
            <a:ext cx="0" cy="448314"/>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8" name="TextBox 18"/>
          <p:cNvSpPr txBox="1"/>
          <p:nvPr/>
        </p:nvSpPr>
        <p:spPr>
          <a:xfrm>
            <a:off x="5368625" y="4346575"/>
            <a:ext cx="1256633" cy="4222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Canva Sans"/>
                <a:ea typeface="Canva Sans"/>
                <a:cs typeface="Canva Sans"/>
                <a:sym typeface="Canva Sans"/>
              </a:rPr>
              <a:t>Encode</a:t>
            </a:r>
          </a:p>
        </p:txBody>
      </p:sp>
      <p:sp>
        <p:nvSpPr>
          <p:cNvPr id="19" name="TextBox 19"/>
          <p:cNvSpPr txBox="1"/>
          <p:nvPr/>
        </p:nvSpPr>
        <p:spPr>
          <a:xfrm>
            <a:off x="7749023" y="4346575"/>
            <a:ext cx="4497046" cy="4222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Canva Sans"/>
                <a:ea typeface="Canva Sans"/>
                <a:cs typeface="Canva Sans"/>
                <a:sym typeface="Canva Sans"/>
              </a:rPr>
              <a:t>Determine Geometric mean</a:t>
            </a:r>
          </a:p>
        </p:txBody>
      </p:sp>
      <p:sp>
        <p:nvSpPr>
          <p:cNvPr id="20" name="TextBox 20"/>
          <p:cNvSpPr txBox="1"/>
          <p:nvPr/>
        </p:nvSpPr>
        <p:spPr>
          <a:xfrm>
            <a:off x="13110697" y="4346575"/>
            <a:ext cx="1576560" cy="4222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Canva Sans"/>
                <a:ea typeface="Canva Sans"/>
                <a:cs typeface="Canva Sans"/>
                <a:sym typeface="Canva Sans"/>
              </a:rPr>
              <a:t>Decode</a:t>
            </a:r>
          </a:p>
        </p:txBody>
      </p:sp>
      <p:sp>
        <p:nvSpPr>
          <p:cNvPr id="21" name="TextBox 21"/>
          <p:cNvSpPr txBox="1"/>
          <p:nvPr/>
        </p:nvSpPr>
        <p:spPr>
          <a:xfrm>
            <a:off x="6990365" y="4249737"/>
            <a:ext cx="393552"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Canva Sans"/>
                <a:ea typeface="Canva Sans"/>
                <a:cs typeface="Canva Sans"/>
                <a:sym typeface="Canva Sans"/>
              </a:rPr>
              <a:t>+</a:t>
            </a:r>
          </a:p>
        </p:txBody>
      </p:sp>
      <p:sp>
        <p:nvSpPr>
          <p:cNvPr id="22" name="TextBox 22"/>
          <p:cNvSpPr txBox="1"/>
          <p:nvPr/>
        </p:nvSpPr>
        <p:spPr>
          <a:xfrm>
            <a:off x="12481607" y="4249737"/>
            <a:ext cx="393552" cy="596900"/>
          </a:xfrm>
          <a:prstGeom prst="rect">
            <a:avLst/>
          </a:prstGeom>
        </p:spPr>
        <p:txBody>
          <a:bodyPr lIns="0" tIns="0" rIns="0" bIns="0" rtlCol="0" anchor="t">
            <a:spAutoFit/>
          </a:bodyPr>
          <a:lstStyle/>
          <a:p>
            <a:pPr algn="l">
              <a:lnSpc>
                <a:spcPts val="4900"/>
              </a:lnSpc>
              <a:spcBef>
                <a:spcPct val="0"/>
              </a:spcBef>
            </a:pPr>
            <a:r>
              <a:rPr lang="en-US" sz="3500">
                <a:solidFill>
                  <a:srgbClr val="000000"/>
                </a:solidFill>
                <a:latin typeface="Canva Sans"/>
                <a:ea typeface="Canva Sans"/>
                <a:cs typeface="Canva Sans"/>
                <a:sym typeface="Canva Sans"/>
              </a:rPr>
              <a:t>+</a:t>
            </a:r>
          </a:p>
        </p:txBody>
      </p:sp>
      <p:sp>
        <p:nvSpPr>
          <p:cNvPr id="23" name="TextBox 23"/>
          <p:cNvSpPr txBox="1"/>
          <p:nvPr/>
        </p:nvSpPr>
        <p:spPr>
          <a:xfrm>
            <a:off x="5458636" y="4721225"/>
            <a:ext cx="1076610" cy="4222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Canva Sans"/>
                <a:ea typeface="Canva Sans"/>
                <a:cs typeface="Canva Sans"/>
                <a:sym typeface="Canva Sans"/>
              </a:rPr>
              <a:t>O(MN)</a:t>
            </a:r>
          </a:p>
        </p:txBody>
      </p:sp>
      <p:sp>
        <p:nvSpPr>
          <p:cNvPr id="24" name="TextBox 24"/>
          <p:cNvSpPr txBox="1"/>
          <p:nvPr/>
        </p:nvSpPr>
        <p:spPr>
          <a:xfrm>
            <a:off x="13237109" y="4721225"/>
            <a:ext cx="1076610" cy="4222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Canva Sans"/>
                <a:ea typeface="Canva Sans"/>
                <a:cs typeface="Canva Sans"/>
                <a:sym typeface="Canva Sans"/>
              </a:rPr>
              <a:t>O(MN)</a:t>
            </a:r>
          </a:p>
        </p:txBody>
      </p:sp>
      <p:sp>
        <p:nvSpPr>
          <p:cNvPr id="25" name="TextBox 25"/>
          <p:cNvSpPr txBox="1"/>
          <p:nvPr/>
        </p:nvSpPr>
        <p:spPr>
          <a:xfrm>
            <a:off x="9613547" y="4721225"/>
            <a:ext cx="767999" cy="422275"/>
          </a:xfrm>
          <a:prstGeom prst="rect">
            <a:avLst/>
          </a:prstGeom>
        </p:spPr>
        <p:txBody>
          <a:bodyPr lIns="0" tIns="0" rIns="0" bIns="0" rtlCol="0" anchor="t">
            <a:spAutoFit/>
          </a:bodyPr>
          <a:lstStyle/>
          <a:p>
            <a:pPr algn="l">
              <a:lnSpc>
                <a:spcPts val="3499"/>
              </a:lnSpc>
              <a:spcBef>
                <a:spcPct val="0"/>
              </a:spcBef>
            </a:pPr>
            <a:r>
              <a:rPr lang="en-US" sz="2499">
                <a:solidFill>
                  <a:srgbClr val="000000"/>
                </a:solidFill>
                <a:latin typeface="Canva Sans"/>
                <a:ea typeface="Canva Sans"/>
                <a:cs typeface="Canva Sans"/>
                <a:sym typeface="Canva Sans"/>
              </a:rPr>
              <a:t>O(1)</a:t>
            </a:r>
          </a:p>
        </p:txBody>
      </p:sp>
      <p:sp>
        <p:nvSpPr>
          <p:cNvPr id="27" name="TextBox 8">
            <a:extLst>
              <a:ext uri="{FF2B5EF4-FFF2-40B4-BE49-F238E27FC236}">
                <a16:creationId xmlns:a16="http://schemas.microsoft.com/office/drawing/2014/main" id="{1574A9AA-DD8D-FCA4-2B1C-C66B04530AF2}"/>
              </a:ext>
            </a:extLst>
          </p:cNvPr>
          <p:cNvSpPr txBox="1"/>
          <p:nvPr/>
        </p:nvSpPr>
        <p:spPr>
          <a:xfrm>
            <a:off x="921405" y="9264943"/>
            <a:ext cx="8894440" cy="404732"/>
          </a:xfrm>
          <a:prstGeom prst="rect">
            <a:avLst/>
          </a:prstGeom>
        </p:spPr>
        <p:txBody>
          <a:bodyPr wrap="square" lIns="0" tIns="0" rIns="0" bIns="0" rtlCol="0" anchor="t">
            <a:spAutoFit/>
          </a:bodyPr>
          <a:lstStyle/>
          <a:p>
            <a:pPr>
              <a:lnSpc>
                <a:spcPts val="3499"/>
              </a:lnSpc>
              <a:spcBef>
                <a:spcPct val="0"/>
              </a:spcBef>
            </a:pPr>
            <a:r>
              <a:rPr lang="en-US"/>
              <a:t>Centre string of a set S is a string belong to S that minimizes the consensus error relative to 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7" grpId="0" animBg="1"/>
      <p:bldP spid="18" grpId="0"/>
      <p:bldP spid="19" grpId="0"/>
      <p:bldP spid="20" grpId="0"/>
      <p:bldP spid="21" grpId="0"/>
      <p:bldP spid="22" grpId="0"/>
      <p:bldP spid="23" grpId="0"/>
      <p:bldP spid="24" grpId="0"/>
      <p:bldP spid="25" grpId="0"/>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8794043" y="8594874"/>
            <a:ext cx="9035254" cy="1027760"/>
          </a:xfrm>
          <a:custGeom>
            <a:avLst/>
            <a:gdLst/>
            <a:ahLst/>
            <a:cxnLst/>
            <a:rect l="l" t="t" r="r" b="b"/>
            <a:pathLst>
              <a:path w="9035254" h="1027760">
                <a:moveTo>
                  <a:pt x="0" y="0"/>
                </a:moveTo>
                <a:lnTo>
                  <a:pt x="9035255" y="0"/>
                </a:lnTo>
                <a:lnTo>
                  <a:pt x="9035255" y="1027760"/>
                </a:lnTo>
                <a:lnTo>
                  <a:pt x="0" y="1027760"/>
                </a:lnTo>
                <a:lnTo>
                  <a:pt x="0" y="0"/>
                </a:lnTo>
                <a:close/>
              </a:path>
            </a:pathLst>
          </a:custGeom>
          <a:blipFill>
            <a:blip r:embed="rId2"/>
            <a:stretch>
              <a:fillRect/>
            </a:stretch>
          </a:blipFill>
          <a:ln w="19050" cap="sq">
            <a:solidFill>
              <a:srgbClr val="000000"/>
            </a:solidFill>
            <a:prstDash val="solid"/>
            <a:miter/>
          </a:ln>
        </p:spPr>
        <p:txBody>
          <a:bodyPr/>
          <a:lstStyle/>
          <a:p>
            <a:endParaRPr lang="en-IN"/>
          </a:p>
        </p:txBody>
      </p:sp>
      <p:sp>
        <p:nvSpPr>
          <p:cNvPr id="6" name="TextBox 6"/>
          <p:cNvSpPr txBox="1"/>
          <p:nvPr/>
        </p:nvSpPr>
        <p:spPr>
          <a:xfrm>
            <a:off x="280652" y="547604"/>
            <a:ext cx="17726695" cy="863600"/>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EXPERIMENT DETAILS: EDIT DISTANCE APPROXIMATION</a:t>
            </a:r>
          </a:p>
        </p:txBody>
      </p:sp>
      <p:sp>
        <p:nvSpPr>
          <p:cNvPr id="7" name="TextBox 7"/>
          <p:cNvSpPr txBox="1"/>
          <p:nvPr/>
        </p:nvSpPr>
        <p:spPr>
          <a:xfrm>
            <a:off x="48947" y="2178283"/>
            <a:ext cx="2138076" cy="461665"/>
          </a:xfrm>
          <a:prstGeom prst="rect">
            <a:avLst/>
          </a:prstGeom>
        </p:spPr>
        <p:txBody>
          <a:bodyPr wrap="square"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Objective:</a:t>
            </a:r>
          </a:p>
        </p:txBody>
      </p:sp>
      <p:sp>
        <p:nvSpPr>
          <p:cNvPr id="8" name="TextBox 8"/>
          <p:cNvSpPr txBox="1"/>
          <p:nvPr/>
        </p:nvSpPr>
        <p:spPr>
          <a:xfrm>
            <a:off x="2131935" y="2229430"/>
            <a:ext cx="14777448" cy="410369"/>
          </a:xfrm>
          <a:prstGeom prst="rect">
            <a:avLst/>
          </a:prstGeom>
        </p:spPr>
        <p:txBody>
          <a:bodyPr wrap="square" lIns="0" tIns="0" rIns="0" bIns="0" rtlCol="0" anchor="t">
            <a:spAutoFit/>
          </a:bodyPr>
          <a:lstStyle/>
          <a:p>
            <a:pPr algn="ctr">
              <a:lnSpc>
                <a:spcPts val="3240"/>
              </a:lnSpc>
              <a:spcBef>
                <a:spcPct val="0"/>
              </a:spcBef>
            </a:pPr>
            <a:r>
              <a:rPr lang="en-US" sz="2700">
                <a:solidFill>
                  <a:srgbClr val="000000"/>
                </a:solidFill>
                <a:latin typeface="Canva Sans"/>
                <a:ea typeface="Canva Sans"/>
                <a:cs typeface="Canva Sans"/>
                <a:sym typeface="Canva Sans"/>
              </a:rPr>
              <a:t>Reproduce the key results from the original </a:t>
            </a:r>
            <a:r>
              <a:rPr lang="en-US" sz="2700" err="1">
                <a:solidFill>
                  <a:srgbClr val="000000"/>
                </a:solidFill>
                <a:latin typeface="Canva Sans"/>
                <a:ea typeface="Canva Sans"/>
                <a:cs typeface="Canva Sans"/>
                <a:sym typeface="Canva Sans"/>
              </a:rPr>
              <a:t>NeuroSEED</a:t>
            </a:r>
            <a:r>
              <a:rPr lang="en-US" sz="2700">
                <a:solidFill>
                  <a:srgbClr val="000000"/>
                </a:solidFill>
                <a:latin typeface="Canva Sans"/>
                <a:ea typeface="Canva Sans"/>
                <a:cs typeface="Canva Sans"/>
                <a:sym typeface="Canva Sans"/>
              </a:rPr>
              <a:t> paper, with special emphasis on:</a:t>
            </a:r>
            <a:endParaRPr lang="en-US"/>
          </a:p>
        </p:txBody>
      </p:sp>
      <p:sp>
        <p:nvSpPr>
          <p:cNvPr id="9" name="TextBox 9"/>
          <p:cNvSpPr txBox="1"/>
          <p:nvPr/>
        </p:nvSpPr>
        <p:spPr>
          <a:xfrm>
            <a:off x="276471" y="2747977"/>
            <a:ext cx="17739305" cy="828675"/>
          </a:xfrm>
          <a:prstGeom prst="rect">
            <a:avLst/>
          </a:prstGeom>
        </p:spPr>
        <p:txBody>
          <a:bodyPr wrap="square" lIns="0" tIns="0" rIns="0" bIns="0" rtlCol="0" anchor="t">
            <a:spAutoFit/>
          </a:bodyPr>
          <a:lstStyle/>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The importance of embedding geometry (Euclidean vs. Cosine vs. Hyperbolic)​</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 The advantage of learned (data-dependent) embeddings for fast and accurate distance approximation​</a:t>
            </a:r>
          </a:p>
        </p:txBody>
      </p:sp>
      <p:sp>
        <p:nvSpPr>
          <p:cNvPr id="10" name="TextBox 10"/>
          <p:cNvSpPr txBox="1"/>
          <p:nvPr/>
        </p:nvSpPr>
        <p:spPr>
          <a:xfrm>
            <a:off x="276471" y="4244175"/>
            <a:ext cx="2821856" cy="457200"/>
          </a:xfrm>
          <a:prstGeom prst="rect">
            <a:avLst/>
          </a:prstGeom>
        </p:spPr>
        <p:txBody>
          <a:bodyPr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Datasets used: </a:t>
            </a:r>
          </a:p>
        </p:txBody>
      </p:sp>
      <p:sp>
        <p:nvSpPr>
          <p:cNvPr id="11" name="TextBox 11"/>
          <p:cNvSpPr txBox="1"/>
          <p:nvPr/>
        </p:nvSpPr>
        <p:spPr>
          <a:xfrm>
            <a:off x="550654" y="4732671"/>
            <a:ext cx="12300052" cy="410369"/>
          </a:xfrm>
          <a:prstGeom prst="rect">
            <a:avLst/>
          </a:prstGeom>
        </p:spPr>
        <p:txBody>
          <a:bodyPr wrap="square" lIns="0" tIns="0" rIns="0" bIns="0" rtlCol="0" anchor="t">
            <a:spAutoFit/>
          </a:bodyPr>
          <a:lstStyle/>
          <a:p>
            <a:pPr algn="ctr">
              <a:lnSpc>
                <a:spcPts val="3240"/>
              </a:lnSpc>
              <a:spcBef>
                <a:spcPct val="0"/>
              </a:spcBef>
            </a:pPr>
            <a:r>
              <a:rPr lang="en-US" sz="2700" err="1">
                <a:solidFill>
                  <a:srgbClr val="000000"/>
                </a:solidFill>
                <a:latin typeface="Canva Sans"/>
                <a:ea typeface="Canva Sans"/>
                <a:cs typeface="Canva Sans"/>
                <a:sym typeface="Canva Sans"/>
              </a:rPr>
              <a:t>Qiita</a:t>
            </a:r>
            <a:r>
              <a:rPr lang="en-US" sz="2700">
                <a:solidFill>
                  <a:srgbClr val="000000"/>
                </a:solidFill>
                <a:latin typeface="Canva Sans"/>
                <a:ea typeface="Canva Sans"/>
                <a:cs typeface="Canva Sans"/>
                <a:sym typeface="Canva Sans"/>
              </a:rPr>
              <a:t>, RT988 and </a:t>
            </a:r>
            <a:r>
              <a:rPr lang="en-US" sz="2700" err="1">
                <a:solidFill>
                  <a:srgbClr val="000000"/>
                </a:solidFill>
                <a:latin typeface="Canva Sans"/>
                <a:ea typeface="Canva Sans"/>
                <a:cs typeface="Canva Sans"/>
                <a:sym typeface="Canva Sans"/>
              </a:rPr>
              <a:t>Greengenes</a:t>
            </a:r>
            <a:r>
              <a:rPr lang="en-US" sz="2700">
                <a:solidFill>
                  <a:srgbClr val="000000"/>
                </a:solidFill>
                <a:latin typeface="Canva Sans"/>
                <a:ea typeface="Canva Sans"/>
                <a:cs typeface="Canva Sans"/>
                <a:sym typeface="Canva Sans"/>
              </a:rPr>
              <a:t> datasets of 16S rRNA subsequences. </a:t>
            </a:r>
          </a:p>
        </p:txBody>
      </p:sp>
      <p:sp>
        <p:nvSpPr>
          <p:cNvPr id="12" name="TextBox 12"/>
          <p:cNvSpPr txBox="1"/>
          <p:nvPr/>
        </p:nvSpPr>
        <p:spPr>
          <a:xfrm>
            <a:off x="-121095" y="5476627"/>
            <a:ext cx="4692011" cy="461665"/>
          </a:xfrm>
          <a:prstGeom prst="rect">
            <a:avLst/>
          </a:prstGeom>
        </p:spPr>
        <p:txBody>
          <a:bodyPr wrap="square"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Experimental Setup:</a:t>
            </a:r>
          </a:p>
        </p:txBody>
      </p:sp>
      <p:sp>
        <p:nvSpPr>
          <p:cNvPr id="13" name="TextBox 13"/>
          <p:cNvSpPr txBox="1"/>
          <p:nvPr/>
        </p:nvSpPr>
        <p:spPr>
          <a:xfrm>
            <a:off x="550654" y="6085813"/>
            <a:ext cx="15837425" cy="1647825"/>
          </a:xfrm>
          <a:prstGeom prst="rect">
            <a:avLst/>
          </a:prstGeom>
        </p:spPr>
        <p:txBody>
          <a:bodyPr wrap="square" lIns="0" tIns="0" rIns="0" bIns="0" rtlCol="0" anchor="t">
            <a:spAutoFit/>
          </a:bodyPr>
          <a:lstStyle/>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Test three encoder architectures: Linear, CNN, and Transformer​</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 Compare three embedding geometries: Euclidean, Cosine, and Hyperbolic​</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 Trained end-to-end using MSE loss on normalized edit distances​</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 Goal: Learn embeddings where geometric distance closely approximates true edit distance</a:t>
            </a:r>
          </a:p>
        </p:txBody>
      </p:sp>
      <p:sp>
        <p:nvSpPr>
          <p:cNvPr id="14" name="TextBox 14"/>
          <p:cNvSpPr txBox="1"/>
          <p:nvPr/>
        </p:nvSpPr>
        <p:spPr>
          <a:xfrm>
            <a:off x="5080" y="8369228"/>
            <a:ext cx="2023592" cy="461665"/>
          </a:xfrm>
          <a:prstGeom prst="rect">
            <a:avLst/>
          </a:prstGeom>
        </p:spPr>
        <p:txBody>
          <a:bodyPr wrap="square" lIns="0" tIns="0" rIns="0" bIns="0" rtlCol="0" anchor="t">
            <a:spAutoFit/>
          </a:bodyPr>
          <a:lstStyle/>
          <a:p>
            <a:pPr algn="ctr">
              <a:lnSpc>
                <a:spcPts val="3600"/>
              </a:lnSpc>
              <a:spcBef>
                <a:spcPct val="0"/>
              </a:spcBef>
            </a:pPr>
            <a:r>
              <a:rPr lang="en-US" sz="3000" b="1">
                <a:solidFill>
                  <a:srgbClr val="000000"/>
                </a:solidFill>
                <a:latin typeface="Canva Sans Bold"/>
                <a:sym typeface="Canva Sans Bold"/>
              </a:rPr>
              <a:t>Results</a:t>
            </a:r>
            <a:endParaRPr lang="en-US"/>
          </a:p>
        </p:txBody>
      </p:sp>
      <p:sp>
        <p:nvSpPr>
          <p:cNvPr id="15" name="TextBox 15"/>
          <p:cNvSpPr txBox="1"/>
          <p:nvPr/>
        </p:nvSpPr>
        <p:spPr>
          <a:xfrm>
            <a:off x="365037" y="8939071"/>
            <a:ext cx="8429006" cy="675640"/>
          </a:xfrm>
          <a:prstGeom prst="rect">
            <a:avLst/>
          </a:prstGeom>
        </p:spPr>
        <p:txBody>
          <a:bodyPr lIns="0" tIns="0" rIns="0" bIns="0" rtlCol="0" anchor="t">
            <a:spAutoFit/>
          </a:bodyPr>
          <a:lstStyle/>
          <a:p>
            <a:pPr algn="l">
              <a:lnSpc>
                <a:spcPts val="2600"/>
              </a:lnSpc>
            </a:pPr>
            <a:r>
              <a:rPr lang="en-US" sz="2600">
                <a:solidFill>
                  <a:srgbClr val="000000"/>
                </a:solidFill>
                <a:latin typeface="Canva Sans"/>
                <a:ea typeface="Canva Sans"/>
                <a:cs typeface="Canva Sans"/>
                <a:sym typeface="Canva Sans"/>
              </a:rPr>
              <a:t>Reported as % RMSE (normalized Root Mean Squared Error) for easy comparison across datasets​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P spid="10" grpId="0"/>
      <p:bldP spid="11" grpId="0"/>
      <p:bldP spid="12" grpId="0"/>
      <p:bldP spid="13"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304800" y="135371"/>
            <a:ext cx="20394020" cy="1636272"/>
            <a:chOff x="0" y="-38100"/>
            <a:chExt cx="5371264" cy="4309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5" name="Object 5"/>
          <p:cNvGraphicFramePr/>
          <p:nvPr>
            <p:extLst>
              <p:ext uri="{D42A27DB-BD31-4B8C-83A1-F6EECF244321}">
                <p14:modId xmlns:p14="http://schemas.microsoft.com/office/powerpoint/2010/main" val="2557848742"/>
              </p:ext>
            </p:extLst>
          </p:nvPr>
        </p:nvGraphicFramePr>
        <p:xfrm>
          <a:off x="463539" y="2294690"/>
          <a:ext cx="9429750" cy="6286500"/>
        </p:xfrm>
        <a:graphic>
          <a:graphicData uri="http://schemas.openxmlformats.org/presentationml/2006/ole">
            <mc:AlternateContent xmlns:mc="http://schemas.openxmlformats.org/markup-compatibility/2006">
              <mc:Choice xmlns:v="urn:schemas-microsoft-com:vml" Requires="v">
                <p:oleObj name="Worksheet" r:id="rId2" imgW="11315700" imgH="8166100" progId="Excel.Sheet.12">
                  <p:embed/>
                </p:oleObj>
              </mc:Choice>
              <mc:Fallback>
                <p:oleObj name="Worksheet" r:id="rId2" imgW="11315700" imgH="8166100" progId="Excel.Sheet.12">
                  <p:embed/>
                  <p:pic>
                    <p:nvPicPr>
                      <p:cNvPr id="5" name="Object 5"/>
                      <p:cNvPicPr/>
                      <p:nvPr/>
                    </p:nvPicPr>
                    <p:blipFill>
                      <a:blip r:embed="rId3"/>
                      <a:stretch>
                        <a:fillRect/>
                      </a:stretch>
                    </p:blipFill>
                    <p:spPr>
                      <a:xfrm>
                        <a:off x="463539" y="2294690"/>
                        <a:ext cx="9429750" cy="6286500"/>
                      </a:xfrm>
                      <a:prstGeom prst="rect">
                        <a:avLst/>
                      </a:prstGeom>
                    </p:spPr>
                  </p:pic>
                </p:oleObj>
              </mc:Fallback>
            </mc:AlternateContent>
          </a:graphicData>
        </a:graphic>
      </p:graphicFrame>
      <p:sp>
        <p:nvSpPr>
          <p:cNvPr id="6" name="TextBox 6"/>
          <p:cNvSpPr txBox="1"/>
          <p:nvPr/>
        </p:nvSpPr>
        <p:spPr>
          <a:xfrm>
            <a:off x="408905" y="544513"/>
            <a:ext cx="17726695" cy="863600"/>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EXPERIMENT DETAILS: EDIT DISTANCE APPROXIMATION</a:t>
            </a:r>
          </a:p>
        </p:txBody>
      </p:sp>
      <p:sp>
        <p:nvSpPr>
          <p:cNvPr id="7" name="TextBox 7"/>
          <p:cNvSpPr txBox="1"/>
          <p:nvPr/>
        </p:nvSpPr>
        <p:spPr>
          <a:xfrm>
            <a:off x="-919370" y="2099634"/>
            <a:ext cx="12869912" cy="600075"/>
          </a:xfrm>
          <a:prstGeom prst="rect">
            <a:avLst/>
          </a:prstGeom>
        </p:spPr>
        <p:txBody>
          <a:bodyPr lIns="0" tIns="0" rIns="0" bIns="0" rtlCol="0" anchor="t">
            <a:spAutoFit/>
          </a:bodyPr>
          <a:lstStyle/>
          <a:p>
            <a:pPr algn="ctr">
              <a:lnSpc>
                <a:spcPts val="4799"/>
              </a:lnSpc>
              <a:spcBef>
                <a:spcPct val="0"/>
              </a:spcBef>
            </a:pPr>
            <a:r>
              <a:rPr lang="en-US" sz="3950" b="1">
                <a:solidFill>
                  <a:srgbClr val="000000"/>
                </a:solidFill>
                <a:latin typeface="Canva Sans Bold"/>
                <a:ea typeface="Canva Sans Bold"/>
                <a:cs typeface="Canva Sans Bold"/>
                <a:sym typeface="Canva Sans Bold"/>
              </a:rPr>
              <a:t>Main Results: Real Biological Datasets​</a:t>
            </a:r>
          </a:p>
        </p:txBody>
      </p:sp>
      <p:sp>
        <p:nvSpPr>
          <p:cNvPr id="8" name="TextBox 8"/>
          <p:cNvSpPr txBox="1"/>
          <p:nvPr/>
        </p:nvSpPr>
        <p:spPr>
          <a:xfrm>
            <a:off x="11461154" y="4921561"/>
            <a:ext cx="6417941" cy="1781175"/>
          </a:xfrm>
          <a:prstGeom prst="rect">
            <a:avLst/>
          </a:prstGeom>
        </p:spPr>
        <p:txBody>
          <a:bodyPr lIns="0" tIns="0" rIns="0" bIns="0" rtlCol="0" anchor="t">
            <a:spAutoFit/>
          </a:bodyPr>
          <a:lstStyle/>
          <a:p>
            <a:pPr algn="l">
              <a:lnSpc>
                <a:spcPts val="3599"/>
              </a:lnSpc>
              <a:spcBef>
                <a:spcPct val="0"/>
              </a:spcBef>
            </a:pPr>
            <a:r>
              <a:rPr lang="en-US" sz="2999">
                <a:solidFill>
                  <a:srgbClr val="000000"/>
                </a:solidFill>
                <a:latin typeface="Canva Sans"/>
                <a:ea typeface="Canva Sans"/>
                <a:cs typeface="Canva Sans"/>
                <a:sym typeface="Canva Sans"/>
              </a:rPr>
              <a:t>Hyperbolic geometry consistently gives the lowest error, especially when paired with CNN or Transformer encoders.</a:t>
            </a:r>
          </a:p>
        </p:txBody>
      </p:sp>
      <p:sp>
        <p:nvSpPr>
          <p:cNvPr id="9" name="TextBox 9"/>
          <p:cNvSpPr txBox="1"/>
          <p:nvPr/>
        </p:nvSpPr>
        <p:spPr>
          <a:xfrm>
            <a:off x="11124252" y="4473886"/>
            <a:ext cx="2894635" cy="438150"/>
          </a:xfrm>
          <a:prstGeom prst="rect">
            <a:avLst/>
          </a:prstGeom>
        </p:spPr>
        <p:txBody>
          <a:bodyPr lIns="0" tIns="0" rIns="0" bIns="0" rtlCol="0" anchor="t">
            <a:spAutoFit/>
          </a:bodyPr>
          <a:lstStyle/>
          <a:p>
            <a:pPr algn="l">
              <a:lnSpc>
                <a:spcPts val="3599"/>
              </a:lnSpc>
              <a:spcBef>
                <a:spcPct val="0"/>
              </a:spcBef>
            </a:pPr>
            <a:r>
              <a:rPr lang="en-US" sz="2999" b="1">
                <a:solidFill>
                  <a:srgbClr val="000000"/>
                </a:solidFill>
                <a:latin typeface="Canva Sans Bold"/>
                <a:ea typeface="Canva Sans Bold"/>
                <a:cs typeface="Canva Sans Bold"/>
                <a:sym typeface="Canva Sans Bold"/>
              </a:rPr>
              <a:t>OBSERVATION</a:t>
            </a:r>
          </a:p>
        </p:txBody>
      </p:sp>
      <p:sp>
        <p:nvSpPr>
          <p:cNvPr id="10" name="TextBox 10"/>
          <p:cNvSpPr txBox="1"/>
          <p:nvPr/>
        </p:nvSpPr>
        <p:spPr>
          <a:xfrm>
            <a:off x="2276293" y="8430364"/>
            <a:ext cx="5800719" cy="314325"/>
          </a:xfrm>
          <a:prstGeom prst="rect">
            <a:avLst/>
          </a:prstGeom>
        </p:spPr>
        <p:txBody>
          <a:bodyPr lIns="0" tIns="0" rIns="0" bIns="0" rtlCol="0" anchor="t">
            <a:spAutoFit/>
          </a:bodyPr>
          <a:lstStyle/>
          <a:p>
            <a:pPr algn="l">
              <a:lnSpc>
                <a:spcPts val="2400"/>
              </a:lnSpc>
              <a:spcBef>
                <a:spcPct val="0"/>
              </a:spcBef>
            </a:pPr>
            <a:r>
              <a:rPr lang="en-US" sz="2000">
                <a:solidFill>
                  <a:srgbClr val="000000"/>
                </a:solidFill>
                <a:latin typeface="Canva Sans"/>
                <a:ea typeface="Canva Sans"/>
                <a:cs typeface="Canva Sans"/>
                <a:sym typeface="Canva Sans"/>
              </a:rPr>
              <a:t>MAPE for different geometries and encoders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381000" y="282738"/>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44611" y="520381"/>
            <a:ext cx="17879095" cy="838819"/>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EXPERIMENT DETAILS: EDIT DISTANCE APPROXIMATION</a:t>
            </a:r>
          </a:p>
        </p:txBody>
      </p:sp>
      <p:sp>
        <p:nvSpPr>
          <p:cNvPr id="7" name="TextBox 7"/>
          <p:cNvSpPr txBox="1"/>
          <p:nvPr/>
        </p:nvSpPr>
        <p:spPr>
          <a:xfrm>
            <a:off x="0" y="1850706"/>
            <a:ext cx="14932334" cy="600075"/>
          </a:xfrm>
          <a:prstGeom prst="rect">
            <a:avLst/>
          </a:prstGeom>
        </p:spPr>
        <p:txBody>
          <a:bodyPr lIns="0" tIns="0" rIns="0" bIns="0" rtlCol="0" anchor="t">
            <a:spAutoFit/>
          </a:bodyPr>
          <a:lstStyle/>
          <a:p>
            <a:pPr algn="ctr">
              <a:lnSpc>
                <a:spcPts val="4799"/>
              </a:lnSpc>
              <a:spcBef>
                <a:spcPct val="0"/>
              </a:spcBef>
            </a:pPr>
            <a:r>
              <a:rPr lang="en-US" sz="3999" b="1">
                <a:solidFill>
                  <a:srgbClr val="000000"/>
                </a:solidFill>
                <a:latin typeface="Canva Sans Bold"/>
                <a:ea typeface="Canva Sans Bold"/>
                <a:cs typeface="Canva Sans Bold"/>
                <a:sym typeface="Canva Sans Bold"/>
              </a:rPr>
              <a:t>Results: Neural Embeddings vs. Data-Independent Baseline</a:t>
            </a:r>
          </a:p>
        </p:txBody>
      </p:sp>
      <p:sp>
        <p:nvSpPr>
          <p:cNvPr id="8" name="TextBox 8"/>
          <p:cNvSpPr txBox="1"/>
          <p:nvPr/>
        </p:nvSpPr>
        <p:spPr>
          <a:xfrm>
            <a:off x="918367" y="7671845"/>
            <a:ext cx="7581285" cy="828675"/>
          </a:xfrm>
          <a:prstGeom prst="rect">
            <a:avLst/>
          </a:prstGeom>
        </p:spPr>
        <p:txBody>
          <a:bodyPr lIns="0" tIns="0" rIns="0" bIns="0" rtlCol="0" anchor="t">
            <a:spAutoFit/>
          </a:bodyPr>
          <a:lstStyle/>
          <a:p>
            <a:pPr algn="l">
              <a:lnSpc>
                <a:spcPts val="3240"/>
              </a:lnSpc>
              <a:spcBef>
                <a:spcPct val="0"/>
              </a:spcBef>
            </a:pPr>
            <a:r>
              <a:rPr lang="en-US" sz="2700">
                <a:solidFill>
                  <a:srgbClr val="000000"/>
                </a:solidFill>
                <a:latin typeface="Canva Sans"/>
                <a:ea typeface="Canva Sans"/>
                <a:cs typeface="Canva Sans"/>
                <a:sym typeface="Canva Sans"/>
              </a:rPr>
              <a:t>Hyperbolic Geometry almost wins on all real biological datasets​</a:t>
            </a:r>
          </a:p>
        </p:txBody>
      </p:sp>
      <p:sp>
        <p:nvSpPr>
          <p:cNvPr id="9" name="TextBox 9"/>
          <p:cNvSpPr txBox="1"/>
          <p:nvPr/>
        </p:nvSpPr>
        <p:spPr>
          <a:xfrm>
            <a:off x="918367" y="8814845"/>
            <a:ext cx="7779919" cy="828675"/>
          </a:xfrm>
          <a:prstGeom prst="rect">
            <a:avLst/>
          </a:prstGeom>
        </p:spPr>
        <p:txBody>
          <a:bodyPr lIns="0" tIns="0" rIns="0" bIns="0" rtlCol="0" anchor="t">
            <a:spAutoFit/>
          </a:bodyPr>
          <a:lstStyle/>
          <a:p>
            <a:pPr algn="l">
              <a:lnSpc>
                <a:spcPts val="3240"/>
              </a:lnSpc>
              <a:spcBef>
                <a:spcPct val="0"/>
              </a:spcBef>
            </a:pPr>
            <a:r>
              <a:rPr lang="en-US" sz="2700">
                <a:solidFill>
                  <a:srgbClr val="000000"/>
                </a:solidFill>
                <a:latin typeface="Canva Sans"/>
                <a:ea typeface="Canva Sans"/>
                <a:cs typeface="Canva Sans"/>
                <a:sym typeface="Canva Sans"/>
              </a:rPr>
              <a:t>CNN and Transformers outperform data-independent method (k-</a:t>
            </a:r>
            <a:r>
              <a:rPr lang="en-US" sz="2700" err="1">
                <a:solidFill>
                  <a:srgbClr val="000000"/>
                </a:solidFill>
                <a:latin typeface="Canva Sans"/>
                <a:ea typeface="Canva Sans"/>
                <a:cs typeface="Canva Sans"/>
                <a:sym typeface="Canva Sans"/>
              </a:rPr>
              <a:t>mer</a:t>
            </a:r>
            <a:r>
              <a:rPr lang="en-US" sz="2700">
                <a:solidFill>
                  <a:srgbClr val="000000"/>
                </a:solidFill>
                <a:latin typeface="Canva Sans"/>
                <a:ea typeface="Canva Sans"/>
                <a:cs typeface="Canva Sans"/>
                <a:sym typeface="Canva Sans"/>
              </a:rPr>
              <a:t>)​</a:t>
            </a:r>
          </a:p>
        </p:txBody>
      </p:sp>
      <p:sp>
        <p:nvSpPr>
          <p:cNvPr id="10" name="TextBox 10"/>
          <p:cNvSpPr txBox="1"/>
          <p:nvPr/>
        </p:nvSpPr>
        <p:spPr>
          <a:xfrm>
            <a:off x="164294" y="7243220"/>
            <a:ext cx="2894635" cy="438150"/>
          </a:xfrm>
          <a:prstGeom prst="rect">
            <a:avLst/>
          </a:prstGeom>
        </p:spPr>
        <p:txBody>
          <a:bodyPr lIns="0" tIns="0" rIns="0" bIns="0" rtlCol="0" anchor="t">
            <a:spAutoFit/>
          </a:bodyPr>
          <a:lstStyle/>
          <a:p>
            <a:pPr algn="l">
              <a:lnSpc>
                <a:spcPts val="3599"/>
              </a:lnSpc>
              <a:spcBef>
                <a:spcPct val="0"/>
              </a:spcBef>
            </a:pPr>
            <a:r>
              <a:rPr lang="en-US" sz="2999" b="1">
                <a:solidFill>
                  <a:srgbClr val="000000"/>
                </a:solidFill>
                <a:latin typeface="Canva Sans Bold"/>
                <a:ea typeface="Canva Sans Bold"/>
                <a:cs typeface="Canva Sans Bold"/>
                <a:sym typeface="Canva Sans Bold"/>
              </a:rPr>
              <a:t>OBSERVATION</a:t>
            </a:r>
          </a:p>
        </p:txBody>
      </p:sp>
      <p:sp>
        <p:nvSpPr>
          <p:cNvPr id="11" name="AutoShape 11"/>
          <p:cNvSpPr/>
          <p:nvPr/>
        </p:nvSpPr>
        <p:spPr>
          <a:xfrm>
            <a:off x="4226388" y="8333832"/>
            <a:ext cx="5456272"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2" name="TextBox 12"/>
          <p:cNvSpPr txBox="1"/>
          <p:nvPr/>
        </p:nvSpPr>
        <p:spPr>
          <a:xfrm>
            <a:off x="9899482" y="7671845"/>
            <a:ext cx="7979613" cy="828675"/>
          </a:xfrm>
          <a:prstGeom prst="rect">
            <a:avLst/>
          </a:prstGeom>
        </p:spPr>
        <p:txBody>
          <a:bodyPr lIns="0" tIns="0" rIns="0" bIns="0" rtlCol="0" anchor="t">
            <a:spAutoFit/>
          </a:bodyPr>
          <a:lstStyle/>
          <a:p>
            <a:pPr algn="l">
              <a:lnSpc>
                <a:spcPts val="3240"/>
              </a:lnSpc>
              <a:spcBef>
                <a:spcPct val="0"/>
              </a:spcBef>
            </a:pPr>
            <a:r>
              <a:rPr lang="en-US" sz="2700">
                <a:solidFill>
                  <a:srgbClr val="000000"/>
                </a:solidFill>
                <a:latin typeface="Canva Sans"/>
                <a:ea typeface="Canva Sans"/>
                <a:cs typeface="Canva Sans"/>
                <a:sym typeface="Canva Sans"/>
              </a:rPr>
              <a:t>Hyberbolic distances better preserve the hierarchical structure of evolutionary distances</a:t>
            </a:r>
          </a:p>
        </p:txBody>
      </p:sp>
      <p:sp>
        <p:nvSpPr>
          <p:cNvPr id="13" name="AutoShape 13"/>
          <p:cNvSpPr/>
          <p:nvPr/>
        </p:nvSpPr>
        <p:spPr>
          <a:xfrm>
            <a:off x="5830075" y="9438732"/>
            <a:ext cx="3852585" cy="0"/>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4" name="TextBox 14"/>
          <p:cNvSpPr txBox="1"/>
          <p:nvPr/>
        </p:nvSpPr>
        <p:spPr>
          <a:xfrm>
            <a:off x="9899482" y="8814845"/>
            <a:ext cx="8224224" cy="1238250"/>
          </a:xfrm>
          <a:prstGeom prst="rect">
            <a:avLst/>
          </a:prstGeom>
        </p:spPr>
        <p:txBody>
          <a:bodyPr lIns="0" tIns="0" rIns="0" bIns="0" rtlCol="0" anchor="t">
            <a:spAutoFit/>
          </a:bodyPr>
          <a:lstStyle/>
          <a:p>
            <a:pPr algn="l">
              <a:lnSpc>
                <a:spcPts val="3240"/>
              </a:lnSpc>
              <a:spcBef>
                <a:spcPct val="0"/>
              </a:spcBef>
            </a:pPr>
            <a:r>
              <a:rPr lang="en-US" sz="2700">
                <a:solidFill>
                  <a:srgbClr val="000000"/>
                </a:solidFill>
                <a:latin typeface="Canva Sans"/>
                <a:ea typeface="Canva Sans"/>
                <a:cs typeface="Canva Sans"/>
                <a:sym typeface="Canva Sans"/>
              </a:rPr>
              <a:t>Data-dependent neural embeddings are essential for accurate and scalable distance approximation on real biological data.​</a:t>
            </a:r>
          </a:p>
        </p:txBody>
      </p:sp>
      <p:graphicFrame>
        <p:nvGraphicFramePr>
          <p:cNvPr id="15" name="Table 14">
            <a:extLst>
              <a:ext uri="{FF2B5EF4-FFF2-40B4-BE49-F238E27FC236}">
                <a16:creationId xmlns:a16="http://schemas.microsoft.com/office/drawing/2014/main" id="{06751C6B-BD5C-C7E0-6807-BF70E3BD4416}"/>
              </a:ext>
            </a:extLst>
          </p:cNvPr>
          <p:cNvGraphicFramePr>
            <a:graphicFrameLocks noGrp="1"/>
          </p:cNvGraphicFramePr>
          <p:nvPr>
            <p:extLst>
              <p:ext uri="{D42A27DB-BD31-4B8C-83A1-F6EECF244321}">
                <p14:modId xmlns:p14="http://schemas.microsoft.com/office/powerpoint/2010/main" val="2216874830"/>
              </p:ext>
            </p:extLst>
          </p:nvPr>
        </p:nvGraphicFramePr>
        <p:xfrm>
          <a:off x="457200" y="2568323"/>
          <a:ext cx="17297400" cy="4334036"/>
        </p:xfrm>
        <a:graphic>
          <a:graphicData uri="http://schemas.openxmlformats.org/drawingml/2006/table">
            <a:tbl>
              <a:tblPr/>
              <a:tblGrid>
                <a:gridCol w="4324350">
                  <a:extLst>
                    <a:ext uri="{9D8B030D-6E8A-4147-A177-3AD203B41FA5}">
                      <a16:colId xmlns:a16="http://schemas.microsoft.com/office/drawing/2014/main" val="913051646"/>
                    </a:ext>
                  </a:extLst>
                </a:gridCol>
                <a:gridCol w="4324350">
                  <a:extLst>
                    <a:ext uri="{9D8B030D-6E8A-4147-A177-3AD203B41FA5}">
                      <a16:colId xmlns:a16="http://schemas.microsoft.com/office/drawing/2014/main" val="1291221729"/>
                    </a:ext>
                  </a:extLst>
                </a:gridCol>
                <a:gridCol w="4324350">
                  <a:extLst>
                    <a:ext uri="{9D8B030D-6E8A-4147-A177-3AD203B41FA5}">
                      <a16:colId xmlns:a16="http://schemas.microsoft.com/office/drawing/2014/main" val="3611709544"/>
                    </a:ext>
                  </a:extLst>
                </a:gridCol>
                <a:gridCol w="4324350">
                  <a:extLst>
                    <a:ext uri="{9D8B030D-6E8A-4147-A177-3AD203B41FA5}">
                      <a16:colId xmlns:a16="http://schemas.microsoft.com/office/drawing/2014/main" val="2562013455"/>
                    </a:ext>
                  </a:extLst>
                </a:gridCol>
              </a:tblGrid>
              <a:tr h="978653">
                <a:tc>
                  <a:txBody>
                    <a:bodyPr/>
                    <a:lstStyle/>
                    <a:p>
                      <a:pPr>
                        <a:buNone/>
                      </a:pPr>
                      <a:r>
                        <a:rPr lang="en-IN" b="1">
                          <a:effectLst/>
                        </a:rPr>
                        <a:t>Dataset​</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b="1">
                          <a:effectLst/>
                        </a:rPr>
                        <a:t>Best NeuroSEED (Learned)​</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b="1">
                          <a:effectLst/>
                        </a:rPr>
                        <a:t>Best k-mer​</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b="1">
                          <a:effectLst/>
                        </a:rPr>
                        <a:t>Improvement​</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52044440"/>
                  </a:ext>
                </a:extLst>
              </a:tr>
              <a:tr h="978653">
                <a:tc>
                  <a:txBody>
                    <a:bodyPr/>
                    <a:lstStyle/>
                    <a:p>
                      <a:pPr>
                        <a:buNone/>
                      </a:pPr>
                      <a:r>
                        <a:rPr lang="en-IN">
                          <a:effectLst/>
                        </a:rPr>
                        <a:t>Qiita​</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CNN + Hyperbolic → 0.0335​</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k5 + Cosine → 0.1231​</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3.7× better​</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39453979"/>
                  </a:ext>
                </a:extLst>
              </a:tr>
              <a:tr h="978653">
                <a:tc>
                  <a:txBody>
                    <a:bodyPr/>
                    <a:lstStyle/>
                    <a:p>
                      <a:pPr>
                        <a:buNone/>
                      </a:pPr>
                      <a:r>
                        <a:rPr lang="en-IN">
                          <a:effectLst/>
                        </a:rPr>
                        <a:t>RT988​</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Transformer + Cosine → 0.0256​</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k4 + Cosine → 0.1150​</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4.5× better​</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52358518"/>
                  </a:ext>
                </a:extLst>
              </a:tr>
              <a:tr h="1398077">
                <a:tc>
                  <a:txBody>
                    <a:bodyPr/>
                    <a:lstStyle/>
                    <a:p>
                      <a:pPr>
                        <a:buNone/>
                      </a:pPr>
                      <a:r>
                        <a:rPr lang="en-IN">
                          <a:effectLst/>
                        </a:rPr>
                        <a:t>Greengenes​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Transformer + Hyperbolic → 0.0756​</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k2 + Hyperbolic → 0.3283​</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4.3× better​</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2108257"/>
                  </a:ext>
                </a:extLst>
              </a:tr>
            </a:tbl>
          </a:graphicData>
        </a:graphic>
      </p:graphicFrame>
      <p:sp>
        <p:nvSpPr>
          <p:cNvPr id="16" name="Rectangle 1">
            <a:extLst>
              <a:ext uri="{FF2B5EF4-FFF2-40B4-BE49-F238E27FC236}">
                <a16:creationId xmlns:a16="http://schemas.microsoft.com/office/drawing/2014/main" id="{98CABD66-6C83-937F-3280-4558D0F306F9}"/>
              </a:ext>
            </a:extLst>
          </p:cNvPr>
          <p:cNvSpPr>
            <a:spLocks noChangeArrowheads="1"/>
          </p:cNvSpPr>
          <p:nvPr/>
        </p:nvSpPr>
        <p:spPr bwMode="auto">
          <a:xfrm>
            <a:off x="457199" y="2446337"/>
            <a:ext cx="2675466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animBg="1"/>
      <p:bldP spid="12" grpId="0"/>
      <p:bldP spid="13" grpId="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732064" y="228465"/>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90" y="544513"/>
            <a:ext cx="18599582" cy="838819"/>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EXPERIMENT DETAILS: EDIT DISTANCE APPROXIMATION</a:t>
            </a:r>
          </a:p>
        </p:txBody>
      </p:sp>
      <p:sp>
        <p:nvSpPr>
          <p:cNvPr id="7" name="TextBox 7"/>
          <p:cNvSpPr txBox="1"/>
          <p:nvPr/>
        </p:nvSpPr>
        <p:spPr>
          <a:xfrm>
            <a:off x="299357" y="1965676"/>
            <a:ext cx="11470019" cy="600075"/>
          </a:xfrm>
          <a:prstGeom prst="rect">
            <a:avLst/>
          </a:prstGeom>
        </p:spPr>
        <p:txBody>
          <a:bodyPr lIns="0" tIns="0" rIns="0" bIns="0" rtlCol="0" anchor="t">
            <a:spAutoFit/>
          </a:bodyPr>
          <a:lstStyle/>
          <a:p>
            <a:pPr algn="ctr">
              <a:lnSpc>
                <a:spcPts val="4799"/>
              </a:lnSpc>
              <a:spcBef>
                <a:spcPct val="0"/>
              </a:spcBef>
            </a:pPr>
            <a:r>
              <a:rPr lang="en-US" sz="3999" b="1">
                <a:solidFill>
                  <a:srgbClr val="000000"/>
                </a:solidFill>
                <a:latin typeface="Canva Sans Bold"/>
                <a:ea typeface="Canva Sans Bold"/>
                <a:cs typeface="Canva Sans Bold"/>
                <a:sym typeface="Canva Sans Bold"/>
              </a:rPr>
              <a:t>Main Results: Test MAPE on Synthetic Dataset</a:t>
            </a:r>
          </a:p>
        </p:txBody>
      </p:sp>
      <p:sp>
        <p:nvSpPr>
          <p:cNvPr id="8" name="TextBox 8"/>
          <p:cNvSpPr txBox="1"/>
          <p:nvPr/>
        </p:nvSpPr>
        <p:spPr>
          <a:xfrm>
            <a:off x="8579623" y="3986204"/>
            <a:ext cx="8422502" cy="1371600"/>
          </a:xfrm>
          <a:prstGeom prst="rect">
            <a:avLst/>
          </a:prstGeom>
        </p:spPr>
        <p:txBody>
          <a:bodyPr lIns="0" tIns="0" rIns="0" bIns="0" rtlCol="0" anchor="t">
            <a:spAutoFit/>
          </a:bodyPr>
          <a:lstStyle/>
          <a:p>
            <a:pPr algn="l">
              <a:lnSpc>
                <a:spcPts val="3600"/>
              </a:lnSpc>
              <a:spcBef>
                <a:spcPct val="0"/>
              </a:spcBef>
            </a:pPr>
            <a:r>
              <a:rPr lang="en-US" sz="3000">
                <a:solidFill>
                  <a:srgbClr val="000000"/>
                </a:solidFill>
                <a:latin typeface="Canva Sans"/>
                <a:ea typeface="Canva Sans"/>
                <a:cs typeface="Canva Sans"/>
                <a:sym typeface="Canva Sans"/>
              </a:rPr>
              <a:t>On synthetic data, the best k-mer baseline is almost as accurate as the best neural model (CNN + Cosine)</a:t>
            </a:r>
          </a:p>
        </p:txBody>
      </p:sp>
      <p:sp>
        <p:nvSpPr>
          <p:cNvPr id="9" name="TextBox 9"/>
          <p:cNvSpPr txBox="1"/>
          <p:nvPr/>
        </p:nvSpPr>
        <p:spPr>
          <a:xfrm>
            <a:off x="8579623" y="3548054"/>
            <a:ext cx="2894635" cy="438150"/>
          </a:xfrm>
          <a:prstGeom prst="rect">
            <a:avLst/>
          </a:prstGeom>
        </p:spPr>
        <p:txBody>
          <a:bodyPr lIns="0" tIns="0" rIns="0" bIns="0" rtlCol="0" anchor="t">
            <a:spAutoFit/>
          </a:bodyPr>
          <a:lstStyle/>
          <a:p>
            <a:pPr algn="l">
              <a:lnSpc>
                <a:spcPts val="3599"/>
              </a:lnSpc>
              <a:spcBef>
                <a:spcPct val="0"/>
              </a:spcBef>
            </a:pPr>
            <a:r>
              <a:rPr lang="en-US" sz="2999" b="1">
                <a:solidFill>
                  <a:srgbClr val="000000"/>
                </a:solidFill>
                <a:latin typeface="Canva Sans Bold"/>
                <a:ea typeface="Canva Sans Bold"/>
                <a:cs typeface="Canva Sans Bold"/>
                <a:sym typeface="Canva Sans Bold"/>
              </a:rPr>
              <a:t>OBSERVATION</a:t>
            </a:r>
          </a:p>
        </p:txBody>
      </p:sp>
      <p:sp>
        <p:nvSpPr>
          <p:cNvPr id="10" name="AutoShape 10"/>
          <p:cNvSpPr/>
          <p:nvPr/>
        </p:nvSpPr>
        <p:spPr>
          <a:xfrm flipH="1">
            <a:off x="12757536" y="5448291"/>
            <a:ext cx="0" cy="745809"/>
          </a:xfrm>
          <a:prstGeom prst="line">
            <a:avLst/>
          </a:prstGeom>
          <a:ln w="66675" cap="flat">
            <a:solidFill>
              <a:srgbClr val="5E7B97"/>
            </a:solidFill>
            <a:prstDash val="solid"/>
            <a:headEnd type="none" w="sm" len="sm"/>
            <a:tailEnd type="triangle" w="lg" len="med"/>
          </a:ln>
        </p:spPr>
        <p:txBody>
          <a:bodyPr/>
          <a:lstStyle/>
          <a:p>
            <a:endParaRPr lang="en-IN"/>
          </a:p>
        </p:txBody>
      </p:sp>
      <p:sp>
        <p:nvSpPr>
          <p:cNvPr id="11" name="TextBox 11"/>
          <p:cNvSpPr txBox="1"/>
          <p:nvPr/>
        </p:nvSpPr>
        <p:spPr>
          <a:xfrm>
            <a:off x="8579623" y="6275063"/>
            <a:ext cx="8422502" cy="1238250"/>
          </a:xfrm>
          <a:prstGeom prst="rect">
            <a:avLst/>
          </a:prstGeom>
        </p:spPr>
        <p:txBody>
          <a:bodyPr lIns="0" tIns="0" rIns="0" bIns="0" rtlCol="0" anchor="t">
            <a:spAutoFit/>
          </a:bodyPr>
          <a:lstStyle/>
          <a:p>
            <a:pPr algn="l">
              <a:lnSpc>
                <a:spcPts val="3240"/>
              </a:lnSpc>
              <a:spcBef>
                <a:spcPct val="0"/>
              </a:spcBef>
            </a:pPr>
            <a:r>
              <a:rPr lang="en-US" sz="2700">
                <a:solidFill>
                  <a:srgbClr val="000000"/>
                </a:solidFill>
                <a:latin typeface="Canva Sans"/>
                <a:ea typeface="Canva Sans"/>
                <a:cs typeface="Canva Sans"/>
                <a:sym typeface="Canva Sans"/>
              </a:rPr>
              <a:t>Depedence on real biological data and exploitation of the low dimensional manifold that characterises it is essential for the accuracy of NeuroSEED</a:t>
            </a:r>
          </a:p>
        </p:txBody>
      </p:sp>
      <p:graphicFrame>
        <p:nvGraphicFramePr>
          <p:cNvPr id="12" name="Table 11">
            <a:extLst>
              <a:ext uri="{FF2B5EF4-FFF2-40B4-BE49-F238E27FC236}">
                <a16:creationId xmlns:a16="http://schemas.microsoft.com/office/drawing/2014/main" id="{DACF06D8-D29C-BEF9-8610-96DD81AA3331}"/>
              </a:ext>
            </a:extLst>
          </p:cNvPr>
          <p:cNvGraphicFramePr>
            <a:graphicFrameLocks noGrp="1"/>
          </p:cNvGraphicFramePr>
          <p:nvPr>
            <p:extLst>
              <p:ext uri="{D42A27DB-BD31-4B8C-83A1-F6EECF244321}">
                <p14:modId xmlns:p14="http://schemas.microsoft.com/office/powerpoint/2010/main" val="2890079830"/>
              </p:ext>
            </p:extLst>
          </p:nvPr>
        </p:nvGraphicFramePr>
        <p:xfrm>
          <a:off x="533400" y="3390900"/>
          <a:ext cx="7315197" cy="4255215"/>
        </p:xfrm>
        <a:graphic>
          <a:graphicData uri="http://schemas.openxmlformats.org/drawingml/2006/table">
            <a:tbl>
              <a:tblPr/>
              <a:tblGrid>
                <a:gridCol w="2438399">
                  <a:extLst>
                    <a:ext uri="{9D8B030D-6E8A-4147-A177-3AD203B41FA5}">
                      <a16:colId xmlns:a16="http://schemas.microsoft.com/office/drawing/2014/main" val="2310300324"/>
                    </a:ext>
                  </a:extLst>
                </a:gridCol>
                <a:gridCol w="2438399">
                  <a:extLst>
                    <a:ext uri="{9D8B030D-6E8A-4147-A177-3AD203B41FA5}">
                      <a16:colId xmlns:a16="http://schemas.microsoft.com/office/drawing/2014/main" val="1426769743"/>
                    </a:ext>
                  </a:extLst>
                </a:gridCol>
                <a:gridCol w="2438399">
                  <a:extLst>
                    <a:ext uri="{9D8B030D-6E8A-4147-A177-3AD203B41FA5}">
                      <a16:colId xmlns:a16="http://schemas.microsoft.com/office/drawing/2014/main" val="574331876"/>
                    </a:ext>
                  </a:extLst>
                </a:gridCol>
              </a:tblGrid>
              <a:tr h="851043">
                <a:tc>
                  <a:txBody>
                    <a:bodyPr/>
                    <a:lstStyle/>
                    <a:p>
                      <a:pPr>
                        <a:buNone/>
                      </a:pPr>
                      <a:r>
                        <a:rPr lang="en-IN" b="1">
                          <a:effectLst/>
                        </a:rPr>
                        <a:t>Method​</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b="1">
                          <a:effectLst/>
                        </a:rPr>
                        <a:t>Best Geometry​</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b="1">
                          <a:effectLst/>
                        </a:rPr>
                        <a:t>Test MAPE​</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09378253"/>
                  </a:ext>
                </a:extLst>
              </a:tr>
              <a:tr h="851043">
                <a:tc>
                  <a:txBody>
                    <a:bodyPr/>
                    <a:lstStyle/>
                    <a:p>
                      <a:pPr>
                        <a:buNone/>
                      </a:pPr>
                      <a:r>
                        <a:rPr lang="en-IN">
                          <a:effectLst/>
                        </a:rPr>
                        <a:t>Linear​</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Cosine​</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0.2284​</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73584976"/>
                  </a:ext>
                </a:extLst>
              </a:tr>
              <a:tr h="851043">
                <a:tc>
                  <a:txBody>
                    <a:bodyPr/>
                    <a:lstStyle/>
                    <a:p>
                      <a:pPr>
                        <a:buNone/>
                      </a:pPr>
                      <a:r>
                        <a:rPr lang="en-IN">
                          <a:effectLst/>
                        </a:rPr>
                        <a:t>CNN​</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Cosine​</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b="1">
                          <a:effectLst/>
                        </a:rPr>
                        <a:t>0.1359​</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55775406"/>
                  </a:ext>
                </a:extLst>
              </a:tr>
              <a:tr h="851043">
                <a:tc>
                  <a:txBody>
                    <a:bodyPr/>
                    <a:lstStyle/>
                    <a:p>
                      <a:pPr>
                        <a:buNone/>
                      </a:pPr>
                      <a:r>
                        <a:rPr lang="en-IN">
                          <a:effectLst/>
                        </a:rPr>
                        <a:t>Transformer​</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Cosine​</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0.1723​</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82368357"/>
                  </a:ext>
                </a:extLst>
              </a:tr>
              <a:tr h="851043">
                <a:tc>
                  <a:txBody>
                    <a:bodyPr/>
                    <a:lstStyle/>
                    <a:p>
                      <a:pPr>
                        <a:buNone/>
                      </a:pPr>
                      <a:r>
                        <a:rPr lang="en-IN">
                          <a:effectLst/>
                        </a:rPr>
                        <a:t>k-</a:t>
                      </a:r>
                      <a:r>
                        <a:rPr lang="en-IN" err="1">
                          <a:effectLst/>
                        </a:rPr>
                        <a:t>mer</a:t>
                      </a:r>
                      <a:r>
                        <a:rPr lang="en-IN">
                          <a:effectLst/>
                        </a:rPr>
                        <a:t> baseline​</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a:effectLst/>
                        </a:rPr>
                        <a:t>Cosine (k=4)​</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buNone/>
                      </a:pPr>
                      <a:r>
                        <a:rPr lang="en-IN" b="1">
                          <a:effectLst/>
                        </a:rPr>
                        <a:t>0.1370​</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75366350"/>
                  </a:ext>
                </a:extLst>
              </a:tr>
            </a:tbl>
          </a:graphicData>
        </a:graphic>
      </p:graphicFrame>
      <p:sp>
        <p:nvSpPr>
          <p:cNvPr id="13" name="Rectangle 1">
            <a:extLst>
              <a:ext uri="{FF2B5EF4-FFF2-40B4-BE49-F238E27FC236}">
                <a16:creationId xmlns:a16="http://schemas.microsoft.com/office/drawing/2014/main" id="{0587515E-5302-6070-9016-D42FB9E1FEA6}"/>
              </a:ext>
            </a:extLst>
          </p:cNvPr>
          <p:cNvSpPr>
            <a:spLocks noChangeArrowheads="1"/>
          </p:cNvSpPr>
          <p:nvPr/>
        </p:nvSpPr>
        <p:spPr bwMode="auto">
          <a:xfrm>
            <a:off x="457200" y="2870199"/>
            <a:ext cx="1625599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457200" y="284401"/>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418889" y="555368"/>
            <a:ext cx="16872055" cy="838819"/>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EXPERIMENT DETAILS – CLOSEST STRING RETRIEVAL</a:t>
            </a:r>
          </a:p>
        </p:txBody>
      </p:sp>
      <p:sp>
        <p:nvSpPr>
          <p:cNvPr id="6" name="TextBox 6"/>
          <p:cNvSpPr txBox="1"/>
          <p:nvPr/>
        </p:nvSpPr>
        <p:spPr>
          <a:xfrm>
            <a:off x="52841" y="1782837"/>
            <a:ext cx="2262315" cy="461665"/>
          </a:xfrm>
          <a:prstGeom prst="rect">
            <a:avLst/>
          </a:prstGeom>
        </p:spPr>
        <p:txBody>
          <a:bodyPr wrap="square"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Objective:</a:t>
            </a:r>
          </a:p>
        </p:txBody>
      </p:sp>
      <p:sp>
        <p:nvSpPr>
          <p:cNvPr id="7" name="TextBox 7"/>
          <p:cNvSpPr txBox="1"/>
          <p:nvPr/>
        </p:nvSpPr>
        <p:spPr>
          <a:xfrm>
            <a:off x="488634" y="2255359"/>
            <a:ext cx="17799366" cy="828675"/>
          </a:xfrm>
          <a:prstGeom prst="rect">
            <a:avLst/>
          </a:prstGeom>
        </p:spPr>
        <p:txBody>
          <a:bodyPr lIns="0" tIns="0" rIns="0" bIns="0" rtlCol="0" anchor="t">
            <a:spAutoFit/>
          </a:bodyPr>
          <a:lstStyle/>
          <a:p>
            <a:pPr algn="l">
              <a:lnSpc>
                <a:spcPts val="3240"/>
              </a:lnSpc>
            </a:pPr>
            <a:r>
              <a:rPr lang="en-US" sz="2700">
                <a:solidFill>
                  <a:srgbClr val="000000"/>
                </a:solidFill>
                <a:latin typeface="Canva Sans"/>
                <a:ea typeface="Canva Sans"/>
                <a:cs typeface="Canva Sans"/>
                <a:sym typeface="Canva Sans"/>
              </a:rPr>
              <a:t>Given a query sequence R and a references set of sequences S, find the sequence in set S that is most similar to sequence R</a:t>
            </a:r>
          </a:p>
        </p:txBody>
      </p:sp>
      <p:sp>
        <p:nvSpPr>
          <p:cNvPr id="8" name="TextBox 8"/>
          <p:cNvSpPr txBox="1"/>
          <p:nvPr/>
        </p:nvSpPr>
        <p:spPr>
          <a:xfrm>
            <a:off x="77687" y="3214607"/>
            <a:ext cx="2674410" cy="503279"/>
          </a:xfrm>
          <a:prstGeom prst="rect">
            <a:avLst/>
          </a:prstGeom>
        </p:spPr>
        <p:txBody>
          <a:bodyPr wrap="square" lIns="0" tIns="0" rIns="0" bIns="0" rtlCol="0" anchor="t">
            <a:spAutoFit/>
          </a:bodyPr>
          <a:lstStyle/>
          <a:p>
            <a:pPr algn="ctr">
              <a:lnSpc>
                <a:spcPts val="4200"/>
              </a:lnSpc>
              <a:spcBef>
                <a:spcPct val="0"/>
              </a:spcBef>
            </a:pPr>
            <a:r>
              <a:rPr lang="en-US" sz="3000" b="1">
                <a:solidFill>
                  <a:srgbClr val="000000"/>
                </a:solidFill>
                <a:latin typeface="Canva Sans Bold"/>
                <a:ea typeface="Canva Sans Bold"/>
                <a:cs typeface="Canva Sans Bold"/>
                <a:sym typeface="Canva Sans Bold"/>
              </a:rPr>
              <a:t>Application:</a:t>
            </a:r>
          </a:p>
        </p:txBody>
      </p:sp>
      <p:sp>
        <p:nvSpPr>
          <p:cNvPr id="9" name="TextBox 9"/>
          <p:cNvSpPr txBox="1"/>
          <p:nvPr/>
        </p:nvSpPr>
        <p:spPr>
          <a:xfrm>
            <a:off x="488634" y="3671807"/>
            <a:ext cx="16732566" cy="454868"/>
          </a:xfrm>
          <a:prstGeom prst="rect">
            <a:avLst/>
          </a:prstGeom>
        </p:spPr>
        <p:txBody>
          <a:bodyPr wrap="square" lIns="0" tIns="0" rIns="0" bIns="0" rtlCol="0" anchor="t">
            <a:spAutoFit/>
          </a:bodyPr>
          <a:lstStyle/>
          <a:p>
            <a:pPr algn="ctr">
              <a:lnSpc>
                <a:spcPts val="3779"/>
              </a:lnSpc>
              <a:spcBef>
                <a:spcPct val="0"/>
              </a:spcBef>
            </a:pPr>
            <a:r>
              <a:rPr lang="en-US" sz="2700">
                <a:solidFill>
                  <a:srgbClr val="000000"/>
                </a:solidFill>
                <a:latin typeface="Canva Sans"/>
                <a:ea typeface="Canva Sans"/>
                <a:cs typeface="Canva Sans"/>
                <a:sym typeface="Canva Sans"/>
              </a:rPr>
              <a:t>Identify the culturable organism that is evolutionarily closest to an unculturable organism of interest</a:t>
            </a:r>
          </a:p>
        </p:txBody>
      </p:sp>
      <p:sp>
        <p:nvSpPr>
          <p:cNvPr id="10" name="TextBox 10"/>
          <p:cNvSpPr txBox="1"/>
          <p:nvPr/>
        </p:nvSpPr>
        <p:spPr>
          <a:xfrm>
            <a:off x="81643" y="4247893"/>
            <a:ext cx="3630516" cy="514350"/>
          </a:xfrm>
          <a:prstGeom prst="rect">
            <a:avLst/>
          </a:prstGeom>
        </p:spPr>
        <p:txBody>
          <a:bodyPr wrap="square" lIns="0" tIns="0" rIns="0" bIns="0" rtlCol="0" anchor="t">
            <a:spAutoFit/>
          </a:bodyPr>
          <a:lstStyle/>
          <a:p>
            <a:pPr algn="ctr">
              <a:lnSpc>
                <a:spcPts val="4200"/>
              </a:lnSpc>
              <a:spcBef>
                <a:spcPct val="0"/>
              </a:spcBef>
            </a:pPr>
            <a:r>
              <a:rPr lang="en-US" sz="3000" b="1">
                <a:solidFill>
                  <a:srgbClr val="000000"/>
                </a:solidFill>
                <a:latin typeface="Canva Sans Bold"/>
                <a:ea typeface="Canva Sans Bold"/>
                <a:cs typeface="Canva Sans Bold"/>
                <a:sym typeface="Canva Sans Bold"/>
              </a:rPr>
              <a:t>Dataset Structure:​</a:t>
            </a:r>
          </a:p>
        </p:txBody>
      </p:sp>
      <p:sp>
        <p:nvSpPr>
          <p:cNvPr id="11" name="TextBox 11"/>
          <p:cNvSpPr txBox="1"/>
          <p:nvPr/>
        </p:nvSpPr>
        <p:spPr>
          <a:xfrm>
            <a:off x="482118" y="4760201"/>
            <a:ext cx="16281881" cy="452624"/>
          </a:xfrm>
          <a:prstGeom prst="rect">
            <a:avLst/>
          </a:prstGeom>
        </p:spPr>
        <p:txBody>
          <a:bodyPr wrap="square" lIns="0" tIns="0" rIns="0" bIns="0" rtlCol="0" anchor="t">
            <a:spAutoFit/>
          </a:bodyPr>
          <a:lstStyle/>
          <a:p>
            <a:pPr algn="ctr">
              <a:lnSpc>
                <a:spcPts val="3779"/>
              </a:lnSpc>
              <a:spcBef>
                <a:spcPct val="0"/>
              </a:spcBef>
            </a:pPr>
            <a:r>
              <a:rPr lang="en-US" sz="2700" b="1">
                <a:solidFill>
                  <a:srgbClr val="000000"/>
                </a:solidFill>
                <a:latin typeface="Canva Sans Bold"/>
                <a:ea typeface="Canva Sans Bold"/>
                <a:cs typeface="Canva Sans Bold"/>
                <a:sym typeface="Canva Sans Bold"/>
              </a:rPr>
              <a:t>References (|S| = 10,000):</a:t>
            </a:r>
            <a:r>
              <a:rPr lang="en-US" sz="2700">
                <a:solidFill>
                  <a:srgbClr val="000000"/>
                </a:solidFill>
                <a:latin typeface="Canva Sans"/>
                <a:ea typeface="Canva Sans"/>
                <a:cs typeface="Canva Sans"/>
                <a:sym typeface="Canva Sans"/>
              </a:rPr>
              <a:t> Culturable 16S rRNA sequences (BioProject33175 + “culture collection”)​</a:t>
            </a:r>
          </a:p>
        </p:txBody>
      </p:sp>
      <p:sp>
        <p:nvSpPr>
          <p:cNvPr id="12" name="TextBox 12"/>
          <p:cNvSpPr txBox="1"/>
          <p:nvPr/>
        </p:nvSpPr>
        <p:spPr>
          <a:xfrm>
            <a:off x="482119" y="5244071"/>
            <a:ext cx="17120081" cy="410369"/>
          </a:xfrm>
          <a:prstGeom prst="rect">
            <a:avLst/>
          </a:prstGeom>
        </p:spPr>
        <p:txBody>
          <a:bodyPr wrap="square" lIns="0" tIns="0" rIns="0" bIns="0" rtlCol="0" anchor="t">
            <a:spAutoFit/>
          </a:bodyPr>
          <a:lstStyle/>
          <a:p>
            <a:pPr algn="l">
              <a:lnSpc>
                <a:spcPts val="3240"/>
              </a:lnSpc>
              <a:spcBef>
                <a:spcPct val="0"/>
              </a:spcBef>
            </a:pPr>
            <a:r>
              <a:rPr lang="en-US" sz="2700" b="1">
                <a:solidFill>
                  <a:srgbClr val="000000"/>
                </a:solidFill>
                <a:latin typeface="Canva Sans Bold"/>
                <a:ea typeface="Canva Sans Bold"/>
                <a:cs typeface="Canva Sans Bold"/>
                <a:sym typeface="Canva Sans Bold"/>
              </a:rPr>
              <a:t>Queries (|R| = 1,000):</a:t>
            </a:r>
            <a:r>
              <a:rPr lang="en-US" sz="2700">
                <a:solidFill>
                  <a:srgbClr val="000000"/>
                </a:solidFill>
                <a:latin typeface="Canva Sans"/>
                <a:ea typeface="Canva Sans"/>
                <a:cs typeface="Canva Sans"/>
                <a:sym typeface="Canva Sans"/>
              </a:rPr>
              <a:t> Unculturable 16S rRNA sequences (same BioProject but NOT “culture collection”)</a:t>
            </a:r>
          </a:p>
        </p:txBody>
      </p:sp>
      <p:sp>
        <p:nvSpPr>
          <p:cNvPr id="13" name="TextBox 13"/>
          <p:cNvSpPr txBox="1"/>
          <p:nvPr/>
        </p:nvSpPr>
        <p:spPr>
          <a:xfrm>
            <a:off x="514229" y="5682221"/>
            <a:ext cx="16949551" cy="1647825"/>
          </a:xfrm>
          <a:prstGeom prst="rect">
            <a:avLst/>
          </a:prstGeom>
        </p:spPr>
        <p:txBody>
          <a:bodyPr lIns="0" tIns="0" rIns="0" bIns="0" rtlCol="0" anchor="t">
            <a:spAutoFit/>
          </a:bodyPr>
          <a:lstStyle/>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All sequences cleaned, deduplicated, filtered (length ≥ 1200 bp),truncated/padded to fixed length 1500 bp​</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Ground-truth closest reference computed using exact </a:t>
            </a:r>
            <a:r>
              <a:rPr lang="en-US" sz="2700" err="1">
                <a:solidFill>
                  <a:srgbClr val="000000"/>
                </a:solidFill>
                <a:latin typeface="Canva Sans"/>
                <a:ea typeface="Canva Sans"/>
                <a:cs typeface="Canva Sans"/>
                <a:sym typeface="Canva Sans"/>
              </a:rPr>
              <a:t>Levenshtein</a:t>
            </a:r>
            <a:r>
              <a:rPr lang="en-US" sz="2700">
                <a:solidFill>
                  <a:srgbClr val="000000"/>
                </a:solidFill>
                <a:latin typeface="Canva Sans"/>
                <a:ea typeface="Canva Sans"/>
                <a:cs typeface="Canva Sans"/>
                <a:sym typeface="Canva Sans"/>
              </a:rPr>
              <a:t> distance</a:t>
            </a:r>
          </a:p>
          <a:p>
            <a:pPr marL="582930" lvl="1" indent="-291465" algn="l">
              <a:lnSpc>
                <a:spcPts val="3240"/>
              </a:lnSpc>
              <a:buFont typeface="Arial"/>
              <a:buChar char="•"/>
            </a:pPr>
            <a:r>
              <a:rPr lang="en-US" sz="2700" b="1">
                <a:solidFill>
                  <a:srgbClr val="000000"/>
                </a:solidFill>
                <a:latin typeface="Canva Sans Bold"/>
                <a:ea typeface="Canva Sans Bold"/>
                <a:cs typeface="Canva Sans Bold"/>
                <a:sym typeface="Canva Sans Bold"/>
              </a:rPr>
              <a:t>Format:</a:t>
            </a:r>
            <a:r>
              <a:rPr lang="en-US" sz="2700">
                <a:solidFill>
                  <a:srgbClr val="000000"/>
                </a:solidFill>
                <a:latin typeface="Canva Sans"/>
                <a:ea typeface="Canva Sans"/>
                <a:cs typeface="Canva Sans"/>
                <a:sym typeface="Canva Sans"/>
              </a:rPr>
              <a:t> integer-encoded tensors (references, queries, and label indices)​</a:t>
            </a:r>
          </a:p>
        </p:txBody>
      </p:sp>
      <p:sp>
        <p:nvSpPr>
          <p:cNvPr id="14" name="TextBox 14"/>
          <p:cNvSpPr txBox="1"/>
          <p:nvPr/>
        </p:nvSpPr>
        <p:spPr>
          <a:xfrm>
            <a:off x="273677" y="7439901"/>
            <a:ext cx="2922806" cy="457200"/>
          </a:xfrm>
          <a:prstGeom prst="rect">
            <a:avLst/>
          </a:prstGeom>
        </p:spPr>
        <p:txBody>
          <a:bodyPr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Models Tested:</a:t>
            </a:r>
          </a:p>
        </p:txBody>
      </p:sp>
      <p:sp>
        <p:nvSpPr>
          <p:cNvPr id="15" name="TextBox 15"/>
          <p:cNvSpPr txBox="1"/>
          <p:nvPr/>
        </p:nvSpPr>
        <p:spPr>
          <a:xfrm>
            <a:off x="514229" y="7996796"/>
            <a:ext cx="17799366" cy="828675"/>
          </a:xfrm>
          <a:prstGeom prst="rect">
            <a:avLst/>
          </a:prstGeom>
        </p:spPr>
        <p:txBody>
          <a:bodyPr lIns="0" tIns="0" rIns="0" bIns="0" rtlCol="0" anchor="t">
            <a:spAutoFit/>
          </a:bodyPr>
          <a:lstStyle/>
          <a:p>
            <a:pPr algn="l">
              <a:lnSpc>
                <a:spcPts val="3240"/>
              </a:lnSpc>
              <a:spcBef>
                <a:spcPct val="0"/>
              </a:spcBef>
            </a:pPr>
            <a:r>
              <a:rPr lang="en-US" sz="2700" b="1">
                <a:solidFill>
                  <a:srgbClr val="000000"/>
                </a:solidFill>
                <a:latin typeface="Canva Sans Bold"/>
                <a:ea typeface="Canva Sans Bold"/>
                <a:cs typeface="Canva Sans Bold"/>
                <a:sym typeface="Canva Sans Bold"/>
              </a:rPr>
              <a:t>Best encoders from edit-distance task:</a:t>
            </a:r>
            <a:r>
              <a:rPr lang="en-US" sz="2700">
                <a:solidFill>
                  <a:srgbClr val="000000"/>
                </a:solidFill>
                <a:latin typeface="Canva Sans"/>
                <a:ea typeface="Canva Sans"/>
                <a:cs typeface="Canva Sans"/>
                <a:sym typeface="Canva Sans"/>
              </a:rPr>
              <a:t> CNN and Transformer (with Euclidean / Cosine / Hyperbolic geometries)​</a:t>
            </a:r>
          </a:p>
        </p:txBody>
      </p:sp>
      <p:sp>
        <p:nvSpPr>
          <p:cNvPr id="16" name="TextBox 16"/>
          <p:cNvSpPr txBox="1"/>
          <p:nvPr/>
        </p:nvSpPr>
        <p:spPr>
          <a:xfrm>
            <a:off x="418889" y="8825471"/>
            <a:ext cx="12287371" cy="410369"/>
          </a:xfrm>
          <a:prstGeom prst="rect">
            <a:avLst/>
          </a:prstGeom>
        </p:spPr>
        <p:txBody>
          <a:bodyPr wrap="square" lIns="0" tIns="0" rIns="0" bIns="0" rtlCol="0" anchor="t">
            <a:spAutoFit/>
          </a:bodyPr>
          <a:lstStyle/>
          <a:p>
            <a:pPr algn="ctr">
              <a:lnSpc>
                <a:spcPts val="3240"/>
              </a:lnSpc>
              <a:spcBef>
                <a:spcPct val="0"/>
              </a:spcBef>
            </a:pPr>
            <a:r>
              <a:rPr lang="en-US" sz="2700" b="1">
                <a:solidFill>
                  <a:srgbClr val="000000"/>
                </a:solidFill>
                <a:latin typeface="Canva Sans Bold"/>
                <a:ea typeface="Canva Sans Bold"/>
                <a:cs typeface="Canva Sans Bold"/>
                <a:sym typeface="Canva Sans Bold"/>
              </a:rPr>
              <a:t>Strong baseline:</a:t>
            </a:r>
            <a:r>
              <a:rPr lang="en-US" sz="2700">
                <a:solidFill>
                  <a:srgbClr val="000000"/>
                </a:solidFill>
                <a:latin typeface="Canva Sans"/>
                <a:ea typeface="Canva Sans"/>
                <a:cs typeface="Canva Sans"/>
                <a:sym typeface="Canva Sans"/>
              </a:rPr>
              <a:t> k-</a:t>
            </a:r>
            <a:r>
              <a:rPr lang="en-US" sz="2700" err="1">
                <a:solidFill>
                  <a:srgbClr val="000000"/>
                </a:solidFill>
                <a:latin typeface="Canva Sans"/>
                <a:ea typeface="Canva Sans"/>
                <a:cs typeface="Canva Sans"/>
                <a:sym typeface="Canva Sans"/>
              </a:rPr>
              <a:t>mer</a:t>
            </a:r>
            <a:r>
              <a:rPr lang="en-US" sz="2700">
                <a:solidFill>
                  <a:srgbClr val="000000"/>
                </a:solidFill>
                <a:latin typeface="Canva Sans"/>
                <a:ea typeface="Canva Sans"/>
                <a:cs typeface="Canva Sans"/>
                <a:sym typeface="Canva Sans"/>
              </a:rPr>
              <a:t> frequency vectors (k=6) + same distance functions</a:t>
            </a:r>
          </a:p>
        </p:txBody>
      </p:sp>
      <p:sp>
        <p:nvSpPr>
          <p:cNvPr id="17" name="TextBox 17"/>
          <p:cNvSpPr txBox="1"/>
          <p:nvPr/>
        </p:nvSpPr>
        <p:spPr>
          <a:xfrm>
            <a:off x="514229" y="9254096"/>
            <a:ext cx="16086646" cy="828675"/>
          </a:xfrm>
          <a:prstGeom prst="rect">
            <a:avLst/>
          </a:prstGeom>
        </p:spPr>
        <p:txBody>
          <a:bodyPr lIns="0" tIns="0" rIns="0" bIns="0" rtlCol="0" anchor="t">
            <a:spAutoFit/>
          </a:bodyPr>
          <a:lstStyle/>
          <a:p>
            <a:pPr algn="l">
              <a:lnSpc>
                <a:spcPts val="3240"/>
              </a:lnSpc>
              <a:spcBef>
                <a:spcPct val="0"/>
              </a:spcBef>
            </a:pPr>
            <a:r>
              <a:rPr lang="en-US" sz="2700" b="1">
                <a:solidFill>
                  <a:srgbClr val="000000"/>
                </a:solidFill>
                <a:latin typeface="Canva Sans Bold"/>
                <a:ea typeface="Canva Sans Bold"/>
                <a:cs typeface="Canva Sans Bold"/>
                <a:sym typeface="Canva Sans Bold"/>
              </a:rPr>
              <a:t>Evaluation Metric:</a:t>
            </a:r>
            <a:r>
              <a:rPr lang="en-US" sz="2700">
                <a:solidFill>
                  <a:srgbClr val="000000"/>
                </a:solidFill>
                <a:latin typeface="Canva Sans"/>
                <a:ea typeface="Canva Sans"/>
                <a:cs typeface="Canva Sans"/>
                <a:sym typeface="Canva Sans"/>
              </a:rPr>
              <a:t> Top-k Recall (fraction of queries where the true closest reference appears in the top-k retrieved results)​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5" name="Object 5"/>
          <p:cNvGraphicFramePr/>
          <p:nvPr>
            <p:extLst>
              <p:ext uri="{D42A27DB-BD31-4B8C-83A1-F6EECF244321}">
                <p14:modId xmlns:p14="http://schemas.microsoft.com/office/powerpoint/2010/main" val="891812597"/>
              </p:ext>
            </p:extLst>
          </p:nvPr>
        </p:nvGraphicFramePr>
        <p:xfrm>
          <a:off x="-152400" y="2514044"/>
          <a:ext cx="10988739" cy="6536294"/>
        </p:xfrm>
        <a:graphic>
          <a:graphicData uri="http://schemas.openxmlformats.org/presentationml/2006/ole">
            <mc:AlternateContent xmlns:mc="http://schemas.openxmlformats.org/markup-compatibility/2006">
              <mc:Choice xmlns:v="urn:schemas-microsoft-com:vml" Requires="v">
                <p:oleObj name="Worksheet" r:id="rId2" imgW="11315700" imgH="7543800" progId="Excel.Sheet.12">
                  <p:embed/>
                </p:oleObj>
              </mc:Choice>
              <mc:Fallback>
                <p:oleObj name="Worksheet" r:id="rId2" imgW="11315700" imgH="7543800" progId="Excel.Sheet.12">
                  <p:embed/>
                  <p:pic>
                    <p:nvPicPr>
                      <p:cNvPr id="5" name="Object 5"/>
                      <p:cNvPicPr/>
                      <p:nvPr/>
                    </p:nvPicPr>
                    <p:blipFill>
                      <a:blip r:embed="rId3"/>
                      <a:stretch>
                        <a:fillRect/>
                      </a:stretch>
                    </p:blipFill>
                    <p:spPr>
                      <a:xfrm>
                        <a:off x="-152400" y="2514044"/>
                        <a:ext cx="10988739" cy="6536294"/>
                      </a:xfrm>
                      <a:prstGeom prst="rect">
                        <a:avLst/>
                      </a:prstGeom>
                    </p:spPr>
                  </p:pic>
                </p:oleObj>
              </mc:Fallback>
            </mc:AlternateContent>
          </a:graphicData>
        </a:graphic>
      </p:graphicFrame>
      <p:sp>
        <p:nvSpPr>
          <p:cNvPr id="6" name="TextBox 6"/>
          <p:cNvSpPr txBox="1"/>
          <p:nvPr/>
        </p:nvSpPr>
        <p:spPr>
          <a:xfrm>
            <a:off x="685800" y="545027"/>
            <a:ext cx="16695781" cy="863600"/>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EXPERIMENT DETAILS – CLOSEST STRING RETRIEVAL</a:t>
            </a:r>
          </a:p>
        </p:txBody>
      </p:sp>
      <p:sp>
        <p:nvSpPr>
          <p:cNvPr id="7" name="TextBox 7"/>
          <p:cNvSpPr txBox="1"/>
          <p:nvPr/>
        </p:nvSpPr>
        <p:spPr>
          <a:xfrm>
            <a:off x="0" y="1952069"/>
            <a:ext cx="2237414" cy="600075"/>
          </a:xfrm>
          <a:prstGeom prst="rect">
            <a:avLst/>
          </a:prstGeom>
        </p:spPr>
        <p:txBody>
          <a:bodyPr lIns="0" tIns="0" rIns="0" bIns="0" rtlCol="0" anchor="t">
            <a:spAutoFit/>
          </a:bodyPr>
          <a:lstStyle/>
          <a:p>
            <a:pPr algn="ctr">
              <a:lnSpc>
                <a:spcPts val="4799"/>
              </a:lnSpc>
              <a:spcBef>
                <a:spcPct val="0"/>
              </a:spcBef>
            </a:pPr>
            <a:r>
              <a:rPr lang="en-US" sz="3999" b="1">
                <a:solidFill>
                  <a:srgbClr val="000000"/>
                </a:solidFill>
                <a:latin typeface="Canva Sans Bold"/>
                <a:ea typeface="Canva Sans Bold"/>
                <a:cs typeface="Canva Sans Bold"/>
                <a:sym typeface="Canva Sans Bold"/>
              </a:rPr>
              <a:t>Results</a:t>
            </a:r>
          </a:p>
        </p:txBody>
      </p:sp>
      <p:sp>
        <p:nvSpPr>
          <p:cNvPr id="8" name="TextBox 8"/>
          <p:cNvSpPr txBox="1"/>
          <p:nvPr/>
        </p:nvSpPr>
        <p:spPr>
          <a:xfrm>
            <a:off x="1600200" y="8468121"/>
            <a:ext cx="7949540" cy="349250"/>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Top-k Recall percentages for different geometries and encoders</a:t>
            </a:r>
          </a:p>
        </p:txBody>
      </p:sp>
      <p:sp>
        <p:nvSpPr>
          <p:cNvPr id="9" name="TextBox 9"/>
          <p:cNvSpPr txBox="1"/>
          <p:nvPr/>
        </p:nvSpPr>
        <p:spPr>
          <a:xfrm>
            <a:off x="11254249" y="3368031"/>
            <a:ext cx="2894635" cy="438150"/>
          </a:xfrm>
          <a:prstGeom prst="rect">
            <a:avLst/>
          </a:prstGeom>
        </p:spPr>
        <p:txBody>
          <a:bodyPr lIns="0" tIns="0" rIns="0" bIns="0" rtlCol="0" anchor="t">
            <a:spAutoFit/>
          </a:bodyPr>
          <a:lstStyle/>
          <a:p>
            <a:pPr algn="l">
              <a:lnSpc>
                <a:spcPts val="3599"/>
              </a:lnSpc>
              <a:spcBef>
                <a:spcPct val="0"/>
              </a:spcBef>
            </a:pPr>
            <a:r>
              <a:rPr lang="en-US" sz="2999" b="1">
                <a:solidFill>
                  <a:srgbClr val="000000"/>
                </a:solidFill>
                <a:latin typeface="Canva Sans Bold"/>
                <a:ea typeface="Canva Sans Bold"/>
                <a:cs typeface="Canva Sans Bold"/>
                <a:sym typeface="Canva Sans Bold"/>
              </a:rPr>
              <a:t>OBSERVATION</a:t>
            </a:r>
          </a:p>
        </p:txBody>
      </p:sp>
      <p:sp>
        <p:nvSpPr>
          <p:cNvPr id="10" name="TextBox 10"/>
          <p:cNvSpPr txBox="1"/>
          <p:nvPr/>
        </p:nvSpPr>
        <p:spPr>
          <a:xfrm>
            <a:off x="10948565" y="5622051"/>
            <a:ext cx="6674527" cy="284607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000000"/>
                </a:solidFill>
                <a:latin typeface="Canva Sans"/>
                <a:ea typeface="Canva Sans"/>
                <a:cs typeface="Canva Sans"/>
                <a:sym typeface="Canva Sans"/>
              </a:rPr>
              <a:t>This could be because sequences in the datasets used for training come from different hypervariable regions of the 16S rDNA.</a:t>
            </a:r>
          </a:p>
          <a:p>
            <a:pPr marL="582930" lvl="1" indent="-291465" algn="l">
              <a:lnSpc>
                <a:spcPts val="3779"/>
              </a:lnSpc>
              <a:buFont typeface="Arial"/>
              <a:buChar char="•"/>
            </a:pPr>
            <a:r>
              <a:rPr lang="en-US" sz="2700">
                <a:solidFill>
                  <a:srgbClr val="000000"/>
                </a:solidFill>
                <a:latin typeface="Canva Sans"/>
                <a:ea typeface="Canva Sans"/>
                <a:cs typeface="Canva Sans"/>
                <a:sym typeface="Canva Sans"/>
              </a:rPr>
              <a:t>This may have arisen as no hyperparameter tuning was done</a:t>
            </a:r>
          </a:p>
        </p:txBody>
      </p:sp>
      <p:sp>
        <p:nvSpPr>
          <p:cNvPr id="11" name="TextBox 11"/>
          <p:cNvSpPr txBox="1"/>
          <p:nvPr/>
        </p:nvSpPr>
        <p:spPr>
          <a:xfrm>
            <a:off x="11254249" y="3749031"/>
            <a:ext cx="6674527" cy="941070"/>
          </a:xfrm>
          <a:prstGeom prst="rect">
            <a:avLst/>
          </a:prstGeom>
        </p:spPr>
        <p:txBody>
          <a:bodyPr lIns="0" tIns="0" rIns="0" bIns="0" rtlCol="0" anchor="t">
            <a:spAutoFit/>
          </a:bodyPr>
          <a:lstStyle/>
          <a:p>
            <a:pPr algn="l">
              <a:lnSpc>
                <a:spcPts val="3779"/>
              </a:lnSpc>
            </a:pPr>
            <a:r>
              <a:rPr lang="en-US" sz="2700">
                <a:solidFill>
                  <a:srgbClr val="000000"/>
                </a:solidFill>
                <a:latin typeface="Canva Sans"/>
                <a:ea typeface="Canva Sans"/>
                <a:cs typeface="Canva Sans"/>
                <a:sym typeface="Canva Sans"/>
              </a:rPr>
              <a:t>k-mers are observed to be more accurate at closest string retrieval</a:t>
            </a:r>
          </a:p>
        </p:txBody>
      </p:sp>
      <p:sp>
        <p:nvSpPr>
          <p:cNvPr id="12" name="AutoShape 12"/>
          <p:cNvSpPr/>
          <p:nvPr/>
        </p:nvSpPr>
        <p:spPr>
          <a:xfrm flipH="1">
            <a:off x="14115546" y="4811746"/>
            <a:ext cx="0" cy="745809"/>
          </a:xfrm>
          <a:prstGeom prst="line">
            <a:avLst/>
          </a:prstGeom>
          <a:ln w="66675" cap="flat">
            <a:solidFill>
              <a:srgbClr val="5E7B97"/>
            </a:solidFill>
            <a:prstDash val="solid"/>
            <a:headEnd type="none" w="sm" len="sm"/>
            <a:tailEnd type="triangle" w="lg" len="med"/>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p:cNvGrpSpPr/>
        <p:nvPr/>
      </p:nvGrpSpPr>
      <p:grpSpPr>
        <a:xfrm>
          <a:off x="0" y="0"/>
          <a:ext cx="0" cy="0"/>
          <a:chOff x="0" y="0"/>
          <a:chExt cx="0" cy="0"/>
        </a:xfrm>
      </p:grpSpPr>
      <p:grpSp>
        <p:nvGrpSpPr>
          <p:cNvPr id="2" name="Group 2"/>
          <p:cNvGrpSpPr/>
          <p:nvPr/>
        </p:nvGrpSpPr>
        <p:grpSpPr>
          <a:xfrm>
            <a:off x="-514350" y="282894"/>
            <a:ext cx="20394020" cy="1491611"/>
            <a:chOff x="0" y="0"/>
            <a:chExt cx="5371264" cy="392852"/>
          </a:xfrm>
        </p:grpSpPr>
        <p:sp>
          <p:nvSpPr>
            <p:cNvPr id="3" name="Freeform 3"/>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109742" y="544513"/>
            <a:ext cx="4472657" cy="863600"/>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LIMITATIONS</a:t>
            </a:r>
          </a:p>
        </p:txBody>
      </p:sp>
      <p:sp>
        <p:nvSpPr>
          <p:cNvPr id="6" name="TextBox 6"/>
          <p:cNvSpPr txBox="1"/>
          <p:nvPr/>
        </p:nvSpPr>
        <p:spPr>
          <a:xfrm>
            <a:off x="287632" y="2205033"/>
            <a:ext cx="6869402" cy="457200"/>
          </a:xfrm>
          <a:prstGeom prst="rect">
            <a:avLst/>
          </a:prstGeom>
        </p:spPr>
        <p:txBody>
          <a:bodyPr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Dependence on Type of Sequences:</a:t>
            </a:r>
          </a:p>
        </p:txBody>
      </p:sp>
      <p:sp>
        <p:nvSpPr>
          <p:cNvPr id="7" name="TextBox 7"/>
          <p:cNvSpPr txBox="1"/>
          <p:nvPr/>
        </p:nvSpPr>
        <p:spPr>
          <a:xfrm>
            <a:off x="762000" y="2652708"/>
            <a:ext cx="16230595" cy="2466975"/>
          </a:xfrm>
          <a:prstGeom prst="rect">
            <a:avLst/>
          </a:prstGeom>
        </p:spPr>
        <p:txBody>
          <a:bodyPr lIns="0" tIns="0" rIns="0" bIns="0" rtlCol="0" anchor="t">
            <a:spAutoFit/>
          </a:bodyPr>
          <a:lstStyle/>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Sequences reads must belong to the same part of the genome. </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Use of sequences from random parts of the genome is likely to generate embeddings on a low dimensional manifold where the hierarchical relationship of evolution is combined with the relationship based on the specific position in the whole genome. This may have resulted in the observed lower accuracy of closest string retrieval using embedding in our experiment.</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This may require geometric spaces that better reflect these relations (eg: product spaces)</a:t>
            </a:r>
          </a:p>
        </p:txBody>
      </p:sp>
      <p:sp>
        <p:nvSpPr>
          <p:cNvPr id="8" name="TextBox 8"/>
          <p:cNvSpPr txBox="1"/>
          <p:nvPr/>
        </p:nvSpPr>
        <p:spPr>
          <a:xfrm>
            <a:off x="287632" y="5457825"/>
            <a:ext cx="5814982" cy="457200"/>
          </a:xfrm>
          <a:prstGeom prst="rect">
            <a:avLst/>
          </a:prstGeom>
        </p:spPr>
        <p:txBody>
          <a:bodyPr lIns="0" tIns="0" rIns="0" bIns="0" rtlCol="0" anchor="t">
            <a:spAutoFit/>
          </a:bodyPr>
          <a:lstStyle/>
          <a:p>
            <a:pPr algn="ctr">
              <a:lnSpc>
                <a:spcPts val="3600"/>
              </a:lnSpc>
              <a:spcBef>
                <a:spcPct val="0"/>
              </a:spcBef>
            </a:pPr>
            <a:r>
              <a:rPr lang="en-US" sz="3000" b="1">
                <a:solidFill>
                  <a:srgbClr val="000000"/>
                </a:solidFill>
                <a:latin typeface="Canva Sans Bold"/>
                <a:ea typeface="Canva Sans Bold"/>
                <a:cs typeface="Canva Sans Bold"/>
                <a:sym typeface="Canva Sans Bold"/>
              </a:rPr>
              <a:t>Dependence on Architecture:</a:t>
            </a:r>
          </a:p>
        </p:txBody>
      </p:sp>
      <p:sp>
        <p:nvSpPr>
          <p:cNvPr id="9" name="TextBox 9"/>
          <p:cNvSpPr txBox="1"/>
          <p:nvPr/>
        </p:nvSpPr>
        <p:spPr>
          <a:xfrm>
            <a:off x="762000" y="5905500"/>
            <a:ext cx="16230595" cy="1238250"/>
          </a:xfrm>
          <a:prstGeom prst="rect">
            <a:avLst/>
          </a:prstGeom>
        </p:spPr>
        <p:txBody>
          <a:bodyPr lIns="0" tIns="0" rIns="0" bIns="0" rtlCol="0" anchor="t">
            <a:spAutoFit/>
          </a:bodyPr>
          <a:lstStyle/>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Models used have been shown to work well for other types of sequences and tasks</a:t>
            </a:r>
          </a:p>
          <a:p>
            <a:pPr marL="582930" lvl="1" indent="-291465" algn="l">
              <a:lnSpc>
                <a:spcPts val="3240"/>
              </a:lnSpc>
              <a:buFont typeface="Arial"/>
              <a:buChar char="•"/>
            </a:pPr>
            <a:r>
              <a:rPr lang="en-US" sz="2700">
                <a:solidFill>
                  <a:srgbClr val="000000"/>
                </a:solidFill>
                <a:latin typeface="Canva Sans"/>
                <a:ea typeface="Canva Sans"/>
                <a:cs typeface="Canva Sans"/>
                <a:sym typeface="Canva Sans"/>
              </a:rPr>
              <a:t>Correct inductive biases that models should have to perform SEED are likely to be different to the ones used for other tasks and even dependent on the type of distance it tries to preserve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DF6EC"/>
        </a:solidFill>
        <a:effectLst/>
      </p:bgPr>
    </p:bg>
    <p:spTree>
      <p:nvGrpSpPr>
        <p:cNvPr id="1" name="">
          <a:extLst>
            <a:ext uri="{FF2B5EF4-FFF2-40B4-BE49-F238E27FC236}">
              <a16:creationId xmlns:a16="http://schemas.microsoft.com/office/drawing/2014/main" id="{E09ABC76-7F78-4017-7512-A89CADB6BB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4B61700-0094-2F8A-1F93-067C7BCBD6A1}"/>
              </a:ext>
            </a:extLst>
          </p:cNvPr>
          <p:cNvGrpSpPr/>
          <p:nvPr/>
        </p:nvGrpSpPr>
        <p:grpSpPr>
          <a:xfrm>
            <a:off x="-1058636" y="3045144"/>
            <a:ext cx="20394020" cy="3900075"/>
            <a:chOff x="0" y="0"/>
            <a:chExt cx="5371264" cy="392852"/>
          </a:xfrm>
        </p:grpSpPr>
        <p:sp>
          <p:nvSpPr>
            <p:cNvPr id="3" name="Freeform 3">
              <a:extLst>
                <a:ext uri="{FF2B5EF4-FFF2-40B4-BE49-F238E27FC236}">
                  <a16:creationId xmlns:a16="http://schemas.microsoft.com/office/drawing/2014/main" id="{59BA41D5-83E0-DFBF-9BC4-143002FC0420}"/>
                </a:ext>
              </a:extLst>
            </p:cNvPr>
            <p:cNvSpPr/>
            <p:nvPr/>
          </p:nvSpPr>
          <p:spPr>
            <a:xfrm>
              <a:off x="0" y="0"/>
              <a:ext cx="5371264" cy="392852"/>
            </a:xfrm>
            <a:custGeom>
              <a:avLst/>
              <a:gdLst/>
              <a:ahLst/>
              <a:cxnLst/>
              <a:rect l="l" t="t" r="r" b="b"/>
              <a:pathLst>
                <a:path w="5371264" h="392852">
                  <a:moveTo>
                    <a:pt x="0" y="0"/>
                  </a:moveTo>
                  <a:lnTo>
                    <a:pt x="5371264" y="0"/>
                  </a:lnTo>
                  <a:lnTo>
                    <a:pt x="5371264" y="392852"/>
                  </a:lnTo>
                  <a:lnTo>
                    <a:pt x="0" y="392852"/>
                  </a:lnTo>
                  <a:close/>
                </a:path>
              </a:pathLst>
            </a:custGeom>
            <a:solidFill>
              <a:srgbClr val="5E7B97"/>
            </a:solidFill>
          </p:spPr>
          <p:txBody>
            <a:bodyPr/>
            <a:lstStyle/>
            <a:p>
              <a:endParaRPr lang="en-IN"/>
            </a:p>
          </p:txBody>
        </p:sp>
        <p:sp>
          <p:nvSpPr>
            <p:cNvPr id="4" name="TextBox 4">
              <a:extLst>
                <a:ext uri="{FF2B5EF4-FFF2-40B4-BE49-F238E27FC236}">
                  <a16:creationId xmlns:a16="http://schemas.microsoft.com/office/drawing/2014/main" id="{2DBAEB4F-D091-161B-2D3F-CF7DA8E81AE0}"/>
                </a:ext>
              </a:extLst>
            </p:cNvPr>
            <p:cNvSpPr txBox="1"/>
            <p:nvPr/>
          </p:nvSpPr>
          <p:spPr>
            <a:xfrm>
              <a:off x="0" y="-38100"/>
              <a:ext cx="5371264" cy="43095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a:extLst>
              <a:ext uri="{FF2B5EF4-FFF2-40B4-BE49-F238E27FC236}">
                <a16:creationId xmlns:a16="http://schemas.microsoft.com/office/drawing/2014/main" id="{2C74A58F-A78D-D03A-6591-7D0952EEB0DC}"/>
              </a:ext>
            </a:extLst>
          </p:cNvPr>
          <p:cNvSpPr txBox="1"/>
          <p:nvPr/>
        </p:nvSpPr>
        <p:spPr>
          <a:xfrm>
            <a:off x="7109742" y="544513"/>
            <a:ext cx="4472657" cy="863600"/>
          </a:xfrm>
          <a:prstGeom prst="rect">
            <a:avLst/>
          </a:prstGeom>
        </p:spPr>
        <p:txBody>
          <a:bodyPr wrap="square" lIns="0" tIns="0" rIns="0" bIns="0" rtlCol="0" anchor="t">
            <a:spAutoFit/>
          </a:bodyPr>
          <a:lstStyle/>
          <a:p>
            <a:pPr algn="ctr">
              <a:lnSpc>
                <a:spcPts val="7000"/>
              </a:lnSpc>
              <a:spcBef>
                <a:spcPct val="0"/>
              </a:spcBef>
            </a:pPr>
            <a:r>
              <a:rPr lang="en-US" sz="5000" b="1">
                <a:solidFill>
                  <a:srgbClr val="FDF6EC"/>
                </a:solidFill>
                <a:latin typeface="Canva Sans Bold"/>
                <a:ea typeface="Canva Sans Bold"/>
                <a:cs typeface="Canva Sans Bold"/>
                <a:sym typeface="Canva Sans Bold"/>
              </a:rPr>
              <a:t>LIMITATIONS</a:t>
            </a:r>
          </a:p>
        </p:txBody>
      </p:sp>
      <p:sp>
        <p:nvSpPr>
          <p:cNvPr id="12" name="TextBox 5">
            <a:extLst>
              <a:ext uri="{FF2B5EF4-FFF2-40B4-BE49-F238E27FC236}">
                <a16:creationId xmlns:a16="http://schemas.microsoft.com/office/drawing/2014/main" id="{108115BA-C49D-E1ED-C01C-6BA8B9FA1D69}"/>
              </a:ext>
            </a:extLst>
          </p:cNvPr>
          <p:cNvSpPr txBox="1"/>
          <p:nvPr/>
        </p:nvSpPr>
        <p:spPr>
          <a:xfrm>
            <a:off x="6132749" y="4683806"/>
            <a:ext cx="6023871" cy="915828"/>
          </a:xfrm>
          <a:prstGeom prst="rect">
            <a:avLst/>
          </a:prstGeom>
        </p:spPr>
        <p:txBody>
          <a:bodyPr wrap="square" lIns="0" tIns="0" rIns="0" bIns="0" rtlCol="0" anchor="t">
            <a:spAutoFit/>
          </a:bodyPr>
          <a:lstStyle/>
          <a:p>
            <a:pPr algn="ctr">
              <a:lnSpc>
                <a:spcPts val="7000"/>
              </a:lnSpc>
              <a:spcBef>
                <a:spcPct val="0"/>
              </a:spcBef>
            </a:pPr>
            <a:r>
              <a:rPr lang="en-US" sz="7200" b="1">
                <a:solidFill>
                  <a:srgbClr val="FDF6EC"/>
                </a:solidFill>
                <a:latin typeface="Canva Sans Bold"/>
                <a:sym typeface="Canva Sans Bold"/>
              </a:rPr>
              <a:t>Thank You!</a:t>
            </a:r>
            <a:endParaRPr lang="en-US" sz="7200">
              <a:ea typeface="Calibri"/>
              <a:cs typeface="Calibri"/>
            </a:endParaRPr>
          </a:p>
        </p:txBody>
      </p:sp>
    </p:spTree>
    <p:extLst>
      <p:ext uri="{BB962C8B-B14F-4D97-AF65-F5344CB8AC3E}">
        <p14:creationId xmlns:p14="http://schemas.microsoft.com/office/powerpoint/2010/main" val="2070324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B34277A651FD42B639DCF0F3F06F25" ma:contentTypeVersion="14" ma:contentTypeDescription="Create a new document." ma:contentTypeScope="" ma:versionID="f53244d5e02acfd1d333d50a8a8e78d6">
  <xsd:schema xmlns:xsd="http://www.w3.org/2001/XMLSchema" xmlns:xs="http://www.w3.org/2001/XMLSchema" xmlns:p="http://schemas.microsoft.com/office/2006/metadata/properties" xmlns:ns3="8eaacd67-ea26-4ed3-8414-595560f249e2" xmlns:ns4="4dd24d53-456e-4717-8451-ac79b49535d0" targetNamespace="http://schemas.microsoft.com/office/2006/metadata/properties" ma:root="true" ma:fieldsID="8d558380e69d95dda1607d984b64eef7" ns3:_="" ns4:_="">
    <xsd:import namespace="8eaacd67-ea26-4ed3-8414-595560f249e2"/>
    <xsd:import namespace="4dd24d53-456e-4717-8451-ac79b49535d0"/>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LengthInSecond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aacd67-ea26-4ed3-8414-595560f249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d24d53-456e-4717-8451-ac79b49535d0"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eaacd67-ea26-4ed3-8414-595560f249e2" xsi:nil="true"/>
  </documentManagement>
</p:properties>
</file>

<file path=customXml/itemProps1.xml><?xml version="1.0" encoding="utf-8"?>
<ds:datastoreItem xmlns:ds="http://schemas.openxmlformats.org/officeDocument/2006/customXml" ds:itemID="{7D5272C6-D536-4C68-8962-860E0763E98A}">
  <ds:schemaRefs>
    <ds:schemaRef ds:uri="4dd24d53-456e-4717-8451-ac79b49535d0"/>
    <ds:schemaRef ds:uri="8eaacd67-ea26-4ed3-8414-595560f249e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492A2D9-9499-4086-A61F-F160EB0A4BD5}">
  <ds:schemaRefs>
    <ds:schemaRef ds:uri="http://schemas.microsoft.com/sharepoint/v3/contenttype/forms"/>
  </ds:schemaRefs>
</ds:datastoreItem>
</file>

<file path=customXml/itemProps3.xml><?xml version="1.0" encoding="utf-8"?>
<ds:datastoreItem xmlns:ds="http://schemas.openxmlformats.org/officeDocument/2006/customXml" ds:itemID="{915E78C5-0A9C-4632-8987-A01A0D2C299C}">
  <ds:schemaRefs>
    <ds:schemaRef ds:uri="http://www.w3.org/XML/1998/namespace"/>
    <ds:schemaRef ds:uri="8eaacd67-ea26-4ed3-8414-595560f249e2"/>
    <ds:schemaRef ds:uri="http://purl.org/dc/elements/1.1/"/>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4dd24d53-456e-4717-8451-ac79b49535d0"/>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3385</Words>
  <Application>Microsoft Office PowerPoint</Application>
  <PresentationFormat>Custom</PresentationFormat>
  <Paragraphs>384</Paragraphs>
  <Slides>30</Slides>
  <Notes>4</Notes>
  <HiddenSlides>1</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paragraph text</dc:title>
  <cp:lastModifiedBy>Manya Ganapathy</cp:lastModifiedBy>
  <cp:revision>4</cp:revision>
  <dcterms:created xsi:type="dcterms:W3CDTF">2006-08-16T00:00:00Z</dcterms:created>
  <dcterms:modified xsi:type="dcterms:W3CDTF">2026-04-06T09:19:28Z</dcterms:modified>
  <dc:identifier>DAHF5iJLLoI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0x0101004AB34277A651FD42B639DCF0F3F06F25</vt:lpwstr>
  </property>
</Properties>
</file>